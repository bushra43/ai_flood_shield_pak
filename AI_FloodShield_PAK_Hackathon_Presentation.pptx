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315200" cy="256032"/>
          </a:xfrm>
          <a:prstGeom prst="rect">
            <a:avLst/>
          </a:prstGeom>
          <a:noFill/>
        </p:spPr>
        <p:txBody>
          <a:bodyPr wrap="square" lIns="36576" rIns="36576" tIns="18288" bIns="18288"/>
          <a:lstStyle/>
          <a:p>
            <a:pPr algn="l"/>
            <a:r>
              <a:rPr sz="1200" b="1">
                <a:solidFill>
                  <a:srgbClr val="5CE1E6"/>
                </a:solidFill>
                <a:latin typeface="Arial"/>
                <a:ea typeface="Arial"/>
                <a:cs typeface="Arial"/>
              </a:rPr>
              <a:t>AI FLOODSHIELD PAK</a:t>
            </a:r>
          </a:p>
        </p:txBody>
      </p:sp>
      <p:sp>
        <p:nvSpPr>
          <p:cNvPr id="6" name="TextBox 5"/>
          <p:cNvSpPr txBox="1"/>
          <p:nvPr/>
        </p:nvSpPr>
        <p:spPr>
          <a:xfrm>
            <a:off x="7680960" y="292608"/>
            <a:ext cx="4023360" cy="256032"/>
          </a:xfrm>
          <a:prstGeom prst="rect">
            <a:avLst/>
          </a:prstGeom>
          <a:noFill/>
        </p:spPr>
        <p:txBody>
          <a:bodyPr wrap="square" lIns="36576" rIns="36576" tIns="18288" bIns="18288"/>
          <a:lstStyle/>
          <a:p>
            <a:pPr algn="r"/>
            <a:r>
              <a:rPr sz="1100" b="0">
                <a:solidFill>
                  <a:srgbClr val="8BA3B8"/>
                </a:solidFill>
                <a:latin typeface="Arial"/>
                <a:ea typeface="Arial"/>
                <a:cs typeface="Arial"/>
              </a:rPr>
              <a:t>Chenab River  ·  Marala Headworks  ·  Pakistan</a:t>
            </a:r>
          </a:p>
        </p:txBody>
      </p:sp>
      <p:sp>
        <p:nvSpPr>
          <p:cNvPr id="7" name="Rectangle 6"/>
          <p:cNvSpPr/>
          <p:nvPr/>
        </p:nvSpPr>
        <p:spPr>
          <a:xfrm>
            <a:off x="502920" y="621792"/>
            <a:ext cx="2011680" cy="54864"/>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51560"/>
            <a:ext cx="11155680" cy="2377440"/>
          </a:xfrm>
          <a:prstGeom prst="rect">
            <a:avLst/>
          </a:prstGeom>
          <a:noFill/>
        </p:spPr>
        <p:txBody>
          <a:bodyPr wrap="square" lIns="36576" rIns="36576" tIns="18288" bIns="18288"/>
          <a:lstStyle/>
          <a:p>
            <a:pPr algn="l"/>
            <a:r>
              <a:rPr sz="3400" b="1">
                <a:solidFill>
                  <a:srgbClr val="F4F0E6"/>
                </a:solidFill>
                <a:latin typeface="Arial"/>
                <a:ea typeface="Arial"/>
                <a:cs typeface="Arial"/>
              </a:rPr>
              <a:t>What if the river hasn’t crossed
the danger threshold yet…
but tomorrow’s forecast already has?</a:t>
            </a:r>
          </a:p>
        </p:txBody>
      </p:sp>
      <p:sp>
        <p:nvSpPr>
          <p:cNvPr id="9" name="TextBox 8"/>
          <p:cNvSpPr txBox="1"/>
          <p:nvPr/>
        </p:nvSpPr>
        <p:spPr>
          <a:xfrm>
            <a:off x="502920" y="3703320"/>
            <a:ext cx="10515600" cy="640080"/>
          </a:xfrm>
          <a:prstGeom prst="rect">
            <a:avLst/>
          </a:prstGeom>
          <a:noFill/>
        </p:spPr>
        <p:txBody>
          <a:bodyPr wrap="square" lIns="36576" rIns="36576" tIns="18288" bIns="18288"/>
          <a:lstStyle/>
          <a:p>
            <a:pPr algn="l"/>
            <a:r>
              <a:rPr sz="2000" b="0">
                <a:solidFill>
                  <a:srgbClr val="5CE1E6"/>
                </a:solidFill>
                <a:latin typeface="Arial"/>
                <a:ea typeface="Arial"/>
                <a:cs typeface="Arial"/>
              </a:rPr>
              <a:t>Turning official river intelligence into an early, bilingual warning.</a:t>
            </a:r>
          </a:p>
        </p:txBody>
      </p:sp>
      <p:sp>
        <p:nvSpPr>
          <p:cNvPr id="10" name="Rectangle 9"/>
          <p:cNvSpPr/>
          <p:nvPr/>
        </p:nvSpPr>
        <p:spPr>
          <a:xfrm>
            <a:off x="502920" y="4617720"/>
            <a:ext cx="11173968" cy="13716"/>
          </a:xfrm>
          <a:prstGeom prst="rect">
            <a:avLst/>
          </a:prstGeom>
          <a:solidFill>
            <a:srgbClr val="1E3F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800600"/>
            <a:ext cx="3840480" cy="256032"/>
          </a:xfrm>
          <a:prstGeom prst="rect">
            <a:avLst/>
          </a:prstGeom>
          <a:noFill/>
        </p:spPr>
        <p:txBody>
          <a:bodyPr wrap="square" lIns="36576" rIns="36576" tIns="18288" bIns="18288"/>
          <a:lstStyle/>
          <a:p>
            <a:pPr algn="l"/>
            <a:r>
              <a:rPr sz="1300" b="0">
                <a:solidFill>
                  <a:srgbClr val="8BA3B8"/>
                </a:solidFill>
                <a:latin typeface="Arial"/>
                <a:ea typeface="Arial"/>
                <a:cs typeface="Arial"/>
              </a:rPr>
              <a:t>Official FFD observations</a:t>
            </a:r>
          </a:p>
        </p:txBody>
      </p:sp>
      <p:sp>
        <p:nvSpPr>
          <p:cNvPr id="12" name="TextBox 11"/>
          <p:cNvSpPr txBox="1"/>
          <p:nvPr/>
        </p:nvSpPr>
        <p:spPr>
          <a:xfrm>
            <a:off x="4389120" y="4800600"/>
            <a:ext cx="3657600" cy="256032"/>
          </a:xfrm>
          <a:prstGeom prst="rect">
            <a:avLst/>
          </a:prstGeom>
          <a:noFill/>
        </p:spPr>
        <p:txBody>
          <a:bodyPr wrap="square" lIns="36576" rIns="36576" tIns="18288" bIns="18288"/>
          <a:lstStyle/>
          <a:p>
            <a:pPr algn="l"/>
            <a:r>
              <a:rPr sz="1300" b="0">
                <a:solidFill>
                  <a:srgbClr val="8BA3B8"/>
                </a:solidFill>
                <a:latin typeface="Arial"/>
                <a:ea typeface="Arial"/>
                <a:cs typeface="Arial"/>
              </a:rPr>
              <a:t>Next-day ML prediction</a:t>
            </a:r>
          </a:p>
        </p:txBody>
      </p:sp>
      <p:sp>
        <p:nvSpPr>
          <p:cNvPr id="13" name="TextBox 12"/>
          <p:cNvSpPr txBox="1"/>
          <p:nvPr/>
        </p:nvSpPr>
        <p:spPr>
          <a:xfrm>
            <a:off x="8138160" y="4800600"/>
            <a:ext cx="3566160" cy="256032"/>
          </a:xfrm>
          <a:prstGeom prst="rect">
            <a:avLst/>
          </a:prstGeom>
          <a:noFill/>
        </p:spPr>
        <p:txBody>
          <a:bodyPr wrap="square" lIns="36576" rIns="36576" tIns="18288" bIns="18288"/>
          <a:lstStyle/>
          <a:p>
            <a:pPr algn="l"/>
            <a:r>
              <a:rPr sz="1300" b="0">
                <a:solidFill>
                  <a:srgbClr val="8BA3B8"/>
                </a:solidFill>
                <a:latin typeface="Arial"/>
                <a:ea typeface="Arial"/>
                <a:cs typeface="Arial"/>
              </a:rPr>
              <a:t>English + Urdu alerts</a:t>
            </a:r>
          </a:p>
        </p:txBody>
      </p:sp>
      <p:sp>
        <p:nvSpPr>
          <p:cNvPr id="14" name="TextBox 13"/>
          <p:cNvSpPr txBox="1"/>
          <p:nvPr/>
        </p:nvSpPr>
        <p:spPr>
          <a:xfrm>
            <a:off x="502920" y="5074920"/>
            <a:ext cx="3840480" cy="320040"/>
          </a:xfrm>
          <a:prstGeom prst="rect">
            <a:avLst/>
          </a:prstGeom>
          <a:noFill/>
        </p:spPr>
        <p:txBody>
          <a:bodyPr wrap="square" lIns="36576" rIns="36576" tIns="18288" bIns="18288"/>
          <a:lstStyle/>
          <a:p>
            <a:pPr algn="l"/>
            <a:r>
              <a:rPr sz="2200" b="1">
                <a:solidFill>
                  <a:srgbClr val="F4F0E6"/>
                </a:solidFill>
                <a:latin typeface="Arial"/>
                <a:ea typeface="Arial"/>
                <a:cs typeface="Arial"/>
              </a:rPr>
              <a:t>NOW</a:t>
            </a:r>
          </a:p>
        </p:txBody>
      </p:sp>
      <p:sp>
        <p:nvSpPr>
          <p:cNvPr id="15" name="TextBox 14"/>
          <p:cNvSpPr txBox="1"/>
          <p:nvPr/>
        </p:nvSpPr>
        <p:spPr>
          <a:xfrm>
            <a:off x="4389120" y="5074920"/>
            <a:ext cx="3657600" cy="320040"/>
          </a:xfrm>
          <a:prstGeom prst="rect">
            <a:avLst/>
          </a:prstGeom>
          <a:noFill/>
        </p:spPr>
        <p:txBody>
          <a:bodyPr wrap="square" lIns="36576" rIns="36576" tIns="18288" bIns="18288"/>
          <a:lstStyle/>
          <a:p>
            <a:pPr algn="l"/>
            <a:r>
              <a:rPr sz="2200" b="1">
                <a:solidFill>
                  <a:srgbClr val="F4F0E6"/>
                </a:solidFill>
                <a:latin typeface="Arial"/>
                <a:ea typeface="Arial"/>
                <a:cs typeface="Arial"/>
              </a:rPr>
              <a:t>TOMORROW</a:t>
            </a:r>
          </a:p>
        </p:txBody>
      </p:sp>
      <p:sp>
        <p:nvSpPr>
          <p:cNvPr id="16" name="TextBox 15"/>
          <p:cNvSpPr txBox="1"/>
          <p:nvPr/>
        </p:nvSpPr>
        <p:spPr>
          <a:xfrm>
            <a:off x="8138160" y="5074920"/>
            <a:ext cx="3566160" cy="320040"/>
          </a:xfrm>
          <a:prstGeom prst="rect">
            <a:avLst/>
          </a:prstGeom>
          <a:noFill/>
        </p:spPr>
        <p:txBody>
          <a:bodyPr wrap="square" lIns="36576" rIns="36576" tIns="18288" bIns="18288"/>
          <a:lstStyle/>
          <a:p>
            <a:pPr algn="l"/>
            <a:r>
              <a:rPr sz="2200" b="1">
                <a:solidFill>
                  <a:srgbClr val="F4F0E6"/>
                </a:solidFill>
                <a:latin typeface="Arial"/>
                <a:ea typeface="Arial"/>
                <a:cs typeface="Arial"/>
              </a:rPr>
              <a:t>ACTION</a:t>
            </a:r>
          </a:p>
        </p:txBody>
      </p:sp>
      <p:sp>
        <p:nvSpPr>
          <p:cNvPr id="17" name="TextBox 16"/>
          <p:cNvSpPr txBox="1"/>
          <p:nvPr/>
        </p:nvSpPr>
        <p:spPr>
          <a:xfrm>
            <a:off x="502920" y="5806440"/>
            <a:ext cx="11155680" cy="365760"/>
          </a:xfrm>
          <a:prstGeom prst="rect">
            <a:avLst/>
          </a:prstGeom>
          <a:noFill/>
        </p:spPr>
        <p:txBody>
          <a:bodyPr wrap="square" lIns="36576" rIns="36576" tIns="18288" bIns="18288"/>
          <a:lstStyle/>
          <a:p>
            <a:pPr algn="l"/>
            <a:r>
              <a:rPr sz="1300" b="0">
                <a:solidFill>
                  <a:srgbClr val="8BA3B8"/>
                </a:solidFill>
                <a:latin typeface="Arial"/>
                <a:ea typeface="Arial"/>
                <a:cs typeface="Arial"/>
              </a:rPr>
              <a:t>A decision-support system. Official PMD / FFD / PDMA warnings always take precedence.</a:t>
            </a:r>
          </a:p>
        </p:txBody>
      </p:sp>
      <p:sp>
        <p:nvSpPr>
          <p:cNvPr id="18" name="Rectangle 17"/>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20" name="TextBox 19"/>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THE INFORMATION GAP</a:t>
            </a:r>
          </a:p>
        </p:txBody>
      </p:sp>
      <p:sp>
        <p:nvSpPr>
          <p:cNvPr id="7" name="TextBox 6"/>
          <p:cNvSpPr txBox="1"/>
          <p:nvPr/>
        </p:nvSpPr>
        <p:spPr>
          <a:xfrm>
            <a:off x="502920" y="420624"/>
            <a:ext cx="11173968" cy="960120"/>
          </a:xfrm>
          <a:prstGeom prst="rect">
            <a:avLst/>
          </a:prstGeom>
          <a:noFill/>
        </p:spPr>
        <p:txBody>
          <a:bodyPr wrap="square" lIns="36576" rIns="36576" tIns="18288" bIns="18288"/>
          <a:lstStyle/>
          <a:p>
            <a:pPr algn="l"/>
            <a:r>
              <a:rPr sz="2800" b="1">
                <a:solidFill>
                  <a:srgbClr val="F4F0E6"/>
                </a:solidFill>
                <a:latin typeface="Arial"/>
                <a:ea typeface="Arial"/>
                <a:cs typeface="Arial"/>
              </a:rPr>
              <a:t>The warning already exists.
The problem is turning it into action.</a:t>
            </a:r>
          </a:p>
        </p:txBody>
      </p:sp>
      <p:sp>
        <p:nvSpPr>
          <p:cNvPr id="8" name="Rectangle 7"/>
          <p:cNvSpPr/>
          <p:nvPr/>
        </p:nvSpPr>
        <p:spPr>
          <a:xfrm>
            <a:off x="502920" y="1572768"/>
            <a:ext cx="6537960" cy="4526280"/>
          </a:xfrm>
          <a:prstGeom prst="rect">
            <a:avLst/>
          </a:prstGeom>
          <a:solidFill>
            <a:srgbClr val="102238"/>
          </a:solidFill>
          <a:ln w="14604">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537960" cy="658368"/>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09344"/>
            <a:ext cx="6263640" cy="256032"/>
          </a:xfrm>
          <a:prstGeom prst="rect">
            <a:avLst/>
          </a:prstGeom>
          <a:noFill/>
        </p:spPr>
        <p:txBody>
          <a:bodyPr wrap="square" lIns="36576" rIns="36576" tIns="18288" bIns="18288"/>
          <a:lstStyle/>
          <a:p>
            <a:pPr algn="l"/>
            <a:r>
              <a:rPr sz="1000" b="1">
                <a:solidFill>
                  <a:srgbClr val="5CE1E6"/>
                </a:solidFill>
                <a:latin typeface="Arial"/>
                <a:ea typeface="Arial"/>
                <a:cs typeface="Arial"/>
              </a:rPr>
              <a:t>PAKISTAN METEOROLOGICAL DEPARTMENT</a:t>
            </a:r>
          </a:p>
        </p:txBody>
      </p:sp>
      <p:sp>
        <p:nvSpPr>
          <p:cNvPr id="11" name="TextBox 10"/>
          <p:cNvSpPr txBox="1"/>
          <p:nvPr/>
        </p:nvSpPr>
        <p:spPr>
          <a:xfrm>
            <a:off x="640080" y="1847088"/>
            <a:ext cx="6263640" cy="292608"/>
          </a:xfrm>
          <a:prstGeom prst="rect">
            <a:avLst/>
          </a:prstGeom>
          <a:noFill/>
        </p:spPr>
        <p:txBody>
          <a:bodyPr wrap="square" lIns="36576" rIns="36576" tIns="18288" bIns="18288"/>
          <a:lstStyle/>
          <a:p>
            <a:pPr algn="l"/>
            <a:r>
              <a:rPr sz="1200" b="0">
                <a:solidFill>
                  <a:srgbClr val="FFFFFF"/>
                </a:solidFill>
                <a:latin typeface="Arial"/>
                <a:ea typeface="Arial"/>
                <a:cs typeface="Arial"/>
              </a:rPr>
              <a:t>Flood Forecasting Division  ·  Daily flood bulletin  ·  4 Sep 2026</a:t>
            </a:r>
          </a:p>
        </p:txBody>
      </p:sp>
      <p:sp>
        <p:nvSpPr>
          <p:cNvPr id="12" name="TextBox 11"/>
          <p:cNvSpPr txBox="1"/>
          <p:nvPr/>
        </p:nvSpPr>
        <p:spPr>
          <a:xfrm>
            <a:off x="640080" y="2331720"/>
            <a:ext cx="1005840" cy="256032"/>
          </a:xfrm>
          <a:prstGeom prst="rect">
            <a:avLst/>
          </a:prstGeom>
          <a:noFill/>
        </p:spPr>
        <p:txBody>
          <a:bodyPr wrap="square" lIns="36576" rIns="36576" tIns="18288" bIns="18288"/>
          <a:lstStyle/>
          <a:p>
            <a:pPr algn="l"/>
            <a:r>
              <a:rPr sz="1000" b="1">
                <a:solidFill>
                  <a:srgbClr val="8BA3B8"/>
                </a:solidFill>
                <a:latin typeface="Arial"/>
                <a:ea typeface="Arial"/>
                <a:cs typeface="Arial"/>
              </a:rPr>
              <a:t>RIVER</a:t>
            </a:r>
          </a:p>
        </p:txBody>
      </p:sp>
      <p:sp>
        <p:nvSpPr>
          <p:cNvPr id="13" name="TextBox 12"/>
          <p:cNvSpPr txBox="1"/>
          <p:nvPr/>
        </p:nvSpPr>
        <p:spPr>
          <a:xfrm>
            <a:off x="1691640" y="2331720"/>
            <a:ext cx="1280160" cy="256032"/>
          </a:xfrm>
          <a:prstGeom prst="rect">
            <a:avLst/>
          </a:prstGeom>
          <a:noFill/>
        </p:spPr>
        <p:txBody>
          <a:bodyPr wrap="square" lIns="36576" rIns="36576" tIns="18288" bIns="18288"/>
          <a:lstStyle/>
          <a:p>
            <a:pPr algn="l"/>
            <a:r>
              <a:rPr sz="1000" b="1">
                <a:solidFill>
                  <a:srgbClr val="8BA3B8"/>
                </a:solidFill>
                <a:latin typeface="Arial"/>
                <a:ea typeface="Arial"/>
                <a:cs typeface="Arial"/>
              </a:rPr>
              <a:t>STATION</a:t>
            </a:r>
          </a:p>
        </p:txBody>
      </p:sp>
      <p:sp>
        <p:nvSpPr>
          <p:cNvPr id="14" name="TextBox 13"/>
          <p:cNvSpPr txBox="1"/>
          <p:nvPr/>
        </p:nvSpPr>
        <p:spPr>
          <a:xfrm>
            <a:off x="3063240" y="2331720"/>
            <a:ext cx="1188720" cy="256032"/>
          </a:xfrm>
          <a:prstGeom prst="rect">
            <a:avLst/>
          </a:prstGeom>
          <a:noFill/>
        </p:spPr>
        <p:txBody>
          <a:bodyPr wrap="square" lIns="36576" rIns="36576" tIns="18288" bIns="18288"/>
          <a:lstStyle/>
          <a:p>
            <a:pPr algn="l"/>
            <a:r>
              <a:rPr sz="1000" b="1">
                <a:solidFill>
                  <a:srgbClr val="8BA3B8"/>
                </a:solidFill>
                <a:latin typeface="Arial"/>
                <a:ea typeface="Arial"/>
                <a:cs typeface="Arial"/>
              </a:rPr>
              <a:t>INFLOW</a:t>
            </a:r>
          </a:p>
        </p:txBody>
      </p:sp>
      <p:sp>
        <p:nvSpPr>
          <p:cNvPr id="15" name="TextBox 14"/>
          <p:cNvSpPr txBox="1"/>
          <p:nvPr/>
        </p:nvSpPr>
        <p:spPr>
          <a:xfrm>
            <a:off x="4343400" y="2331720"/>
            <a:ext cx="1188720" cy="256032"/>
          </a:xfrm>
          <a:prstGeom prst="rect">
            <a:avLst/>
          </a:prstGeom>
          <a:noFill/>
        </p:spPr>
        <p:txBody>
          <a:bodyPr wrap="square" lIns="36576" rIns="36576" tIns="18288" bIns="18288"/>
          <a:lstStyle/>
          <a:p>
            <a:pPr algn="l"/>
            <a:r>
              <a:rPr sz="1000" b="1">
                <a:solidFill>
                  <a:srgbClr val="8BA3B8"/>
                </a:solidFill>
                <a:latin typeface="Arial"/>
                <a:ea typeface="Arial"/>
                <a:cs typeface="Arial"/>
              </a:rPr>
              <a:t>OUTFLOW</a:t>
            </a:r>
          </a:p>
        </p:txBody>
      </p:sp>
      <p:sp>
        <p:nvSpPr>
          <p:cNvPr id="16" name="TextBox 15"/>
          <p:cNvSpPr txBox="1"/>
          <p:nvPr/>
        </p:nvSpPr>
        <p:spPr>
          <a:xfrm>
            <a:off x="5623560" y="2331720"/>
            <a:ext cx="1234440" cy="256032"/>
          </a:xfrm>
          <a:prstGeom prst="rect">
            <a:avLst/>
          </a:prstGeom>
          <a:noFill/>
        </p:spPr>
        <p:txBody>
          <a:bodyPr wrap="square" lIns="36576" rIns="36576" tIns="18288" bIns="18288"/>
          <a:lstStyle/>
          <a:p>
            <a:pPr algn="l"/>
            <a:r>
              <a:rPr sz="1000" b="1">
                <a:solidFill>
                  <a:srgbClr val="8BA3B8"/>
                </a:solidFill>
                <a:latin typeface="Arial"/>
                <a:ea typeface="Arial"/>
                <a:cs typeface="Arial"/>
              </a:rPr>
              <a:t>24H FORECAST</a:t>
            </a:r>
          </a:p>
        </p:txBody>
      </p:sp>
      <p:sp>
        <p:nvSpPr>
          <p:cNvPr id="17" name="Rectangle 16"/>
          <p:cNvSpPr/>
          <p:nvPr/>
        </p:nvSpPr>
        <p:spPr>
          <a:xfrm>
            <a:off x="640080" y="2633472"/>
            <a:ext cx="6263640" cy="13716"/>
          </a:xfrm>
          <a:prstGeom prst="rect">
            <a:avLst/>
          </a:prstGeom>
          <a:solidFill>
            <a:srgbClr val="1E3F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788920"/>
            <a:ext cx="6263640" cy="713232"/>
          </a:xfrm>
          <a:prstGeom prst="rect">
            <a:avLst/>
          </a:prstGeom>
          <a:solidFill>
            <a:srgbClr val="163C3A"/>
          </a:solidFill>
          <a:ln w="1524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907792"/>
            <a:ext cx="1005840" cy="457200"/>
          </a:xfrm>
          <a:prstGeom prst="rect">
            <a:avLst/>
          </a:prstGeom>
          <a:noFill/>
        </p:spPr>
        <p:txBody>
          <a:bodyPr wrap="square" lIns="36576" rIns="36576" tIns="18288" bIns="18288"/>
          <a:lstStyle/>
          <a:p>
            <a:pPr algn="l"/>
            <a:r>
              <a:rPr sz="1600" b="1">
                <a:solidFill>
                  <a:srgbClr val="F4F0E6"/>
                </a:solidFill>
                <a:latin typeface="Arial"/>
                <a:ea typeface="Arial"/>
                <a:cs typeface="Arial"/>
              </a:rPr>
              <a:t>CHENAB</a:t>
            </a:r>
          </a:p>
        </p:txBody>
      </p:sp>
      <p:sp>
        <p:nvSpPr>
          <p:cNvPr id="20" name="TextBox 19"/>
          <p:cNvSpPr txBox="1"/>
          <p:nvPr/>
        </p:nvSpPr>
        <p:spPr>
          <a:xfrm>
            <a:off x="1691640" y="2907792"/>
            <a:ext cx="1280160" cy="457200"/>
          </a:xfrm>
          <a:prstGeom prst="rect">
            <a:avLst/>
          </a:prstGeom>
          <a:noFill/>
        </p:spPr>
        <p:txBody>
          <a:bodyPr wrap="square" lIns="36576" rIns="36576" tIns="18288" bIns="18288"/>
          <a:lstStyle/>
          <a:p>
            <a:pPr algn="l"/>
            <a:r>
              <a:rPr sz="1600" b="1">
                <a:solidFill>
                  <a:srgbClr val="F4F0E6"/>
                </a:solidFill>
                <a:latin typeface="Arial"/>
                <a:ea typeface="Arial"/>
                <a:cs typeface="Arial"/>
              </a:rPr>
              <a:t>Marala</a:t>
            </a:r>
          </a:p>
        </p:txBody>
      </p:sp>
      <p:sp>
        <p:nvSpPr>
          <p:cNvPr id="21" name="TextBox 20"/>
          <p:cNvSpPr txBox="1"/>
          <p:nvPr/>
        </p:nvSpPr>
        <p:spPr>
          <a:xfrm>
            <a:off x="3063240" y="2907792"/>
            <a:ext cx="1188720" cy="457200"/>
          </a:xfrm>
          <a:prstGeom prst="rect">
            <a:avLst/>
          </a:prstGeom>
          <a:noFill/>
        </p:spPr>
        <p:txBody>
          <a:bodyPr wrap="square" lIns="36576" rIns="36576" tIns="18288" bIns="18288"/>
          <a:lstStyle/>
          <a:p>
            <a:pPr algn="l"/>
            <a:r>
              <a:rPr sz="1600" b="1">
                <a:solidFill>
                  <a:srgbClr val="F4F0E6"/>
                </a:solidFill>
                <a:latin typeface="Arial"/>
                <a:ea typeface="Arial"/>
                <a:cs typeface="Arial"/>
              </a:rPr>
              <a:t>51.9</a:t>
            </a:r>
          </a:p>
        </p:txBody>
      </p:sp>
      <p:sp>
        <p:nvSpPr>
          <p:cNvPr id="22" name="TextBox 21"/>
          <p:cNvSpPr txBox="1"/>
          <p:nvPr/>
        </p:nvSpPr>
        <p:spPr>
          <a:xfrm>
            <a:off x="4343400" y="2907792"/>
            <a:ext cx="1188720" cy="457200"/>
          </a:xfrm>
          <a:prstGeom prst="rect">
            <a:avLst/>
          </a:prstGeom>
          <a:noFill/>
        </p:spPr>
        <p:txBody>
          <a:bodyPr wrap="square" lIns="36576" rIns="36576" tIns="18288" bIns="18288"/>
          <a:lstStyle/>
          <a:p>
            <a:pPr algn="l"/>
            <a:r>
              <a:rPr sz="1600" b="1">
                <a:solidFill>
                  <a:srgbClr val="F4F0E6"/>
                </a:solidFill>
                <a:latin typeface="Arial"/>
                <a:ea typeface="Arial"/>
                <a:cs typeface="Arial"/>
              </a:rPr>
              <a:t>26.1</a:t>
            </a:r>
          </a:p>
        </p:txBody>
      </p:sp>
      <p:sp>
        <p:nvSpPr>
          <p:cNvPr id="23" name="TextBox 22"/>
          <p:cNvSpPr txBox="1"/>
          <p:nvPr/>
        </p:nvSpPr>
        <p:spPr>
          <a:xfrm>
            <a:off x="5623560" y="2907792"/>
            <a:ext cx="1234440" cy="457200"/>
          </a:xfrm>
          <a:prstGeom prst="rect">
            <a:avLst/>
          </a:prstGeom>
          <a:noFill/>
        </p:spPr>
        <p:txBody>
          <a:bodyPr wrap="square" lIns="36576" rIns="36576" tIns="18288" bIns="18288"/>
          <a:lstStyle/>
          <a:p>
            <a:pPr algn="l"/>
            <a:r>
              <a:rPr sz="1600" b="1">
                <a:solidFill>
                  <a:srgbClr val="F4F0E6"/>
                </a:solidFill>
                <a:latin typeface="Arial"/>
                <a:ea typeface="Arial"/>
                <a:cs typeface="Arial"/>
              </a:rPr>
              <a:t>100–120</a:t>
            </a:r>
          </a:p>
        </p:txBody>
      </p:sp>
      <p:sp>
        <p:nvSpPr>
          <p:cNvPr id="24" name="TextBox 23"/>
          <p:cNvSpPr txBox="1"/>
          <p:nvPr/>
        </p:nvSpPr>
        <p:spPr>
          <a:xfrm>
            <a:off x="640080" y="3611880"/>
            <a:ext cx="6263640" cy="292608"/>
          </a:xfrm>
          <a:prstGeom prst="rect">
            <a:avLst/>
          </a:prstGeom>
          <a:noFill/>
        </p:spPr>
        <p:txBody>
          <a:bodyPr wrap="square" lIns="36576" rIns="36576" tIns="18288" bIns="18288"/>
          <a:lstStyle/>
          <a:p>
            <a:pPr algn="l"/>
            <a:r>
              <a:rPr sz="1100" b="0">
                <a:solidFill>
                  <a:srgbClr val="8BA3B8"/>
                </a:solidFill>
                <a:latin typeface="Arial"/>
                <a:ea typeface="Arial"/>
                <a:cs typeface="Arial"/>
              </a:rPr>
              <a:t>Units: thousand cusecs   ·   Live FFD table excerpt (saved engine run)</a:t>
            </a:r>
          </a:p>
        </p:txBody>
      </p:sp>
      <p:sp>
        <p:nvSpPr>
          <p:cNvPr id="25" name="TextBox 24"/>
          <p:cNvSpPr txBox="1"/>
          <p:nvPr/>
        </p:nvSpPr>
        <p:spPr>
          <a:xfrm>
            <a:off x="640080" y="4023360"/>
            <a:ext cx="6263640" cy="1737360"/>
          </a:xfrm>
          <a:prstGeom prst="rect">
            <a:avLst/>
          </a:prstGeom>
          <a:noFill/>
        </p:spPr>
        <p:txBody>
          <a:bodyPr wrap="square" lIns="36576" rIns="36576" tIns="18288" bIns="18288"/>
          <a:lstStyle/>
          <a:p>
            <a:pPr algn="l"/>
            <a:r>
              <a:rPr sz="1400" b="0">
                <a:solidFill>
                  <a:srgbClr val="F4F0E6"/>
                </a:solidFill>
                <a:latin typeface="Arial"/>
                <a:ea typeface="Arial"/>
                <a:cs typeface="Arial"/>
              </a:rPr>
              <a:t>FFD already publishes inflow, outflow and a 24-hour outlook.
Communities still have to translate a technical table into a next-day decision — in a language they can act on.</a:t>
            </a:r>
          </a:p>
        </p:txBody>
      </p:sp>
      <p:sp>
        <p:nvSpPr>
          <p:cNvPr id="26" name="Rectangle 25"/>
          <p:cNvSpPr/>
          <p:nvPr/>
        </p:nvSpPr>
        <p:spPr>
          <a:xfrm>
            <a:off x="7269480" y="1572768"/>
            <a:ext cx="4407408" cy="1389888"/>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69480" y="1572768"/>
            <a:ext cx="91440" cy="1389888"/>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43800" y="1682495"/>
            <a:ext cx="3931920" cy="256032"/>
          </a:xfrm>
          <a:prstGeom prst="rect">
            <a:avLst/>
          </a:prstGeom>
          <a:noFill/>
        </p:spPr>
        <p:txBody>
          <a:bodyPr wrap="square" lIns="36576" rIns="36576" tIns="18288" bIns="18288"/>
          <a:lstStyle/>
          <a:p>
            <a:pPr algn="l"/>
            <a:r>
              <a:rPr sz="1100" b="1">
                <a:solidFill>
                  <a:srgbClr val="5CE1E6"/>
                </a:solidFill>
                <a:latin typeface="Arial"/>
                <a:ea typeface="Arial"/>
                <a:cs typeface="Arial"/>
              </a:rPr>
              <a:t>TODAY</a:t>
            </a:r>
          </a:p>
        </p:txBody>
      </p:sp>
      <p:sp>
        <p:nvSpPr>
          <p:cNvPr id="29" name="TextBox 28"/>
          <p:cNvSpPr txBox="1"/>
          <p:nvPr/>
        </p:nvSpPr>
        <p:spPr>
          <a:xfrm>
            <a:off x="7543800" y="1956816"/>
            <a:ext cx="3931920" cy="457200"/>
          </a:xfrm>
          <a:prstGeom prst="rect">
            <a:avLst/>
          </a:prstGeom>
          <a:noFill/>
        </p:spPr>
        <p:txBody>
          <a:bodyPr wrap="square" lIns="36576" rIns="36576" tIns="18288" bIns="18288"/>
          <a:lstStyle/>
          <a:p>
            <a:pPr algn="l"/>
            <a:r>
              <a:rPr sz="1800" b="1">
                <a:solidFill>
                  <a:srgbClr val="F4F0E6"/>
                </a:solidFill>
                <a:latin typeface="Arial"/>
                <a:ea typeface="Arial"/>
                <a:cs typeface="Arial"/>
              </a:rPr>
              <a:t>What is happening now?</a:t>
            </a:r>
          </a:p>
        </p:txBody>
      </p:sp>
      <p:sp>
        <p:nvSpPr>
          <p:cNvPr id="30" name="TextBox 29"/>
          <p:cNvSpPr txBox="1"/>
          <p:nvPr/>
        </p:nvSpPr>
        <p:spPr>
          <a:xfrm>
            <a:off x="7543800" y="2468880"/>
            <a:ext cx="3931920" cy="329184"/>
          </a:xfrm>
          <a:prstGeom prst="rect">
            <a:avLst/>
          </a:prstGeom>
          <a:noFill/>
        </p:spPr>
        <p:txBody>
          <a:bodyPr wrap="square" lIns="36576" rIns="36576" tIns="18288" bIns="18288"/>
          <a:lstStyle/>
          <a:p>
            <a:pPr algn="l"/>
            <a:r>
              <a:rPr sz="1300" b="0">
                <a:solidFill>
                  <a:srgbClr val="8BA3B8"/>
                </a:solidFill>
                <a:latin typeface="Arial"/>
                <a:ea typeface="Arial"/>
                <a:cs typeface="Arial"/>
              </a:rPr>
              <a:t>Current official inflow</a:t>
            </a:r>
          </a:p>
        </p:txBody>
      </p:sp>
      <p:sp>
        <p:nvSpPr>
          <p:cNvPr id="31" name="Rectangle 30"/>
          <p:cNvSpPr/>
          <p:nvPr/>
        </p:nvSpPr>
        <p:spPr>
          <a:xfrm>
            <a:off x="7269480" y="3081528"/>
            <a:ext cx="4407408" cy="1389888"/>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69480" y="3081528"/>
            <a:ext cx="91440" cy="1389888"/>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43800" y="3191256"/>
            <a:ext cx="3931920" cy="256032"/>
          </a:xfrm>
          <a:prstGeom prst="rect">
            <a:avLst/>
          </a:prstGeom>
          <a:noFill/>
        </p:spPr>
        <p:txBody>
          <a:bodyPr wrap="square" lIns="36576" rIns="36576" tIns="18288" bIns="18288"/>
          <a:lstStyle/>
          <a:p>
            <a:pPr algn="l"/>
            <a:r>
              <a:rPr sz="1100" b="1">
                <a:solidFill>
                  <a:srgbClr val="5CE1E6"/>
                </a:solidFill>
                <a:latin typeface="Arial"/>
                <a:ea typeface="Arial"/>
                <a:cs typeface="Arial"/>
              </a:rPr>
              <a:t>TOMORROW</a:t>
            </a:r>
          </a:p>
        </p:txBody>
      </p:sp>
      <p:sp>
        <p:nvSpPr>
          <p:cNvPr id="34" name="TextBox 33"/>
          <p:cNvSpPr txBox="1"/>
          <p:nvPr/>
        </p:nvSpPr>
        <p:spPr>
          <a:xfrm>
            <a:off x="7543800" y="3465576"/>
            <a:ext cx="3931920" cy="457200"/>
          </a:xfrm>
          <a:prstGeom prst="rect">
            <a:avLst/>
          </a:prstGeom>
          <a:noFill/>
        </p:spPr>
        <p:txBody>
          <a:bodyPr wrap="square" lIns="36576" rIns="36576" tIns="18288" bIns="18288"/>
          <a:lstStyle/>
          <a:p>
            <a:pPr algn="l"/>
            <a:r>
              <a:rPr sz="1800" b="1">
                <a:solidFill>
                  <a:srgbClr val="F4F0E6"/>
                </a:solidFill>
                <a:latin typeface="Arial"/>
                <a:ea typeface="Arial"/>
                <a:cs typeface="Arial"/>
              </a:rPr>
              <a:t>What is likely next?</a:t>
            </a:r>
          </a:p>
        </p:txBody>
      </p:sp>
      <p:sp>
        <p:nvSpPr>
          <p:cNvPr id="35" name="TextBox 34"/>
          <p:cNvSpPr txBox="1"/>
          <p:nvPr/>
        </p:nvSpPr>
        <p:spPr>
          <a:xfrm>
            <a:off x="7543800" y="3977639"/>
            <a:ext cx="3931920" cy="329184"/>
          </a:xfrm>
          <a:prstGeom prst="rect">
            <a:avLst/>
          </a:prstGeom>
          <a:noFill/>
        </p:spPr>
        <p:txBody>
          <a:bodyPr wrap="square" lIns="36576" rIns="36576" tIns="18288" bIns="18288"/>
          <a:lstStyle/>
          <a:p>
            <a:pPr algn="l"/>
            <a:r>
              <a:rPr sz="1300" b="0">
                <a:solidFill>
                  <a:srgbClr val="8BA3B8"/>
                </a:solidFill>
                <a:latin typeface="Arial"/>
                <a:ea typeface="Arial"/>
                <a:cs typeface="Arial"/>
              </a:rPr>
              <a:t>FFD 24h + ML next day</a:t>
            </a:r>
          </a:p>
        </p:txBody>
      </p:sp>
      <p:sp>
        <p:nvSpPr>
          <p:cNvPr id="36" name="Rectangle 35"/>
          <p:cNvSpPr/>
          <p:nvPr/>
        </p:nvSpPr>
        <p:spPr>
          <a:xfrm>
            <a:off x="7269480" y="4590288"/>
            <a:ext cx="4407408" cy="1389888"/>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69480" y="4590288"/>
            <a:ext cx="91440" cy="138988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800" y="4700016"/>
            <a:ext cx="3931920" cy="256032"/>
          </a:xfrm>
          <a:prstGeom prst="rect">
            <a:avLst/>
          </a:prstGeom>
          <a:noFill/>
        </p:spPr>
        <p:txBody>
          <a:bodyPr wrap="square" lIns="36576" rIns="36576" tIns="18288" bIns="18288"/>
          <a:lstStyle/>
          <a:p>
            <a:pPr algn="l"/>
            <a:r>
              <a:rPr sz="1100" b="1">
                <a:solidFill>
                  <a:srgbClr val="F5A524"/>
                </a:solidFill>
                <a:latin typeface="Arial"/>
                <a:ea typeface="Arial"/>
                <a:cs typeface="Arial"/>
              </a:rPr>
              <a:t>ACTION</a:t>
            </a:r>
          </a:p>
        </p:txBody>
      </p:sp>
      <p:sp>
        <p:nvSpPr>
          <p:cNvPr id="39" name="TextBox 38"/>
          <p:cNvSpPr txBox="1"/>
          <p:nvPr/>
        </p:nvSpPr>
        <p:spPr>
          <a:xfrm>
            <a:off x="7543800" y="4974336"/>
            <a:ext cx="3931920" cy="457200"/>
          </a:xfrm>
          <a:prstGeom prst="rect">
            <a:avLst/>
          </a:prstGeom>
          <a:noFill/>
        </p:spPr>
        <p:txBody>
          <a:bodyPr wrap="square" lIns="36576" rIns="36576" tIns="18288" bIns="18288"/>
          <a:lstStyle/>
          <a:p>
            <a:pPr algn="l"/>
            <a:r>
              <a:rPr sz="1800" b="1">
                <a:solidFill>
                  <a:srgbClr val="F4F0E6"/>
                </a:solidFill>
                <a:latin typeface="Arial"/>
                <a:ea typeface="Arial"/>
                <a:cs typeface="Arial"/>
              </a:rPr>
              <a:t>What should people understand?</a:t>
            </a:r>
          </a:p>
        </p:txBody>
      </p:sp>
      <p:sp>
        <p:nvSpPr>
          <p:cNvPr id="40" name="TextBox 39"/>
          <p:cNvSpPr txBox="1"/>
          <p:nvPr/>
        </p:nvSpPr>
        <p:spPr>
          <a:xfrm>
            <a:off x="7543800" y="5486400"/>
            <a:ext cx="3931920" cy="329184"/>
          </a:xfrm>
          <a:prstGeom prst="rect">
            <a:avLst/>
          </a:prstGeom>
          <a:noFill/>
        </p:spPr>
        <p:txBody>
          <a:bodyPr wrap="square" lIns="36576" rIns="36576" tIns="18288" bIns="18288"/>
          <a:lstStyle/>
          <a:p>
            <a:pPr algn="l"/>
            <a:r>
              <a:rPr sz="1300" b="0">
                <a:solidFill>
                  <a:srgbClr val="8BA3B8"/>
                </a:solidFill>
                <a:latin typeface="Arial"/>
                <a:ea typeface="Arial"/>
                <a:cs typeface="Arial"/>
              </a:rPr>
              <a:t>One bilingual alert</a:t>
            </a:r>
          </a:p>
        </p:txBody>
      </p:sp>
      <p:sp>
        <p:nvSpPr>
          <p:cNvPr id="41" name="Rectangle 40"/>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3" name="TextBox 42"/>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WHY THIS STATION</a:t>
            </a:r>
          </a:p>
        </p:txBody>
      </p:sp>
      <p:sp>
        <p:nvSpPr>
          <p:cNvPr id="7" name="TextBox 6"/>
          <p:cNvSpPr txBox="1"/>
          <p:nvPr/>
        </p:nvSpPr>
        <p:spPr>
          <a:xfrm>
            <a:off x="502920" y="420624"/>
            <a:ext cx="11173968" cy="713232"/>
          </a:xfrm>
          <a:prstGeom prst="rect">
            <a:avLst/>
          </a:prstGeom>
          <a:noFill/>
        </p:spPr>
        <p:txBody>
          <a:bodyPr wrap="square" lIns="36576" rIns="36576" tIns="18288" bIns="18288"/>
          <a:lstStyle/>
          <a:p>
            <a:pPr algn="l"/>
            <a:r>
              <a:rPr sz="2800" b="1">
                <a:solidFill>
                  <a:srgbClr val="F4F0E6"/>
                </a:solidFill>
                <a:latin typeface="Arial"/>
                <a:ea typeface="Arial"/>
                <a:cs typeface="Arial"/>
              </a:rPr>
              <a:t>Why Chenab at Marala?</a:t>
            </a:r>
          </a:p>
        </p:txBody>
      </p:sp>
      <p:sp>
        <p:nvSpPr>
          <p:cNvPr id="8" name="Rectangle 7"/>
          <p:cNvSpPr/>
          <p:nvPr/>
        </p:nvSpPr>
        <p:spPr>
          <a:xfrm>
            <a:off x="502920" y="1417320"/>
            <a:ext cx="2697480" cy="1965960"/>
          </a:xfrm>
          <a:prstGeom prst="rect">
            <a:avLst/>
          </a:prstGeom>
          <a:solidFill>
            <a:srgbClr val="102238"/>
          </a:solidFill>
          <a:ln w="1778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536192"/>
            <a:ext cx="2377440" cy="292608"/>
          </a:xfrm>
          <a:prstGeom prst="rect">
            <a:avLst/>
          </a:prstGeom>
          <a:noFill/>
        </p:spPr>
        <p:txBody>
          <a:bodyPr wrap="square" lIns="36576" rIns="36576" tIns="18288" bIns="18288"/>
          <a:lstStyle/>
          <a:p>
            <a:pPr algn="l"/>
            <a:r>
              <a:rPr sz="1200" b="1">
                <a:solidFill>
                  <a:srgbClr val="5CE1E6"/>
                </a:solidFill>
                <a:latin typeface="Arial"/>
                <a:ea typeface="Arial"/>
                <a:cs typeface="Arial"/>
              </a:rPr>
              <a:t>01</a:t>
            </a:r>
          </a:p>
        </p:txBody>
      </p:sp>
      <p:sp>
        <p:nvSpPr>
          <p:cNvPr id="10" name="TextBox 9"/>
          <p:cNvSpPr txBox="1"/>
          <p:nvPr/>
        </p:nvSpPr>
        <p:spPr>
          <a:xfrm>
            <a:off x="667512" y="1874519"/>
            <a:ext cx="2377440" cy="640080"/>
          </a:xfrm>
          <a:prstGeom prst="rect">
            <a:avLst/>
          </a:prstGeom>
          <a:noFill/>
        </p:spPr>
        <p:txBody>
          <a:bodyPr wrap="square" lIns="36576" rIns="36576" tIns="18288" bIns="18288"/>
          <a:lstStyle/>
          <a:p>
            <a:pPr algn="l"/>
            <a:r>
              <a:rPr sz="2200" b="1">
                <a:solidFill>
                  <a:srgbClr val="F4F0E6"/>
                </a:solidFill>
                <a:latin typeface="Arial"/>
                <a:ea typeface="Arial"/>
                <a:cs typeface="Arial"/>
              </a:rPr>
              <a:t>PAKISTAN</a:t>
            </a:r>
          </a:p>
        </p:txBody>
      </p:sp>
      <p:sp>
        <p:nvSpPr>
          <p:cNvPr id="11" name="TextBox 10"/>
          <p:cNvSpPr txBox="1"/>
          <p:nvPr/>
        </p:nvSpPr>
        <p:spPr>
          <a:xfrm>
            <a:off x="667512" y="2542032"/>
            <a:ext cx="2377440" cy="548640"/>
          </a:xfrm>
          <a:prstGeom prst="rect">
            <a:avLst/>
          </a:prstGeom>
          <a:noFill/>
        </p:spPr>
        <p:txBody>
          <a:bodyPr wrap="square" lIns="36576" rIns="36576" tIns="18288" bIns="18288"/>
          <a:lstStyle/>
          <a:p>
            <a:pPr algn="l"/>
            <a:r>
              <a:rPr sz="1300" b="0">
                <a:solidFill>
                  <a:srgbClr val="8BA3B8"/>
                </a:solidFill>
                <a:latin typeface="Arial"/>
                <a:ea typeface="Arial"/>
                <a:cs typeface="Arial"/>
              </a:rPr>
              <a:t>National river network</a:t>
            </a:r>
          </a:p>
        </p:txBody>
      </p:sp>
      <p:sp>
        <p:nvSpPr>
          <p:cNvPr id="12" name="Right Arrow 11"/>
          <p:cNvSpPr/>
          <p:nvPr/>
        </p:nvSpPr>
        <p:spPr>
          <a:xfrm>
            <a:off x="3227832" y="2240280"/>
            <a:ext cx="16459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0712" y="1417320"/>
            <a:ext cx="2697480" cy="1965960"/>
          </a:xfrm>
          <a:prstGeom prst="rect">
            <a:avLst/>
          </a:prstGeom>
          <a:solidFill>
            <a:srgbClr val="102238"/>
          </a:solidFill>
          <a:ln w="1778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5304" y="1536192"/>
            <a:ext cx="2377440" cy="292608"/>
          </a:xfrm>
          <a:prstGeom prst="rect">
            <a:avLst/>
          </a:prstGeom>
          <a:noFill/>
        </p:spPr>
        <p:txBody>
          <a:bodyPr wrap="square" lIns="36576" rIns="36576" tIns="18288" bIns="18288"/>
          <a:lstStyle/>
          <a:p>
            <a:pPr algn="l"/>
            <a:r>
              <a:rPr sz="1200" b="1">
                <a:solidFill>
                  <a:srgbClr val="5CE1E6"/>
                </a:solidFill>
                <a:latin typeface="Arial"/>
                <a:ea typeface="Arial"/>
                <a:cs typeface="Arial"/>
              </a:rPr>
              <a:t>02</a:t>
            </a:r>
          </a:p>
        </p:txBody>
      </p:sp>
      <p:sp>
        <p:nvSpPr>
          <p:cNvPr id="15" name="TextBox 14"/>
          <p:cNvSpPr txBox="1"/>
          <p:nvPr/>
        </p:nvSpPr>
        <p:spPr>
          <a:xfrm>
            <a:off x="3575304" y="1874519"/>
            <a:ext cx="2377440" cy="640080"/>
          </a:xfrm>
          <a:prstGeom prst="rect">
            <a:avLst/>
          </a:prstGeom>
          <a:noFill/>
        </p:spPr>
        <p:txBody>
          <a:bodyPr wrap="square" lIns="36576" rIns="36576" tIns="18288" bIns="18288"/>
          <a:lstStyle/>
          <a:p>
            <a:pPr algn="l"/>
            <a:r>
              <a:rPr sz="2200" b="1">
                <a:solidFill>
                  <a:srgbClr val="F4F0E6"/>
                </a:solidFill>
                <a:latin typeface="Arial"/>
                <a:ea typeface="Arial"/>
                <a:cs typeface="Arial"/>
              </a:rPr>
              <a:t>PUNJAB</a:t>
            </a:r>
          </a:p>
        </p:txBody>
      </p:sp>
      <p:sp>
        <p:nvSpPr>
          <p:cNvPr id="16" name="TextBox 15"/>
          <p:cNvSpPr txBox="1"/>
          <p:nvPr/>
        </p:nvSpPr>
        <p:spPr>
          <a:xfrm>
            <a:off x="3575304" y="2542032"/>
            <a:ext cx="2377440" cy="548640"/>
          </a:xfrm>
          <a:prstGeom prst="rect">
            <a:avLst/>
          </a:prstGeom>
          <a:noFill/>
        </p:spPr>
        <p:txBody>
          <a:bodyPr wrap="square" lIns="36576" rIns="36576" tIns="18288" bIns="18288"/>
          <a:lstStyle/>
          <a:p>
            <a:pPr algn="l"/>
            <a:r>
              <a:rPr sz="1300" b="0">
                <a:solidFill>
                  <a:srgbClr val="8BA3B8"/>
                </a:solidFill>
                <a:latin typeface="Arial"/>
                <a:ea typeface="Arial"/>
                <a:cs typeface="Arial"/>
              </a:rPr>
              <a:t>Indus basin headworks</a:t>
            </a:r>
          </a:p>
        </p:txBody>
      </p:sp>
      <p:sp>
        <p:nvSpPr>
          <p:cNvPr id="17" name="Right Arrow 16"/>
          <p:cNvSpPr/>
          <p:nvPr/>
        </p:nvSpPr>
        <p:spPr>
          <a:xfrm>
            <a:off x="6135624" y="2240280"/>
            <a:ext cx="16459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18504" y="1417320"/>
            <a:ext cx="2697480" cy="1965960"/>
          </a:xfrm>
          <a:prstGeom prst="rect">
            <a:avLst/>
          </a:prstGeom>
          <a:solidFill>
            <a:srgbClr val="102238"/>
          </a:solidFill>
          <a:ln w="1778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536192"/>
            <a:ext cx="2377440" cy="292608"/>
          </a:xfrm>
          <a:prstGeom prst="rect">
            <a:avLst/>
          </a:prstGeom>
          <a:noFill/>
        </p:spPr>
        <p:txBody>
          <a:bodyPr wrap="square" lIns="36576" rIns="36576" tIns="18288" bIns="18288"/>
          <a:lstStyle/>
          <a:p>
            <a:pPr algn="l"/>
            <a:r>
              <a:rPr sz="1200" b="1">
                <a:solidFill>
                  <a:srgbClr val="5CE1E6"/>
                </a:solidFill>
                <a:latin typeface="Arial"/>
                <a:ea typeface="Arial"/>
                <a:cs typeface="Arial"/>
              </a:rPr>
              <a:t>03</a:t>
            </a:r>
          </a:p>
        </p:txBody>
      </p:sp>
      <p:sp>
        <p:nvSpPr>
          <p:cNvPr id="20" name="TextBox 19"/>
          <p:cNvSpPr txBox="1"/>
          <p:nvPr/>
        </p:nvSpPr>
        <p:spPr>
          <a:xfrm>
            <a:off x="6483096" y="1874519"/>
            <a:ext cx="2377440" cy="640080"/>
          </a:xfrm>
          <a:prstGeom prst="rect">
            <a:avLst/>
          </a:prstGeom>
          <a:noFill/>
        </p:spPr>
        <p:txBody>
          <a:bodyPr wrap="square" lIns="36576" rIns="36576" tIns="18288" bIns="18288"/>
          <a:lstStyle/>
          <a:p>
            <a:pPr algn="l"/>
            <a:r>
              <a:rPr sz="2200" b="1">
                <a:solidFill>
                  <a:srgbClr val="F4F0E6"/>
                </a:solidFill>
                <a:latin typeface="Arial"/>
                <a:ea typeface="Arial"/>
                <a:cs typeface="Arial"/>
              </a:rPr>
              <a:t>CHENAB</a:t>
            </a:r>
          </a:p>
        </p:txBody>
      </p:sp>
      <p:sp>
        <p:nvSpPr>
          <p:cNvPr id="21" name="TextBox 20"/>
          <p:cNvSpPr txBox="1"/>
          <p:nvPr/>
        </p:nvSpPr>
        <p:spPr>
          <a:xfrm>
            <a:off x="6483096" y="2542032"/>
            <a:ext cx="2377440" cy="548640"/>
          </a:xfrm>
          <a:prstGeom prst="rect">
            <a:avLst/>
          </a:prstGeom>
          <a:noFill/>
        </p:spPr>
        <p:txBody>
          <a:bodyPr wrap="square" lIns="36576" rIns="36576" tIns="18288" bIns="18288"/>
          <a:lstStyle/>
          <a:p>
            <a:pPr algn="l"/>
            <a:r>
              <a:rPr sz="1300" b="0">
                <a:solidFill>
                  <a:srgbClr val="8BA3B8"/>
                </a:solidFill>
                <a:latin typeface="Arial"/>
                <a:ea typeface="Arial"/>
                <a:cs typeface="Arial"/>
              </a:rPr>
              <a:t>Gauged at FFD stations</a:t>
            </a:r>
          </a:p>
        </p:txBody>
      </p:sp>
      <p:sp>
        <p:nvSpPr>
          <p:cNvPr id="22" name="Right Arrow 21"/>
          <p:cNvSpPr/>
          <p:nvPr/>
        </p:nvSpPr>
        <p:spPr>
          <a:xfrm>
            <a:off x="9043416" y="2240280"/>
            <a:ext cx="16459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26296" y="1417320"/>
            <a:ext cx="2697480" cy="1965960"/>
          </a:xfrm>
          <a:prstGeom prst="rect">
            <a:avLst/>
          </a:prstGeom>
          <a:solidFill>
            <a:srgbClr val="0E6E6B"/>
          </a:solidFill>
          <a:ln w="1778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90888" y="1536192"/>
            <a:ext cx="2377440" cy="292608"/>
          </a:xfrm>
          <a:prstGeom prst="rect">
            <a:avLst/>
          </a:prstGeom>
          <a:noFill/>
        </p:spPr>
        <p:txBody>
          <a:bodyPr wrap="square" lIns="36576" rIns="36576" tIns="18288" bIns="18288"/>
          <a:lstStyle/>
          <a:p>
            <a:pPr algn="l"/>
            <a:r>
              <a:rPr sz="1200" b="1">
                <a:solidFill>
                  <a:srgbClr val="5CE1E6"/>
                </a:solidFill>
                <a:latin typeface="Arial"/>
                <a:ea typeface="Arial"/>
                <a:cs typeface="Arial"/>
              </a:rPr>
              <a:t>04</a:t>
            </a:r>
          </a:p>
        </p:txBody>
      </p:sp>
      <p:sp>
        <p:nvSpPr>
          <p:cNvPr id="25" name="TextBox 24"/>
          <p:cNvSpPr txBox="1"/>
          <p:nvPr/>
        </p:nvSpPr>
        <p:spPr>
          <a:xfrm>
            <a:off x="9390888" y="1874519"/>
            <a:ext cx="2377440" cy="640080"/>
          </a:xfrm>
          <a:prstGeom prst="rect">
            <a:avLst/>
          </a:prstGeom>
          <a:noFill/>
        </p:spPr>
        <p:txBody>
          <a:bodyPr wrap="square" lIns="36576" rIns="36576" tIns="18288" bIns="18288"/>
          <a:lstStyle/>
          <a:p>
            <a:pPr algn="l"/>
            <a:r>
              <a:rPr sz="2200" b="1">
                <a:solidFill>
                  <a:srgbClr val="F4F0E6"/>
                </a:solidFill>
                <a:latin typeface="Arial"/>
                <a:ea typeface="Arial"/>
                <a:cs typeface="Arial"/>
              </a:rPr>
              <a:t>MARALA</a:t>
            </a:r>
          </a:p>
        </p:txBody>
      </p:sp>
      <p:sp>
        <p:nvSpPr>
          <p:cNvPr id="26" name="TextBox 25"/>
          <p:cNvSpPr txBox="1"/>
          <p:nvPr/>
        </p:nvSpPr>
        <p:spPr>
          <a:xfrm>
            <a:off x="9390888" y="2542032"/>
            <a:ext cx="2377440" cy="548640"/>
          </a:xfrm>
          <a:prstGeom prst="rect">
            <a:avLst/>
          </a:prstGeom>
          <a:noFill/>
        </p:spPr>
        <p:txBody>
          <a:bodyPr wrap="square" lIns="36576" rIns="36576" tIns="18288" bIns="18288"/>
          <a:lstStyle/>
          <a:p>
            <a:pPr algn="l"/>
            <a:r>
              <a:rPr sz="1300" b="0">
                <a:solidFill>
                  <a:srgbClr val="8BA3B8"/>
                </a:solidFill>
                <a:latin typeface="Arial"/>
                <a:ea typeface="Arial"/>
                <a:cs typeface="Arial"/>
              </a:rPr>
              <a:t>Our live focus</a:t>
            </a:r>
          </a:p>
        </p:txBody>
      </p:sp>
      <p:sp>
        <p:nvSpPr>
          <p:cNvPr id="27" name="Rectangle 26"/>
          <p:cNvSpPr/>
          <p:nvPr/>
        </p:nvSpPr>
        <p:spPr>
          <a:xfrm>
            <a:off x="502920" y="3657600"/>
            <a:ext cx="3703320"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657600"/>
            <a:ext cx="3703320" cy="73152"/>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3886200"/>
            <a:ext cx="3291840" cy="822960"/>
          </a:xfrm>
          <a:prstGeom prst="rect">
            <a:avLst/>
          </a:prstGeom>
          <a:noFill/>
        </p:spPr>
        <p:txBody>
          <a:bodyPr wrap="square" lIns="36576" rIns="36576" tIns="18288" bIns="18288"/>
          <a:lstStyle/>
          <a:p>
            <a:pPr algn="l"/>
            <a:r>
              <a:rPr sz="1800" b="1">
                <a:solidFill>
                  <a:srgbClr val="F4F0E6"/>
                </a:solidFill>
                <a:latin typeface="Arial"/>
                <a:ea typeface="Arial"/>
                <a:cs typeface="Arial"/>
              </a:rPr>
              <a:t>Official FFD
gauging station</a:t>
            </a:r>
          </a:p>
        </p:txBody>
      </p:sp>
      <p:sp>
        <p:nvSpPr>
          <p:cNvPr id="30" name="TextBox 29"/>
          <p:cNvSpPr txBox="1"/>
          <p:nvPr/>
        </p:nvSpPr>
        <p:spPr>
          <a:xfrm>
            <a:off x="704088" y="4754880"/>
            <a:ext cx="3291840" cy="1005840"/>
          </a:xfrm>
          <a:prstGeom prst="rect">
            <a:avLst/>
          </a:prstGeom>
          <a:noFill/>
        </p:spPr>
        <p:txBody>
          <a:bodyPr wrap="square" lIns="36576" rIns="36576" tIns="18288" bIns="18288"/>
          <a:lstStyle/>
          <a:p>
            <a:pPr algn="l"/>
            <a:r>
              <a:rPr sz="1300" b="0">
                <a:solidFill>
                  <a:srgbClr val="8BA3B8"/>
                </a:solidFill>
                <a:latin typeface="Arial"/>
                <a:ea typeface="Arial"/>
                <a:cs typeface="Arial"/>
              </a:rPr>
              <a:t>Chenab @ Marala appears in daily quantitative flood-forecast tables.</a:t>
            </a:r>
          </a:p>
        </p:txBody>
      </p:sp>
      <p:sp>
        <p:nvSpPr>
          <p:cNvPr id="31" name="Rectangle 30"/>
          <p:cNvSpPr/>
          <p:nvPr/>
        </p:nvSpPr>
        <p:spPr>
          <a:xfrm>
            <a:off x="4361688" y="3657600"/>
            <a:ext cx="3703320"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61688" y="3657600"/>
            <a:ext cx="3703320" cy="73152"/>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62855" y="3886200"/>
            <a:ext cx="3291840" cy="822960"/>
          </a:xfrm>
          <a:prstGeom prst="rect">
            <a:avLst/>
          </a:prstGeom>
          <a:noFill/>
        </p:spPr>
        <p:txBody>
          <a:bodyPr wrap="square" lIns="36576" rIns="36576" tIns="18288" bIns="18288"/>
          <a:lstStyle/>
          <a:p>
            <a:pPr algn="l"/>
            <a:r>
              <a:rPr sz="1800" b="1">
                <a:solidFill>
                  <a:srgbClr val="F4F0E6"/>
                </a:solidFill>
                <a:latin typeface="Arial"/>
                <a:ea typeface="Arial"/>
                <a:cs typeface="Arial"/>
              </a:rPr>
              <a:t>1,100 thousand cusecs</a:t>
            </a:r>
          </a:p>
        </p:txBody>
      </p:sp>
      <p:sp>
        <p:nvSpPr>
          <p:cNvPr id="34" name="TextBox 33"/>
          <p:cNvSpPr txBox="1"/>
          <p:nvPr/>
        </p:nvSpPr>
        <p:spPr>
          <a:xfrm>
            <a:off x="4562855" y="4754880"/>
            <a:ext cx="3291840" cy="1005840"/>
          </a:xfrm>
          <a:prstGeom prst="rect">
            <a:avLst/>
          </a:prstGeom>
          <a:noFill/>
        </p:spPr>
        <p:txBody>
          <a:bodyPr wrap="square" lIns="36576" rIns="36576" tIns="18288" bIns="18288"/>
          <a:lstStyle/>
          <a:p>
            <a:pPr algn="l"/>
            <a:r>
              <a:rPr sz="1300" b="0">
                <a:solidFill>
                  <a:srgbClr val="8BA3B8"/>
                </a:solidFill>
                <a:latin typeface="Arial"/>
                <a:ea typeface="Arial"/>
                <a:cs typeface="Arial"/>
              </a:rPr>
              <a:t>Design capacity used in the engine and the trained model — not an alert class.</a:t>
            </a:r>
          </a:p>
        </p:txBody>
      </p:sp>
      <p:sp>
        <p:nvSpPr>
          <p:cNvPr id="35" name="Rectangle 34"/>
          <p:cNvSpPr/>
          <p:nvPr/>
        </p:nvSpPr>
        <p:spPr>
          <a:xfrm>
            <a:off x="8220456" y="3657600"/>
            <a:ext cx="3703320"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20456" y="3657600"/>
            <a:ext cx="3703320" cy="73152"/>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21624" y="3886200"/>
            <a:ext cx="3291840" cy="822960"/>
          </a:xfrm>
          <a:prstGeom prst="rect">
            <a:avLst/>
          </a:prstGeom>
          <a:noFill/>
        </p:spPr>
        <p:txBody>
          <a:bodyPr wrap="square" lIns="36576" rIns="36576" tIns="18288" bIns="18288"/>
          <a:lstStyle/>
          <a:p>
            <a:pPr algn="l"/>
            <a:r>
              <a:rPr sz="1800" b="1">
                <a:solidFill>
                  <a:srgbClr val="F4F0E6"/>
                </a:solidFill>
                <a:latin typeface="Arial"/>
                <a:ea typeface="Arial"/>
                <a:cs typeface="Arial"/>
              </a:rPr>
              <a:t>Operational headworks</a:t>
            </a:r>
          </a:p>
        </p:txBody>
      </p:sp>
      <p:sp>
        <p:nvSpPr>
          <p:cNvPr id="38" name="TextBox 37"/>
          <p:cNvSpPr txBox="1"/>
          <p:nvPr/>
        </p:nvSpPr>
        <p:spPr>
          <a:xfrm>
            <a:off x="8421624" y="4754880"/>
            <a:ext cx="3291840" cy="1005840"/>
          </a:xfrm>
          <a:prstGeom prst="rect">
            <a:avLst/>
          </a:prstGeom>
          <a:noFill/>
        </p:spPr>
        <p:txBody>
          <a:bodyPr wrap="square" lIns="36576" rIns="36576" tIns="18288" bIns="18288"/>
          <a:lstStyle/>
          <a:p>
            <a:pPr algn="l"/>
            <a:r>
              <a:rPr sz="1300" b="0">
                <a:solidFill>
                  <a:srgbClr val="8BA3B8"/>
                </a:solidFill>
                <a:latin typeface="Arial"/>
                <a:ea typeface="Arial"/>
                <a:cs typeface="Arial"/>
              </a:rPr>
              <a:t>A control point on the Chenab. We do not claim downstream population counts.</a:t>
            </a:r>
          </a:p>
        </p:txBody>
      </p:sp>
      <p:sp>
        <p:nvSpPr>
          <p:cNvPr id="39" name="Rectangle 38"/>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1" name="TextBox 40"/>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FLOODSHIELD INSIGHT</a:t>
            </a:r>
          </a:p>
        </p:txBody>
      </p:sp>
      <p:sp>
        <p:nvSpPr>
          <p:cNvPr id="7" name="TextBox 6"/>
          <p:cNvSpPr txBox="1"/>
          <p:nvPr/>
        </p:nvSpPr>
        <p:spPr>
          <a:xfrm>
            <a:off x="502920" y="420624"/>
            <a:ext cx="11173968" cy="502920"/>
          </a:xfrm>
          <a:prstGeom prst="rect">
            <a:avLst/>
          </a:prstGeom>
          <a:noFill/>
        </p:spPr>
        <p:txBody>
          <a:bodyPr wrap="square" lIns="36576" rIns="36576" tIns="18288" bIns="18288"/>
          <a:lstStyle/>
          <a:p>
            <a:pPr algn="l"/>
            <a:r>
              <a:rPr sz="2800" b="1">
                <a:solidFill>
                  <a:srgbClr val="F4F0E6"/>
                </a:solidFill>
                <a:latin typeface="Arial"/>
                <a:ea typeface="Arial"/>
                <a:cs typeface="Arial"/>
              </a:rPr>
              <a:t>Three signals. One safer decision.</a:t>
            </a:r>
          </a:p>
        </p:txBody>
      </p:sp>
      <p:sp>
        <p:nvSpPr>
          <p:cNvPr id="8" name="TextBox 7"/>
          <p:cNvSpPr txBox="1"/>
          <p:nvPr/>
        </p:nvSpPr>
        <p:spPr>
          <a:xfrm>
            <a:off x="502920" y="1078992"/>
            <a:ext cx="11155680" cy="292608"/>
          </a:xfrm>
          <a:prstGeom prst="rect">
            <a:avLst/>
          </a:prstGeom>
          <a:noFill/>
        </p:spPr>
        <p:txBody>
          <a:bodyPr wrap="square" lIns="36576" rIns="36576" tIns="18288" bIns="18288"/>
          <a:lstStyle/>
          <a:p>
            <a:pPr algn="l"/>
            <a:r>
              <a:rPr sz="1600" b="0">
                <a:solidFill>
                  <a:srgbClr val="5CE1E6"/>
                </a:solidFill>
                <a:latin typeface="Arial"/>
                <a:ea typeface="Arial"/>
                <a:cs typeface="Arial"/>
              </a:rPr>
              <a:t>Final risk = the highest credible signal. Official danger is never downgraded.</a:t>
            </a:r>
          </a:p>
        </p:txBody>
      </p:sp>
      <p:sp>
        <p:nvSpPr>
          <p:cNvPr id="9" name="Rectangle 8"/>
          <p:cNvSpPr/>
          <p:nvPr/>
        </p:nvSpPr>
        <p:spPr>
          <a:xfrm>
            <a:off x="502920" y="1508760"/>
            <a:ext cx="3703320" cy="196596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27632"/>
            <a:ext cx="3291840" cy="256032"/>
          </a:xfrm>
          <a:prstGeom prst="rect">
            <a:avLst/>
          </a:prstGeom>
          <a:noFill/>
        </p:spPr>
        <p:txBody>
          <a:bodyPr wrap="square" lIns="36576" rIns="36576" tIns="18288" bIns="18288"/>
          <a:lstStyle/>
          <a:p>
            <a:pPr algn="l"/>
            <a:r>
              <a:rPr sz="1200" b="1">
                <a:solidFill>
                  <a:srgbClr val="5CE1E6"/>
                </a:solidFill>
                <a:latin typeface="Arial"/>
                <a:ea typeface="Arial"/>
                <a:cs typeface="Arial"/>
              </a:rPr>
              <a:t>01</a:t>
            </a:r>
          </a:p>
        </p:txBody>
      </p:sp>
      <p:sp>
        <p:nvSpPr>
          <p:cNvPr id="11" name="TextBox 10"/>
          <p:cNvSpPr txBox="1"/>
          <p:nvPr/>
        </p:nvSpPr>
        <p:spPr>
          <a:xfrm>
            <a:off x="685800" y="1901952"/>
            <a:ext cx="3291840" cy="411480"/>
          </a:xfrm>
          <a:prstGeom prst="rect">
            <a:avLst/>
          </a:prstGeom>
          <a:noFill/>
        </p:spPr>
        <p:txBody>
          <a:bodyPr wrap="square" lIns="36576" rIns="36576" tIns="18288" bIns="18288"/>
          <a:lstStyle/>
          <a:p>
            <a:pPr algn="l"/>
            <a:r>
              <a:rPr sz="2200" b="1">
                <a:solidFill>
                  <a:srgbClr val="F4F0E6"/>
                </a:solidFill>
                <a:latin typeface="Arial"/>
                <a:ea typeface="Arial"/>
                <a:cs typeface="Arial"/>
              </a:rPr>
              <a:t>NOW</a:t>
            </a:r>
          </a:p>
        </p:txBody>
      </p:sp>
      <p:sp>
        <p:nvSpPr>
          <p:cNvPr id="12" name="TextBox 11"/>
          <p:cNvSpPr txBox="1"/>
          <p:nvPr/>
        </p:nvSpPr>
        <p:spPr>
          <a:xfrm>
            <a:off x="685800" y="2359152"/>
            <a:ext cx="3291840" cy="365760"/>
          </a:xfrm>
          <a:prstGeom prst="rect">
            <a:avLst/>
          </a:prstGeom>
          <a:noFill/>
        </p:spPr>
        <p:txBody>
          <a:bodyPr wrap="square" lIns="36576" rIns="36576" tIns="18288" bIns="18288"/>
          <a:lstStyle/>
          <a:p>
            <a:pPr algn="l"/>
            <a:r>
              <a:rPr sz="1400" b="0">
                <a:solidFill>
                  <a:srgbClr val="FFFFFF"/>
                </a:solidFill>
                <a:latin typeface="Arial"/>
                <a:ea typeface="Arial"/>
                <a:cs typeface="Arial"/>
              </a:rPr>
              <a:t>Current official inflow</a:t>
            </a:r>
          </a:p>
        </p:txBody>
      </p:sp>
      <p:sp>
        <p:nvSpPr>
          <p:cNvPr id="13" name="TextBox 12"/>
          <p:cNvSpPr txBox="1"/>
          <p:nvPr/>
        </p:nvSpPr>
        <p:spPr>
          <a:xfrm>
            <a:off x="685800" y="2761488"/>
            <a:ext cx="3291840" cy="411480"/>
          </a:xfrm>
          <a:prstGeom prst="rect">
            <a:avLst/>
          </a:prstGeom>
          <a:noFill/>
        </p:spPr>
        <p:txBody>
          <a:bodyPr wrap="square" lIns="36576" rIns="36576" tIns="18288" bIns="18288"/>
          <a:lstStyle/>
          <a:p>
            <a:pPr algn="l"/>
            <a:r>
              <a:rPr sz="1300" b="0">
                <a:solidFill>
                  <a:srgbClr val="8BA3B8"/>
                </a:solidFill>
                <a:latin typeface="Arial"/>
                <a:ea typeface="Arial"/>
                <a:cs typeface="Arial"/>
              </a:rPr>
              <a:t>Threshold engine</a:t>
            </a:r>
          </a:p>
        </p:txBody>
      </p:sp>
      <p:sp>
        <p:nvSpPr>
          <p:cNvPr id="14" name="Right Arrow 13"/>
          <p:cNvSpPr/>
          <p:nvPr/>
        </p:nvSpPr>
        <p:spPr>
          <a:xfrm>
            <a:off x="4224528" y="2331720"/>
            <a:ext cx="128016" cy="164592"/>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1508760"/>
            <a:ext cx="3703320" cy="196596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1627632"/>
            <a:ext cx="3291840" cy="256032"/>
          </a:xfrm>
          <a:prstGeom prst="rect">
            <a:avLst/>
          </a:prstGeom>
          <a:noFill/>
        </p:spPr>
        <p:txBody>
          <a:bodyPr wrap="square" lIns="36576" rIns="36576" tIns="18288" bIns="18288"/>
          <a:lstStyle/>
          <a:p>
            <a:pPr algn="l"/>
            <a:r>
              <a:rPr sz="1200" b="1">
                <a:solidFill>
                  <a:srgbClr val="5CE1E6"/>
                </a:solidFill>
                <a:latin typeface="Arial"/>
                <a:ea typeface="Arial"/>
                <a:cs typeface="Arial"/>
              </a:rPr>
              <a:t>02</a:t>
            </a:r>
          </a:p>
        </p:txBody>
      </p:sp>
      <p:sp>
        <p:nvSpPr>
          <p:cNvPr id="17" name="TextBox 16"/>
          <p:cNvSpPr txBox="1"/>
          <p:nvPr/>
        </p:nvSpPr>
        <p:spPr>
          <a:xfrm>
            <a:off x="4544568" y="1901952"/>
            <a:ext cx="3291840" cy="411480"/>
          </a:xfrm>
          <a:prstGeom prst="rect">
            <a:avLst/>
          </a:prstGeom>
          <a:noFill/>
        </p:spPr>
        <p:txBody>
          <a:bodyPr wrap="square" lIns="36576" rIns="36576" tIns="18288" bIns="18288"/>
          <a:lstStyle/>
          <a:p>
            <a:pPr algn="l"/>
            <a:r>
              <a:rPr sz="2200" b="1">
                <a:solidFill>
                  <a:srgbClr val="F4F0E6"/>
                </a:solidFill>
                <a:latin typeface="Arial"/>
                <a:ea typeface="Arial"/>
                <a:cs typeface="Arial"/>
              </a:rPr>
              <a:t>NEXT 24H</a:t>
            </a:r>
          </a:p>
        </p:txBody>
      </p:sp>
      <p:sp>
        <p:nvSpPr>
          <p:cNvPr id="18" name="TextBox 17"/>
          <p:cNvSpPr txBox="1"/>
          <p:nvPr/>
        </p:nvSpPr>
        <p:spPr>
          <a:xfrm>
            <a:off x="4544568" y="2359152"/>
            <a:ext cx="3291840" cy="365760"/>
          </a:xfrm>
          <a:prstGeom prst="rect">
            <a:avLst/>
          </a:prstGeom>
          <a:noFill/>
        </p:spPr>
        <p:txBody>
          <a:bodyPr wrap="square" lIns="36576" rIns="36576" tIns="18288" bIns="18288"/>
          <a:lstStyle/>
          <a:p>
            <a:pPr algn="l"/>
            <a:r>
              <a:rPr sz="1400" b="0">
                <a:solidFill>
                  <a:srgbClr val="FFFFFF"/>
                </a:solidFill>
                <a:latin typeface="Arial"/>
                <a:ea typeface="Arial"/>
                <a:cs typeface="Arial"/>
              </a:rPr>
              <a:t>FFD official forecast</a:t>
            </a:r>
          </a:p>
        </p:txBody>
      </p:sp>
      <p:sp>
        <p:nvSpPr>
          <p:cNvPr id="19" name="TextBox 18"/>
          <p:cNvSpPr txBox="1"/>
          <p:nvPr/>
        </p:nvSpPr>
        <p:spPr>
          <a:xfrm>
            <a:off x="4544568" y="2761488"/>
            <a:ext cx="3291840" cy="411480"/>
          </a:xfrm>
          <a:prstGeom prst="rect">
            <a:avLst/>
          </a:prstGeom>
          <a:noFill/>
        </p:spPr>
        <p:txBody>
          <a:bodyPr wrap="square" lIns="36576" rIns="36576" tIns="18288" bIns="18288"/>
          <a:lstStyle/>
          <a:p>
            <a:pPr algn="l"/>
            <a:r>
              <a:rPr sz="1300" b="0">
                <a:solidFill>
                  <a:srgbClr val="8BA3B8"/>
                </a:solidFill>
                <a:latin typeface="Arial"/>
                <a:ea typeface="Arial"/>
                <a:cs typeface="Arial"/>
              </a:rPr>
              <a:t>Upper end of the band</a:t>
            </a:r>
          </a:p>
        </p:txBody>
      </p:sp>
      <p:sp>
        <p:nvSpPr>
          <p:cNvPr id="20" name="Right Arrow 19"/>
          <p:cNvSpPr/>
          <p:nvPr/>
        </p:nvSpPr>
        <p:spPr>
          <a:xfrm>
            <a:off x="8083296" y="2331720"/>
            <a:ext cx="128016" cy="164592"/>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0456" y="1508760"/>
            <a:ext cx="3703320" cy="196596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1627632"/>
            <a:ext cx="3291840" cy="256032"/>
          </a:xfrm>
          <a:prstGeom prst="rect">
            <a:avLst/>
          </a:prstGeom>
          <a:noFill/>
        </p:spPr>
        <p:txBody>
          <a:bodyPr wrap="square" lIns="36576" rIns="36576" tIns="18288" bIns="18288"/>
          <a:lstStyle/>
          <a:p>
            <a:pPr algn="l"/>
            <a:r>
              <a:rPr sz="1200" b="1">
                <a:solidFill>
                  <a:srgbClr val="5CE1E6"/>
                </a:solidFill>
                <a:latin typeface="Arial"/>
                <a:ea typeface="Arial"/>
                <a:cs typeface="Arial"/>
              </a:rPr>
              <a:t>03</a:t>
            </a:r>
          </a:p>
        </p:txBody>
      </p:sp>
      <p:sp>
        <p:nvSpPr>
          <p:cNvPr id="23" name="TextBox 22"/>
          <p:cNvSpPr txBox="1"/>
          <p:nvPr/>
        </p:nvSpPr>
        <p:spPr>
          <a:xfrm>
            <a:off x="8403336" y="1901952"/>
            <a:ext cx="3291840" cy="411480"/>
          </a:xfrm>
          <a:prstGeom prst="rect">
            <a:avLst/>
          </a:prstGeom>
          <a:noFill/>
        </p:spPr>
        <p:txBody>
          <a:bodyPr wrap="square" lIns="36576" rIns="36576" tIns="18288" bIns="18288"/>
          <a:lstStyle/>
          <a:p>
            <a:pPr algn="l"/>
            <a:r>
              <a:rPr sz="2200" b="1">
                <a:solidFill>
                  <a:srgbClr val="F4F0E6"/>
                </a:solidFill>
                <a:latin typeface="Arial"/>
                <a:ea typeface="Arial"/>
                <a:cs typeface="Arial"/>
              </a:rPr>
              <a:t>TOMORROW</a:t>
            </a:r>
          </a:p>
        </p:txBody>
      </p:sp>
      <p:sp>
        <p:nvSpPr>
          <p:cNvPr id="24" name="TextBox 23"/>
          <p:cNvSpPr txBox="1"/>
          <p:nvPr/>
        </p:nvSpPr>
        <p:spPr>
          <a:xfrm>
            <a:off x="8403336" y="2359152"/>
            <a:ext cx="3291840" cy="365760"/>
          </a:xfrm>
          <a:prstGeom prst="rect">
            <a:avLst/>
          </a:prstGeom>
          <a:noFill/>
        </p:spPr>
        <p:txBody>
          <a:bodyPr wrap="square" lIns="36576" rIns="36576" tIns="18288" bIns="18288"/>
          <a:lstStyle/>
          <a:p>
            <a:pPr algn="l"/>
            <a:r>
              <a:rPr sz="1400" b="0">
                <a:solidFill>
                  <a:srgbClr val="FFFFFF"/>
                </a:solidFill>
                <a:latin typeface="Arial"/>
                <a:ea typeface="Arial"/>
                <a:cs typeface="Arial"/>
              </a:rPr>
              <a:t>ML next-day prediction</a:t>
            </a:r>
          </a:p>
        </p:txBody>
      </p:sp>
      <p:sp>
        <p:nvSpPr>
          <p:cNvPr id="25" name="TextBox 24"/>
          <p:cNvSpPr txBox="1"/>
          <p:nvPr/>
        </p:nvSpPr>
        <p:spPr>
          <a:xfrm>
            <a:off x="8403336" y="2761488"/>
            <a:ext cx="3291840" cy="411480"/>
          </a:xfrm>
          <a:prstGeom prst="rect">
            <a:avLst/>
          </a:prstGeom>
          <a:noFill/>
        </p:spPr>
        <p:txBody>
          <a:bodyPr wrap="square" lIns="36576" rIns="36576" tIns="18288" bIns="18288"/>
          <a:lstStyle/>
          <a:p>
            <a:pPr algn="l"/>
            <a:r>
              <a:rPr sz="1300" b="0">
                <a:solidFill>
                  <a:srgbClr val="8BA3B8"/>
                </a:solidFill>
                <a:latin typeface="Arial"/>
                <a:ea typeface="Arial"/>
                <a:cs typeface="Arial"/>
              </a:rPr>
              <a:t>39-feature classifier</a:t>
            </a:r>
          </a:p>
        </p:txBody>
      </p:sp>
      <p:sp>
        <p:nvSpPr>
          <p:cNvPr id="26" name="Down Arrow 25"/>
          <p:cNvSpPr/>
          <p:nvPr/>
        </p:nvSpPr>
        <p:spPr>
          <a:xfrm>
            <a:off x="5925312" y="3584448"/>
            <a:ext cx="201168" cy="256032"/>
          </a:xfrm>
          <a:prstGeom prst="down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48840" y="3913632"/>
            <a:ext cx="7909560" cy="1051560"/>
          </a:xfrm>
          <a:prstGeom prst="rect">
            <a:avLst/>
          </a:prstGeom>
          <a:solidFill>
            <a:srgbClr val="0E6E6B"/>
          </a:solidFill>
          <a:ln w="1778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6000" y="4005072"/>
            <a:ext cx="7635240" cy="292608"/>
          </a:xfrm>
          <a:prstGeom prst="rect">
            <a:avLst/>
          </a:prstGeom>
          <a:noFill/>
        </p:spPr>
        <p:txBody>
          <a:bodyPr wrap="square" lIns="36576" rIns="36576" tIns="18288" bIns="18288"/>
          <a:lstStyle/>
          <a:p>
            <a:pPr algn="ctr"/>
            <a:r>
              <a:rPr sz="1200" b="1">
                <a:solidFill>
                  <a:srgbClr val="5CE1E6"/>
                </a:solidFill>
                <a:latin typeface="Arial"/>
                <a:ea typeface="Arial"/>
                <a:cs typeface="Arial"/>
              </a:rPr>
              <a:t>FINAL RISK</a:t>
            </a:r>
          </a:p>
        </p:txBody>
      </p:sp>
      <p:sp>
        <p:nvSpPr>
          <p:cNvPr id="29" name="TextBox 28"/>
          <p:cNvSpPr txBox="1"/>
          <p:nvPr/>
        </p:nvSpPr>
        <p:spPr>
          <a:xfrm>
            <a:off x="2286000" y="4279392"/>
            <a:ext cx="7635240" cy="502920"/>
          </a:xfrm>
          <a:prstGeom prst="rect">
            <a:avLst/>
          </a:prstGeom>
          <a:noFill/>
        </p:spPr>
        <p:txBody>
          <a:bodyPr wrap="square" lIns="36576" rIns="36576" tIns="18288" bIns="18288"/>
          <a:lstStyle/>
          <a:p>
            <a:pPr algn="ctr"/>
            <a:r>
              <a:rPr sz="2000" b="1">
                <a:solidFill>
                  <a:srgbClr val="FFFFFF"/>
                </a:solidFill>
                <a:latin typeface="Arial"/>
                <a:ea typeface="Arial"/>
                <a:cs typeface="Arial"/>
              </a:rPr>
              <a:t>Highest credible risk among the three signals</a:t>
            </a:r>
          </a:p>
        </p:txBody>
      </p:sp>
      <p:sp>
        <p:nvSpPr>
          <p:cNvPr id="30" name="Down Arrow 29"/>
          <p:cNvSpPr/>
          <p:nvPr/>
        </p:nvSpPr>
        <p:spPr>
          <a:xfrm>
            <a:off x="5925312" y="5047488"/>
            <a:ext cx="201168" cy="201168"/>
          </a:xfrm>
          <a:prstGeom prst="down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148840" y="5321808"/>
            <a:ext cx="3794760" cy="86868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40280" y="5321808"/>
            <a:ext cx="3611880" cy="868680"/>
          </a:xfrm>
          <a:prstGeom prst="rect">
            <a:avLst/>
          </a:prstGeom>
          <a:noFill/>
        </p:spPr>
        <p:txBody>
          <a:bodyPr wrap="square" lIns="36576" rIns="36576" tIns="18288" bIns="18288"/>
          <a:lstStyle/>
          <a:p>
            <a:pPr algn="ctr"/>
            <a:r>
              <a:rPr sz="1600" b="1">
                <a:solidFill>
                  <a:srgbClr val="F4F0E6"/>
                </a:solidFill>
                <a:latin typeface="Arial"/>
                <a:ea typeface="Arial"/>
                <a:cs typeface="Arial"/>
              </a:rPr>
              <a:t>ENGLISH ALERT</a:t>
            </a:r>
          </a:p>
        </p:txBody>
      </p:sp>
      <p:sp>
        <p:nvSpPr>
          <p:cNvPr id="33" name="Rectangle 32"/>
          <p:cNvSpPr/>
          <p:nvPr/>
        </p:nvSpPr>
        <p:spPr>
          <a:xfrm>
            <a:off x="6263640" y="5321808"/>
            <a:ext cx="3794760" cy="86868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5321808"/>
            <a:ext cx="3611880" cy="868680"/>
          </a:xfrm>
          <a:prstGeom prst="rect">
            <a:avLst/>
          </a:prstGeom>
          <a:noFill/>
        </p:spPr>
        <p:txBody>
          <a:bodyPr wrap="square" lIns="36576" rIns="36576" tIns="18288" bIns="18288"/>
          <a:lstStyle/>
          <a:p>
            <a:pPr algn="ctr"/>
            <a:r>
              <a:rPr sz="1600" b="1">
                <a:solidFill>
                  <a:srgbClr val="F4F0E6"/>
                </a:solidFill>
                <a:latin typeface="Arial Unicode MS"/>
                <a:ea typeface="Arial Unicode MS"/>
                <a:cs typeface="Arial Unicode MS"/>
              </a:rPr>
              <a:t>اردو الرٹ</a:t>
            </a:r>
          </a:p>
        </p:txBody>
      </p:sp>
      <p:sp>
        <p:nvSpPr>
          <p:cNvPr id="35" name="TextBox 34"/>
          <p:cNvSpPr txBox="1"/>
          <p:nvPr/>
        </p:nvSpPr>
        <p:spPr>
          <a:xfrm>
            <a:off x="502920" y="6263640"/>
            <a:ext cx="11155680" cy="201168"/>
          </a:xfrm>
          <a:prstGeom prst="rect">
            <a:avLst/>
          </a:prstGeom>
          <a:noFill/>
        </p:spPr>
        <p:txBody>
          <a:bodyPr wrap="square" lIns="36576" rIns="36576" tIns="18288" bIns="18288"/>
          <a:lstStyle/>
          <a:p>
            <a:pPr algn="ctr"/>
            <a:r>
              <a:rPr sz="1300" b="1">
                <a:solidFill>
                  <a:srgbClr val="F5A524"/>
                </a:solidFill>
                <a:latin typeface="Arial"/>
                <a:ea typeface="Arial"/>
                <a:cs typeface="Arial"/>
              </a:rPr>
              <a:t>Official danger is never downgraded.</a:t>
            </a:r>
          </a:p>
        </p:txBody>
      </p:sp>
      <p:sp>
        <p:nvSpPr>
          <p:cNvPr id="36" name="Rectangle 35"/>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8" name="TextBox 37"/>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light.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0E6E6B"/>
                </a:solidFill>
                <a:latin typeface="Arial"/>
                <a:ea typeface="Arial"/>
                <a:cs typeface="Arial"/>
              </a:rPr>
              <a:t>OFFICIAL RISK LEVELS</a:t>
            </a:r>
          </a:p>
        </p:txBody>
      </p:sp>
      <p:sp>
        <p:nvSpPr>
          <p:cNvPr id="7" name="TextBox 6"/>
          <p:cNvSpPr txBox="1"/>
          <p:nvPr/>
        </p:nvSpPr>
        <p:spPr>
          <a:xfrm>
            <a:off x="502920" y="420624"/>
            <a:ext cx="11173968" cy="868680"/>
          </a:xfrm>
          <a:prstGeom prst="rect">
            <a:avLst/>
          </a:prstGeom>
          <a:noFill/>
        </p:spPr>
        <p:txBody>
          <a:bodyPr wrap="square" lIns="36576" rIns="36576" tIns="18288" bIns="18288"/>
          <a:lstStyle/>
          <a:p>
            <a:pPr algn="l"/>
            <a:r>
              <a:rPr sz="2800" b="1">
                <a:solidFill>
                  <a:srgbClr val="121A26"/>
                </a:solidFill>
                <a:latin typeface="Arial"/>
                <a:ea typeface="Arial"/>
                <a:cs typeface="Arial"/>
              </a:rPr>
              <a:t>Risk levels come from official Marala thresholds — not invented AI scores.</a:t>
            </a:r>
          </a:p>
        </p:txBody>
      </p:sp>
      <p:sp>
        <p:nvSpPr>
          <p:cNvPr id="8" name="TextBox 7"/>
          <p:cNvSpPr txBox="1"/>
          <p:nvPr/>
        </p:nvSpPr>
        <p:spPr>
          <a:xfrm>
            <a:off x="502920" y="1325880"/>
            <a:ext cx="11155680" cy="292608"/>
          </a:xfrm>
          <a:prstGeom prst="rect">
            <a:avLst/>
          </a:prstGeom>
          <a:noFill/>
        </p:spPr>
        <p:txBody>
          <a:bodyPr wrap="square" lIns="36576" rIns="36576" tIns="18288" bIns="18288"/>
          <a:lstStyle/>
          <a:p>
            <a:pPr algn="l"/>
            <a:r>
              <a:rPr sz="1400" b="0">
                <a:solidFill>
                  <a:srgbClr val="5C7388"/>
                </a:solidFill>
                <a:latin typeface="Arial"/>
                <a:ea typeface="Arial"/>
                <a:cs typeface="Arial"/>
              </a:rPr>
              <a:t>Units: thousand cusecs. Design capacity is context — not a seventh alert class.</a:t>
            </a:r>
          </a:p>
        </p:txBody>
      </p:sp>
      <p:sp>
        <p:nvSpPr>
          <p:cNvPr id="9" name="Rectangle 8"/>
          <p:cNvSpPr/>
          <p:nvPr/>
        </p:nvSpPr>
        <p:spPr>
          <a:xfrm>
            <a:off x="502920" y="1874519"/>
            <a:ext cx="1770888" cy="2880360"/>
          </a:xfrm>
          <a:prstGeom prst="rect">
            <a:avLst/>
          </a:prstGeom>
          <a:solidFill>
            <a:srgbClr val="FFFFFF"/>
          </a:solidFill>
          <a:ln w="20320">
            <a:solidFill>
              <a:srgbClr val="2FB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74519"/>
            <a:ext cx="1770888" cy="146304"/>
          </a:xfrm>
          <a:prstGeom prst="rect">
            <a:avLst/>
          </a:prstGeom>
          <a:solidFill>
            <a:srgbClr val="2FB3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2148840"/>
            <a:ext cx="1624584" cy="640080"/>
          </a:xfrm>
          <a:prstGeom prst="rect">
            <a:avLst/>
          </a:prstGeom>
          <a:noFill/>
        </p:spPr>
        <p:txBody>
          <a:bodyPr wrap="square" lIns="36576" rIns="36576" tIns="18288" bIns="18288"/>
          <a:lstStyle/>
          <a:p>
            <a:pPr algn="ctr"/>
            <a:r>
              <a:rPr sz="1600" b="1">
                <a:solidFill>
                  <a:srgbClr val="121A26"/>
                </a:solidFill>
                <a:latin typeface="Arial"/>
                <a:ea typeface="Arial"/>
                <a:cs typeface="Arial"/>
              </a:rPr>
              <a:t>Normal</a:t>
            </a:r>
          </a:p>
        </p:txBody>
      </p:sp>
      <p:sp>
        <p:nvSpPr>
          <p:cNvPr id="12" name="TextBox 11"/>
          <p:cNvSpPr txBox="1"/>
          <p:nvPr/>
        </p:nvSpPr>
        <p:spPr>
          <a:xfrm>
            <a:off x="576072" y="2880360"/>
            <a:ext cx="1624584" cy="822960"/>
          </a:xfrm>
          <a:prstGeom prst="rect">
            <a:avLst/>
          </a:prstGeom>
          <a:noFill/>
        </p:spPr>
        <p:txBody>
          <a:bodyPr wrap="square" lIns="36576" rIns="36576" tIns="18288" bIns="18288"/>
          <a:lstStyle/>
          <a:p>
            <a:pPr algn="ctr"/>
            <a:r>
              <a:rPr sz="2600" b="1">
                <a:solidFill>
                  <a:srgbClr val="2FB38B"/>
                </a:solidFill>
                <a:latin typeface="Arial"/>
                <a:ea typeface="Arial"/>
                <a:cs typeface="Arial"/>
              </a:rPr>
              <a:t>&lt; 100</a:t>
            </a:r>
          </a:p>
        </p:txBody>
      </p:sp>
      <p:sp>
        <p:nvSpPr>
          <p:cNvPr id="13" name="TextBox 12"/>
          <p:cNvSpPr txBox="1"/>
          <p:nvPr/>
        </p:nvSpPr>
        <p:spPr>
          <a:xfrm>
            <a:off x="576072" y="3794760"/>
            <a:ext cx="1624584" cy="640080"/>
          </a:xfrm>
          <a:prstGeom prst="rect">
            <a:avLst/>
          </a:prstGeom>
          <a:noFill/>
        </p:spPr>
        <p:txBody>
          <a:bodyPr wrap="square" lIns="36576" rIns="36576" tIns="18288" bIns="18288"/>
          <a:lstStyle/>
          <a:p>
            <a:pPr algn="ctr"/>
            <a:r>
              <a:rPr sz="1200" b="0">
                <a:solidFill>
                  <a:srgbClr val="5C7388"/>
                </a:solidFill>
                <a:latin typeface="Arial"/>
                <a:ea typeface="Arial"/>
                <a:cs typeface="Arial"/>
              </a:rPr>
              <a:t>thousand
cusecs</a:t>
            </a:r>
          </a:p>
        </p:txBody>
      </p:sp>
      <p:sp>
        <p:nvSpPr>
          <p:cNvPr id="14" name="Rectangle 13"/>
          <p:cNvSpPr/>
          <p:nvPr/>
        </p:nvSpPr>
        <p:spPr>
          <a:xfrm>
            <a:off x="2383536" y="1874519"/>
            <a:ext cx="1770888" cy="2880360"/>
          </a:xfrm>
          <a:prstGeom prst="rect">
            <a:avLst/>
          </a:prstGeom>
          <a:solidFill>
            <a:srgbClr val="FFFFFF"/>
          </a:solidFill>
          <a:ln w="20320">
            <a:solidFill>
              <a:srgbClr val="E4B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83536" y="1874519"/>
            <a:ext cx="1770888" cy="146304"/>
          </a:xfrm>
          <a:prstGeom prst="rect">
            <a:avLst/>
          </a:prstGeom>
          <a:solidFill>
            <a:srgbClr val="E4B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56688" y="2148840"/>
            <a:ext cx="1624584" cy="640080"/>
          </a:xfrm>
          <a:prstGeom prst="rect">
            <a:avLst/>
          </a:prstGeom>
          <a:noFill/>
        </p:spPr>
        <p:txBody>
          <a:bodyPr wrap="square" lIns="36576" rIns="36576" tIns="18288" bIns="18288"/>
          <a:lstStyle/>
          <a:p>
            <a:pPr algn="ctr"/>
            <a:r>
              <a:rPr sz="1600" b="1">
                <a:solidFill>
                  <a:srgbClr val="121A26"/>
                </a:solidFill>
                <a:latin typeface="Arial"/>
                <a:ea typeface="Arial"/>
                <a:cs typeface="Arial"/>
              </a:rPr>
              <a:t>Low</a:t>
            </a:r>
          </a:p>
        </p:txBody>
      </p:sp>
      <p:sp>
        <p:nvSpPr>
          <p:cNvPr id="17" name="TextBox 16"/>
          <p:cNvSpPr txBox="1"/>
          <p:nvPr/>
        </p:nvSpPr>
        <p:spPr>
          <a:xfrm>
            <a:off x="2456688" y="2880360"/>
            <a:ext cx="1624584" cy="822960"/>
          </a:xfrm>
          <a:prstGeom prst="rect">
            <a:avLst/>
          </a:prstGeom>
          <a:noFill/>
        </p:spPr>
        <p:txBody>
          <a:bodyPr wrap="square" lIns="36576" rIns="36576" tIns="18288" bIns="18288"/>
          <a:lstStyle/>
          <a:p>
            <a:pPr algn="ctr"/>
            <a:r>
              <a:rPr sz="2600" b="1">
                <a:solidFill>
                  <a:srgbClr val="E4B01C"/>
                </a:solidFill>
                <a:latin typeface="Arial"/>
                <a:ea typeface="Arial"/>
                <a:cs typeface="Arial"/>
              </a:rPr>
              <a:t>100</a:t>
            </a:r>
          </a:p>
        </p:txBody>
      </p:sp>
      <p:sp>
        <p:nvSpPr>
          <p:cNvPr id="18" name="TextBox 17"/>
          <p:cNvSpPr txBox="1"/>
          <p:nvPr/>
        </p:nvSpPr>
        <p:spPr>
          <a:xfrm>
            <a:off x="2456688" y="3794760"/>
            <a:ext cx="1624584" cy="640080"/>
          </a:xfrm>
          <a:prstGeom prst="rect">
            <a:avLst/>
          </a:prstGeom>
          <a:noFill/>
        </p:spPr>
        <p:txBody>
          <a:bodyPr wrap="square" lIns="36576" rIns="36576" tIns="18288" bIns="18288"/>
          <a:lstStyle/>
          <a:p>
            <a:pPr algn="ctr"/>
            <a:r>
              <a:rPr sz="1200" b="0">
                <a:solidFill>
                  <a:srgbClr val="5C7388"/>
                </a:solidFill>
                <a:latin typeface="Arial"/>
                <a:ea typeface="Arial"/>
                <a:cs typeface="Arial"/>
              </a:rPr>
              <a:t>thousand
cusecs</a:t>
            </a:r>
          </a:p>
        </p:txBody>
      </p:sp>
      <p:sp>
        <p:nvSpPr>
          <p:cNvPr id="19" name="Rectangle 18"/>
          <p:cNvSpPr/>
          <p:nvPr/>
        </p:nvSpPr>
        <p:spPr>
          <a:xfrm>
            <a:off x="4264152" y="1874519"/>
            <a:ext cx="1770888" cy="2880360"/>
          </a:xfrm>
          <a:prstGeom prst="rect">
            <a:avLst/>
          </a:prstGeom>
          <a:solidFill>
            <a:srgbClr val="FFFFFF"/>
          </a:solidFill>
          <a:ln w="2032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64152" y="1874519"/>
            <a:ext cx="1770888" cy="14630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7304" y="2148840"/>
            <a:ext cx="1624584" cy="640080"/>
          </a:xfrm>
          <a:prstGeom prst="rect">
            <a:avLst/>
          </a:prstGeom>
          <a:noFill/>
        </p:spPr>
        <p:txBody>
          <a:bodyPr wrap="square" lIns="36576" rIns="36576" tIns="18288" bIns="18288"/>
          <a:lstStyle/>
          <a:p>
            <a:pPr algn="ctr"/>
            <a:r>
              <a:rPr sz="1600" b="1">
                <a:solidFill>
                  <a:srgbClr val="121A26"/>
                </a:solidFill>
                <a:latin typeface="Arial"/>
                <a:ea typeface="Arial"/>
                <a:cs typeface="Arial"/>
              </a:rPr>
              <a:t>Medium</a:t>
            </a:r>
          </a:p>
        </p:txBody>
      </p:sp>
      <p:sp>
        <p:nvSpPr>
          <p:cNvPr id="22" name="TextBox 21"/>
          <p:cNvSpPr txBox="1"/>
          <p:nvPr/>
        </p:nvSpPr>
        <p:spPr>
          <a:xfrm>
            <a:off x="4337304" y="2880360"/>
            <a:ext cx="1624584" cy="822960"/>
          </a:xfrm>
          <a:prstGeom prst="rect">
            <a:avLst/>
          </a:prstGeom>
          <a:noFill/>
        </p:spPr>
        <p:txBody>
          <a:bodyPr wrap="square" lIns="36576" rIns="36576" tIns="18288" bIns="18288"/>
          <a:lstStyle/>
          <a:p>
            <a:pPr algn="ctr"/>
            <a:r>
              <a:rPr sz="2600" b="1">
                <a:solidFill>
                  <a:srgbClr val="F5A524"/>
                </a:solidFill>
                <a:latin typeface="Arial"/>
                <a:ea typeface="Arial"/>
                <a:cs typeface="Arial"/>
              </a:rPr>
              <a:t>150</a:t>
            </a:r>
          </a:p>
        </p:txBody>
      </p:sp>
      <p:sp>
        <p:nvSpPr>
          <p:cNvPr id="23" name="TextBox 22"/>
          <p:cNvSpPr txBox="1"/>
          <p:nvPr/>
        </p:nvSpPr>
        <p:spPr>
          <a:xfrm>
            <a:off x="4337304" y="3794760"/>
            <a:ext cx="1624584" cy="640080"/>
          </a:xfrm>
          <a:prstGeom prst="rect">
            <a:avLst/>
          </a:prstGeom>
          <a:noFill/>
        </p:spPr>
        <p:txBody>
          <a:bodyPr wrap="square" lIns="36576" rIns="36576" tIns="18288" bIns="18288"/>
          <a:lstStyle/>
          <a:p>
            <a:pPr algn="ctr"/>
            <a:r>
              <a:rPr sz="1200" b="0">
                <a:solidFill>
                  <a:srgbClr val="5C7388"/>
                </a:solidFill>
                <a:latin typeface="Arial"/>
                <a:ea typeface="Arial"/>
                <a:cs typeface="Arial"/>
              </a:rPr>
              <a:t>thousand
cusecs</a:t>
            </a:r>
          </a:p>
        </p:txBody>
      </p:sp>
      <p:sp>
        <p:nvSpPr>
          <p:cNvPr id="24" name="Rectangle 23"/>
          <p:cNvSpPr/>
          <p:nvPr/>
        </p:nvSpPr>
        <p:spPr>
          <a:xfrm>
            <a:off x="6144768" y="1874519"/>
            <a:ext cx="1770888" cy="2880360"/>
          </a:xfrm>
          <a:prstGeom prst="rect">
            <a:avLst/>
          </a:prstGeom>
          <a:solidFill>
            <a:srgbClr val="FFFFFF"/>
          </a:solidFill>
          <a:ln w="20320">
            <a:solidFill>
              <a:srgbClr val="F0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1874519"/>
            <a:ext cx="1770888" cy="146304"/>
          </a:xfrm>
          <a:prstGeom prst="rect">
            <a:avLst/>
          </a:prstGeom>
          <a:solidFill>
            <a:srgbClr val="F0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2148840"/>
            <a:ext cx="1624584" cy="640080"/>
          </a:xfrm>
          <a:prstGeom prst="rect">
            <a:avLst/>
          </a:prstGeom>
          <a:noFill/>
        </p:spPr>
        <p:txBody>
          <a:bodyPr wrap="square" lIns="36576" rIns="36576" tIns="18288" bIns="18288"/>
          <a:lstStyle/>
          <a:p>
            <a:pPr algn="ctr"/>
            <a:r>
              <a:rPr sz="1600" b="1">
                <a:solidFill>
                  <a:srgbClr val="121A26"/>
                </a:solidFill>
                <a:latin typeface="Arial"/>
                <a:ea typeface="Arial"/>
                <a:cs typeface="Arial"/>
              </a:rPr>
              <a:t>High</a:t>
            </a:r>
          </a:p>
        </p:txBody>
      </p:sp>
      <p:sp>
        <p:nvSpPr>
          <p:cNvPr id="27" name="TextBox 26"/>
          <p:cNvSpPr txBox="1"/>
          <p:nvPr/>
        </p:nvSpPr>
        <p:spPr>
          <a:xfrm>
            <a:off x="6217920" y="2880360"/>
            <a:ext cx="1624584" cy="822960"/>
          </a:xfrm>
          <a:prstGeom prst="rect">
            <a:avLst/>
          </a:prstGeom>
          <a:noFill/>
        </p:spPr>
        <p:txBody>
          <a:bodyPr wrap="square" lIns="36576" rIns="36576" tIns="18288" bIns="18288"/>
          <a:lstStyle/>
          <a:p>
            <a:pPr algn="ctr"/>
            <a:r>
              <a:rPr sz="2600" b="1">
                <a:solidFill>
                  <a:srgbClr val="F07316"/>
                </a:solidFill>
                <a:latin typeface="Arial"/>
                <a:ea typeface="Arial"/>
                <a:cs typeface="Arial"/>
              </a:rPr>
              <a:t>200</a:t>
            </a:r>
          </a:p>
        </p:txBody>
      </p:sp>
      <p:sp>
        <p:nvSpPr>
          <p:cNvPr id="28" name="TextBox 27"/>
          <p:cNvSpPr txBox="1"/>
          <p:nvPr/>
        </p:nvSpPr>
        <p:spPr>
          <a:xfrm>
            <a:off x="6217920" y="3794760"/>
            <a:ext cx="1624584" cy="640080"/>
          </a:xfrm>
          <a:prstGeom prst="rect">
            <a:avLst/>
          </a:prstGeom>
          <a:noFill/>
        </p:spPr>
        <p:txBody>
          <a:bodyPr wrap="square" lIns="36576" rIns="36576" tIns="18288" bIns="18288"/>
          <a:lstStyle/>
          <a:p>
            <a:pPr algn="ctr"/>
            <a:r>
              <a:rPr sz="1200" b="0">
                <a:solidFill>
                  <a:srgbClr val="5C7388"/>
                </a:solidFill>
                <a:latin typeface="Arial"/>
                <a:ea typeface="Arial"/>
                <a:cs typeface="Arial"/>
              </a:rPr>
              <a:t>thousand
cusecs</a:t>
            </a:r>
          </a:p>
        </p:txBody>
      </p:sp>
      <p:sp>
        <p:nvSpPr>
          <p:cNvPr id="29" name="Rectangle 28"/>
          <p:cNvSpPr/>
          <p:nvPr/>
        </p:nvSpPr>
        <p:spPr>
          <a:xfrm>
            <a:off x="8025384" y="1874519"/>
            <a:ext cx="1770888" cy="2880360"/>
          </a:xfrm>
          <a:prstGeom prst="rect">
            <a:avLst/>
          </a:prstGeom>
          <a:solidFill>
            <a:srgbClr val="FFFFFF"/>
          </a:solidFill>
          <a:ln w="20320">
            <a:solidFill>
              <a:srgbClr val="E2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25384" y="1874519"/>
            <a:ext cx="1770888" cy="146304"/>
          </a:xfrm>
          <a:prstGeom prst="rect">
            <a:avLst/>
          </a:prstGeom>
          <a:solidFill>
            <a:srgbClr val="E2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8536" y="2148840"/>
            <a:ext cx="1624584" cy="640080"/>
          </a:xfrm>
          <a:prstGeom prst="rect">
            <a:avLst/>
          </a:prstGeom>
          <a:noFill/>
        </p:spPr>
        <p:txBody>
          <a:bodyPr wrap="square" lIns="36576" rIns="36576" tIns="18288" bIns="18288"/>
          <a:lstStyle/>
          <a:p>
            <a:pPr algn="ctr"/>
            <a:r>
              <a:rPr sz="1600" b="1">
                <a:solidFill>
                  <a:srgbClr val="121A26"/>
                </a:solidFill>
                <a:latin typeface="Arial"/>
                <a:ea typeface="Arial"/>
                <a:cs typeface="Arial"/>
              </a:rPr>
              <a:t>Very High</a:t>
            </a:r>
          </a:p>
        </p:txBody>
      </p:sp>
      <p:sp>
        <p:nvSpPr>
          <p:cNvPr id="32" name="TextBox 31"/>
          <p:cNvSpPr txBox="1"/>
          <p:nvPr/>
        </p:nvSpPr>
        <p:spPr>
          <a:xfrm>
            <a:off x="8098536" y="2880360"/>
            <a:ext cx="1624584" cy="822960"/>
          </a:xfrm>
          <a:prstGeom prst="rect">
            <a:avLst/>
          </a:prstGeom>
          <a:noFill/>
        </p:spPr>
        <p:txBody>
          <a:bodyPr wrap="square" lIns="36576" rIns="36576" tIns="18288" bIns="18288"/>
          <a:lstStyle/>
          <a:p>
            <a:pPr algn="ctr"/>
            <a:r>
              <a:rPr sz="2600" b="1">
                <a:solidFill>
                  <a:srgbClr val="E23B3B"/>
                </a:solidFill>
                <a:latin typeface="Arial"/>
                <a:ea typeface="Arial"/>
                <a:cs typeface="Arial"/>
              </a:rPr>
              <a:t>400</a:t>
            </a:r>
          </a:p>
        </p:txBody>
      </p:sp>
      <p:sp>
        <p:nvSpPr>
          <p:cNvPr id="33" name="TextBox 32"/>
          <p:cNvSpPr txBox="1"/>
          <p:nvPr/>
        </p:nvSpPr>
        <p:spPr>
          <a:xfrm>
            <a:off x="8098536" y="3794760"/>
            <a:ext cx="1624584" cy="640080"/>
          </a:xfrm>
          <a:prstGeom prst="rect">
            <a:avLst/>
          </a:prstGeom>
          <a:noFill/>
        </p:spPr>
        <p:txBody>
          <a:bodyPr wrap="square" lIns="36576" rIns="36576" tIns="18288" bIns="18288"/>
          <a:lstStyle/>
          <a:p>
            <a:pPr algn="ctr"/>
            <a:r>
              <a:rPr sz="1200" b="0">
                <a:solidFill>
                  <a:srgbClr val="5C7388"/>
                </a:solidFill>
                <a:latin typeface="Arial"/>
                <a:ea typeface="Arial"/>
                <a:cs typeface="Arial"/>
              </a:rPr>
              <a:t>thousand
cusecs</a:t>
            </a:r>
          </a:p>
        </p:txBody>
      </p:sp>
      <p:sp>
        <p:nvSpPr>
          <p:cNvPr id="34" name="Rectangle 33"/>
          <p:cNvSpPr/>
          <p:nvPr/>
        </p:nvSpPr>
        <p:spPr>
          <a:xfrm>
            <a:off x="9906000" y="1874519"/>
            <a:ext cx="1770888" cy="2880360"/>
          </a:xfrm>
          <a:prstGeom prst="rect">
            <a:avLst/>
          </a:prstGeom>
          <a:solidFill>
            <a:srgbClr val="FFFFFF"/>
          </a:solidFill>
          <a:ln w="20320">
            <a:solidFill>
              <a:srgbClr val="7A1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06000" y="1874519"/>
            <a:ext cx="1770888" cy="146304"/>
          </a:xfrm>
          <a:prstGeom prst="rect">
            <a:avLst/>
          </a:prstGeom>
          <a:solidFill>
            <a:srgbClr val="7A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79152" y="2148840"/>
            <a:ext cx="1624584" cy="640080"/>
          </a:xfrm>
          <a:prstGeom prst="rect">
            <a:avLst/>
          </a:prstGeom>
          <a:noFill/>
        </p:spPr>
        <p:txBody>
          <a:bodyPr wrap="square" lIns="36576" rIns="36576" tIns="18288" bIns="18288"/>
          <a:lstStyle/>
          <a:p>
            <a:pPr algn="ctr"/>
            <a:r>
              <a:rPr sz="1600" b="1">
                <a:solidFill>
                  <a:srgbClr val="121A26"/>
                </a:solidFill>
                <a:latin typeface="Arial"/>
                <a:ea typeface="Arial"/>
                <a:cs typeface="Arial"/>
              </a:rPr>
              <a:t>Exceptional</a:t>
            </a:r>
          </a:p>
        </p:txBody>
      </p:sp>
      <p:sp>
        <p:nvSpPr>
          <p:cNvPr id="37" name="TextBox 36"/>
          <p:cNvSpPr txBox="1"/>
          <p:nvPr/>
        </p:nvSpPr>
        <p:spPr>
          <a:xfrm>
            <a:off x="9979152" y="2880360"/>
            <a:ext cx="1624584" cy="822960"/>
          </a:xfrm>
          <a:prstGeom prst="rect">
            <a:avLst/>
          </a:prstGeom>
          <a:noFill/>
        </p:spPr>
        <p:txBody>
          <a:bodyPr wrap="square" lIns="36576" rIns="36576" tIns="18288" bIns="18288"/>
          <a:lstStyle/>
          <a:p>
            <a:pPr algn="ctr"/>
            <a:r>
              <a:rPr sz="2600" b="1">
                <a:solidFill>
                  <a:srgbClr val="7A161C"/>
                </a:solidFill>
                <a:latin typeface="Arial"/>
                <a:ea typeface="Arial"/>
                <a:cs typeface="Arial"/>
              </a:rPr>
              <a:t>600+</a:t>
            </a:r>
          </a:p>
        </p:txBody>
      </p:sp>
      <p:sp>
        <p:nvSpPr>
          <p:cNvPr id="38" name="TextBox 37"/>
          <p:cNvSpPr txBox="1"/>
          <p:nvPr/>
        </p:nvSpPr>
        <p:spPr>
          <a:xfrm>
            <a:off x="9979152" y="3794760"/>
            <a:ext cx="1624584" cy="640080"/>
          </a:xfrm>
          <a:prstGeom prst="rect">
            <a:avLst/>
          </a:prstGeom>
          <a:noFill/>
        </p:spPr>
        <p:txBody>
          <a:bodyPr wrap="square" lIns="36576" rIns="36576" tIns="18288" bIns="18288"/>
          <a:lstStyle/>
          <a:p>
            <a:pPr algn="ctr"/>
            <a:r>
              <a:rPr sz="1200" b="0">
                <a:solidFill>
                  <a:srgbClr val="5C7388"/>
                </a:solidFill>
                <a:latin typeface="Arial"/>
                <a:ea typeface="Arial"/>
                <a:cs typeface="Arial"/>
              </a:rPr>
              <a:t>thousand
cusecs</a:t>
            </a:r>
          </a:p>
        </p:txBody>
      </p:sp>
      <p:sp>
        <p:nvSpPr>
          <p:cNvPr id="39" name="Rectangle 38"/>
          <p:cNvSpPr/>
          <p:nvPr/>
        </p:nvSpPr>
        <p:spPr>
          <a:xfrm>
            <a:off x="502920" y="4983480"/>
            <a:ext cx="11173968" cy="1143000"/>
          </a:xfrm>
          <a:prstGeom prst="rect">
            <a:avLst/>
          </a:prstGeom>
          <a:solidFill>
            <a:srgbClr val="E8F3F2"/>
          </a:solidFill>
          <a:ln w="1524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074920"/>
            <a:ext cx="6858000" cy="365760"/>
          </a:xfrm>
          <a:prstGeom prst="rect">
            <a:avLst/>
          </a:prstGeom>
          <a:noFill/>
        </p:spPr>
        <p:txBody>
          <a:bodyPr wrap="square" lIns="36576" rIns="36576" tIns="18288" bIns="18288"/>
          <a:lstStyle/>
          <a:p>
            <a:pPr algn="l"/>
            <a:r>
              <a:rPr sz="2000" b="1">
                <a:solidFill>
                  <a:srgbClr val="121A26"/>
                </a:solidFill>
                <a:latin typeface="Arial"/>
                <a:ea typeface="Arial"/>
                <a:cs typeface="Arial"/>
              </a:rPr>
              <a:t>Design capacity  =  1,100 thousand cusecs</a:t>
            </a:r>
          </a:p>
        </p:txBody>
      </p:sp>
      <p:sp>
        <p:nvSpPr>
          <p:cNvPr id="41" name="TextBox 40"/>
          <p:cNvSpPr txBox="1"/>
          <p:nvPr/>
        </p:nvSpPr>
        <p:spPr>
          <a:xfrm>
            <a:off x="685800" y="5532120"/>
            <a:ext cx="10698480" cy="411480"/>
          </a:xfrm>
          <a:prstGeom prst="rect">
            <a:avLst/>
          </a:prstGeom>
          <a:noFill/>
        </p:spPr>
        <p:txBody>
          <a:bodyPr wrap="square" lIns="36576" rIns="36576" tIns="18288" bIns="18288"/>
          <a:lstStyle/>
          <a:p>
            <a:pPr algn="l"/>
            <a:r>
              <a:rPr sz="1400" b="0">
                <a:solidFill>
                  <a:srgbClr val="5C7388"/>
                </a:solidFill>
                <a:latin typeface="Arial"/>
                <a:ea typeface="Arial"/>
                <a:cs typeface="Arial"/>
              </a:rPr>
              <a:t>Shown as an engineering reference only. FloodShield does not create an extra alert class at design capacity.</a:t>
            </a:r>
          </a:p>
        </p:txBody>
      </p:sp>
      <p:sp>
        <p:nvSpPr>
          <p:cNvPr id="42" name="Rectangle 41"/>
          <p:cNvSpPr/>
          <p:nvPr/>
        </p:nvSpPr>
        <p:spPr>
          <a:xfrm>
            <a:off x="502920" y="6565392"/>
            <a:ext cx="11183112" cy="13716"/>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6601968"/>
            <a:ext cx="7680960" cy="219456"/>
          </a:xfrm>
          <a:prstGeom prst="rect">
            <a:avLst/>
          </a:prstGeom>
          <a:noFill/>
        </p:spPr>
        <p:txBody>
          <a:bodyPr wrap="square" lIns="36576" rIns="36576" tIns="18288" bIns="18288"/>
          <a:lstStyle/>
          <a:p>
            <a:pPr algn="l"/>
            <a:r>
              <a:rPr sz="1000" b="0">
                <a:solidFill>
                  <a:srgbClr val="5C7388"/>
                </a:solidFill>
                <a:latin typeface="Arial"/>
                <a:ea typeface="Arial"/>
                <a:cs typeface="Arial"/>
              </a:rPr>
              <a:t>AI FloodShield PAK  ·  Chenab River @ Marala  ·  Decision-support only</a:t>
            </a:r>
          </a:p>
        </p:txBody>
      </p:sp>
      <p:sp>
        <p:nvSpPr>
          <p:cNvPr id="44" name="TextBox 43"/>
          <p:cNvSpPr txBox="1"/>
          <p:nvPr/>
        </p:nvSpPr>
        <p:spPr>
          <a:xfrm>
            <a:off x="8778240" y="6601968"/>
            <a:ext cx="2907792" cy="219456"/>
          </a:xfrm>
          <a:prstGeom prst="rect">
            <a:avLst/>
          </a:prstGeom>
          <a:noFill/>
        </p:spPr>
        <p:txBody>
          <a:bodyPr wrap="square" lIns="36576" rIns="36576" tIns="18288" bIns="18288"/>
          <a:lstStyle/>
          <a:p>
            <a:pPr algn="r"/>
            <a:r>
              <a:rPr sz="1000" b="0">
                <a:solidFill>
                  <a:srgbClr val="5C7388"/>
                </a:solidFill>
                <a:latin typeface="Arial"/>
                <a:ea typeface="Arial"/>
                <a:cs typeface="Arial"/>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THE ML QUESTION</a:t>
            </a:r>
          </a:p>
        </p:txBody>
      </p:sp>
      <p:sp>
        <p:nvSpPr>
          <p:cNvPr id="7" name="TextBox 6"/>
          <p:cNvSpPr txBox="1"/>
          <p:nvPr/>
        </p:nvSpPr>
        <p:spPr>
          <a:xfrm>
            <a:off x="502920" y="420624"/>
            <a:ext cx="11173968" cy="960120"/>
          </a:xfrm>
          <a:prstGeom prst="rect">
            <a:avLst/>
          </a:prstGeom>
          <a:noFill/>
        </p:spPr>
        <p:txBody>
          <a:bodyPr wrap="square" lIns="36576" rIns="36576" tIns="18288" bIns="18288"/>
          <a:lstStyle/>
          <a:p>
            <a:pPr algn="l"/>
            <a:r>
              <a:rPr sz="2800" b="1">
                <a:solidFill>
                  <a:srgbClr val="F4F0E6"/>
                </a:solidFill>
                <a:latin typeface="Arial"/>
                <a:ea typeface="Arial"/>
                <a:cs typeface="Arial"/>
              </a:rPr>
              <a:t>We don’t teach AI to recognize today’s flood level.
We predict tomorrow.</a:t>
            </a:r>
          </a:p>
        </p:txBody>
      </p:sp>
      <p:sp>
        <p:nvSpPr>
          <p:cNvPr id="8" name="Rectangle 7"/>
          <p:cNvSpPr/>
          <p:nvPr/>
        </p:nvSpPr>
        <p:spPr>
          <a:xfrm>
            <a:off x="502920" y="1572768"/>
            <a:ext cx="3794760" cy="41605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3429000" cy="320040"/>
          </a:xfrm>
          <a:prstGeom prst="rect">
            <a:avLst/>
          </a:prstGeom>
          <a:noFill/>
        </p:spPr>
        <p:txBody>
          <a:bodyPr wrap="square" lIns="36576" rIns="36576" tIns="18288" bIns="18288"/>
          <a:lstStyle/>
          <a:p>
            <a:pPr algn="l"/>
            <a:r>
              <a:rPr sz="1300" b="1">
                <a:solidFill>
                  <a:srgbClr val="5CE1E6"/>
                </a:solidFill>
                <a:latin typeface="Arial"/>
                <a:ea typeface="Arial"/>
                <a:cs typeface="Arial"/>
              </a:rPr>
              <a:t>TODAY’S INFORMATION</a:t>
            </a:r>
          </a:p>
        </p:txBody>
      </p:sp>
      <p:sp>
        <p:nvSpPr>
          <p:cNvPr id="10" name="Rectangle 9"/>
          <p:cNvSpPr/>
          <p:nvPr/>
        </p:nvSpPr>
        <p:spPr>
          <a:xfrm>
            <a:off x="731520" y="2148840"/>
            <a:ext cx="3337560" cy="438912"/>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148840"/>
            <a:ext cx="3063240" cy="438912"/>
          </a:xfrm>
          <a:prstGeom prst="rect">
            <a:avLst/>
          </a:prstGeom>
          <a:noFill/>
        </p:spPr>
        <p:txBody>
          <a:bodyPr wrap="square" lIns="36576" rIns="36576" tIns="18288" bIns="18288"/>
          <a:lstStyle/>
          <a:p>
            <a:pPr algn="l"/>
            <a:r>
              <a:rPr sz="1400" b="0">
                <a:solidFill>
                  <a:srgbClr val="F4F0E6"/>
                </a:solidFill>
                <a:latin typeface="Arial"/>
                <a:ea typeface="Arial"/>
                <a:cs typeface="Arial"/>
              </a:rPr>
              <a:t>Current inflow</a:t>
            </a:r>
          </a:p>
        </p:txBody>
      </p:sp>
      <p:sp>
        <p:nvSpPr>
          <p:cNvPr id="12" name="Rectangle 11"/>
          <p:cNvSpPr/>
          <p:nvPr/>
        </p:nvSpPr>
        <p:spPr>
          <a:xfrm>
            <a:off x="731520" y="2679192"/>
            <a:ext cx="3337560" cy="438912"/>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79192"/>
            <a:ext cx="3063240" cy="438912"/>
          </a:xfrm>
          <a:prstGeom prst="rect">
            <a:avLst/>
          </a:prstGeom>
          <a:noFill/>
        </p:spPr>
        <p:txBody>
          <a:bodyPr wrap="square" lIns="36576" rIns="36576" tIns="18288" bIns="18288"/>
          <a:lstStyle/>
          <a:p>
            <a:pPr algn="l"/>
            <a:r>
              <a:rPr sz="1400" b="0">
                <a:solidFill>
                  <a:srgbClr val="F4F0E6"/>
                </a:solidFill>
                <a:latin typeface="Arial"/>
                <a:ea typeface="Arial"/>
                <a:cs typeface="Arial"/>
              </a:rPr>
              <a:t>Current outflow</a:t>
            </a:r>
          </a:p>
        </p:txBody>
      </p:sp>
      <p:sp>
        <p:nvSpPr>
          <p:cNvPr id="14" name="Rectangle 13"/>
          <p:cNvSpPr/>
          <p:nvPr/>
        </p:nvSpPr>
        <p:spPr>
          <a:xfrm>
            <a:off x="731520" y="3209544"/>
            <a:ext cx="3337560" cy="438912"/>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09544"/>
            <a:ext cx="3063240" cy="438912"/>
          </a:xfrm>
          <a:prstGeom prst="rect">
            <a:avLst/>
          </a:prstGeom>
          <a:noFill/>
        </p:spPr>
        <p:txBody>
          <a:bodyPr wrap="square" lIns="36576" rIns="36576" tIns="18288" bIns="18288"/>
          <a:lstStyle/>
          <a:p>
            <a:pPr algn="l"/>
            <a:r>
              <a:rPr sz="1400" b="0">
                <a:solidFill>
                  <a:srgbClr val="F4F0E6"/>
                </a:solidFill>
                <a:latin typeface="Arial"/>
                <a:ea typeface="Arial"/>
                <a:cs typeface="Arial"/>
              </a:rPr>
              <a:t>Trend / lags</a:t>
            </a:r>
          </a:p>
        </p:txBody>
      </p:sp>
      <p:sp>
        <p:nvSpPr>
          <p:cNvPr id="16" name="Rectangle 15"/>
          <p:cNvSpPr/>
          <p:nvPr/>
        </p:nvSpPr>
        <p:spPr>
          <a:xfrm>
            <a:off x="731520" y="3739896"/>
            <a:ext cx="3337560" cy="438912"/>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739896"/>
            <a:ext cx="3063240" cy="438912"/>
          </a:xfrm>
          <a:prstGeom prst="rect">
            <a:avLst/>
          </a:prstGeom>
          <a:noFill/>
        </p:spPr>
        <p:txBody>
          <a:bodyPr wrap="square" lIns="36576" rIns="36576" tIns="18288" bIns="18288"/>
          <a:lstStyle/>
          <a:p>
            <a:pPr algn="l"/>
            <a:r>
              <a:rPr sz="1400" b="0">
                <a:solidFill>
                  <a:srgbClr val="F4F0E6"/>
                </a:solidFill>
                <a:latin typeface="Arial"/>
                <a:ea typeface="Arial"/>
                <a:cs typeface="Arial"/>
              </a:rPr>
              <a:t>FFD 24h forecast</a:t>
            </a:r>
          </a:p>
        </p:txBody>
      </p:sp>
      <p:sp>
        <p:nvSpPr>
          <p:cNvPr id="18" name="Rectangle 17"/>
          <p:cNvSpPr/>
          <p:nvPr/>
        </p:nvSpPr>
        <p:spPr>
          <a:xfrm>
            <a:off x="731520" y="4270248"/>
            <a:ext cx="3337560" cy="438912"/>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270248"/>
            <a:ext cx="3063240" cy="438912"/>
          </a:xfrm>
          <a:prstGeom prst="rect">
            <a:avLst/>
          </a:prstGeom>
          <a:noFill/>
        </p:spPr>
        <p:txBody>
          <a:bodyPr wrap="square" lIns="36576" rIns="36576" tIns="18288" bIns="18288"/>
          <a:lstStyle/>
          <a:p>
            <a:pPr algn="l"/>
            <a:r>
              <a:rPr sz="1400" b="0">
                <a:solidFill>
                  <a:srgbClr val="F4F0E6"/>
                </a:solidFill>
                <a:latin typeface="Arial"/>
                <a:ea typeface="Arial"/>
                <a:cs typeface="Arial"/>
              </a:rPr>
              <a:t>Rolling statistics</a:t>
            </a:r>
          </a:p>
        </p:txBody>
      </p:sp>
      <p:sp>
        <p:nvSpPr>
          <p:cNvPr id="20" name="Rectangle 19"/>
          <p:cNvSpPr/>
          <p:nvPr/>
        </p:nvSpPr>
        <p:spPr>
          <a:xfrm>
            <a:off x="731520" y="4800600"/>
            <a:ext cx="3337560" cy="438912"/>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800600"/>
            <a:ext cx="3063240" cy="438912"/>
          </a:xfrm>
          <a:prstGeom prst="rect">
            <a:avLst/>
          </a:prstGeom>
          <a:noFill/>
        </p:spPr>
        <p:txBody>
          <a:bodyPr wrap="square" lIns="36576" rIns="36576" tIns="18288" bIns="18288"/>
          <a:lstStyle/>
          <a:p>
            <a:pPr algn="l"/>
            <a:r>
              <a:rPr sz="1400" b="0">
                <a:solidFill>
                  <a:srgbClr val="F4F0E6"/>
                </a:solidFill>
                <a:latin typeface="Arial"/>
                <a:ea typeface="Arial"/>
                <a:cs typeface="Arial"/>
              </a:rPr>
              <a:t>Seasonal signals</a:t>
            </a:r>
          </a:p>
        </p:txBody>
      </p:sp>
      <p:sp>
        <p:nvSpPr>
          <p:cNvPr id="22" name="Right Arrow 21"/>
          <p:cNvSpPr/>
          <p:nvPr/>
        </p:nvSpPr>
        <p:spPr>
          <a:xfrm>
            <a:off x="4434840" y="3383280"/>
            <a:ext cx="384048" cy="256032"/>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0" y="2606040"/>
            <a:ext cx="2331720" cy="1874519"/>
          </a:xfrm>
          <a:prstGeom prst="rect">
            <a:avLst/>
          </a:prstGeom>
          <a:solidFill>
            <a:srgbClr val="0E6E6B"/>
          </a:solidFill>
          <a:ln w="1778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0" y="2788920"/>
            <a:ext cx="2148840" cy="640080"/>
          </a:xfrm>
          <a:prstGeom prst="rect">
            <a:avLst/>
          </a:prstGeom>
          <a:noFill/>
        </p:spPr>
        <p:txBody>
          <a:bodyPr wrap="square" lIns="36576" rIns="36576" tIns="18288" bIns="18288"/>
          <a:lstStyle/>
          <a:p>
            <a:pPr algn="ctr"/>
            <a:r>
              <a:rPr sz="2200" b="1">
                <a:solidFill>
                  <a:srgbClr val="FFFFFF"/>
                </a:solidFill>
                <a:latin typeface="Arial"/>
                <a:ea typeface="Arial"/>
                <a:cs typeface="Arial"/>
              </a:rPr>
              <a:t>ML
MODEL</a:t>
            </a:r>
          </a:p>
        </p:txBody>
      </p:sp>
      <p:sp>
        <p:nvSpPr>
          <p:cNvPr id="25" name="TextBox 24"/>
          <p:cNvSpPr txBox="1"/>
          <p:nvPr/>
        </p:nvSpPr>
        <p:spPr>
          <a:xfrm>
            <a:off x="5029200" y="3520440"/>
            <a:ext cx="2148840" cy="640080"/>
          </a:xfrm>
          <a:prstGeom prst="rect">
            <a:avLst/>
          </a:prstGeom>
          <a:noFill/>
        </p:spPr>
        <p:txBody>
          <a:bodyPr wrap="square" lIns="36576" rIns="36576" tIns="18288" bIns="18288"/>
          <a:lstStyle/>
          <a:p>
            <a:pPr algn="ctr"/>
            <a:r>
              <a:rPr sz="1300" b="0">
                <a:solidFill>
                  <a:srgbClr val="5CE1E6"/>
                </a:solidFill>
                <a:latin typeface="Arial"/>
                <a:ea typeface="Arial"/>
                <a:cs typeface="Arial"/>
              </a:rPr>
              <a:t>Random Forest
39 features</a:t>
            </a:r>
          </a:p>
        </p:txBody>
      </p:sp>
      <p:sp>
        <p:nvSpPr>
          <p:cNvPr id="26" name="Right Arrow 25"/>
          <p:cNvSpPr/>
          <p:nvPr/>
        </p:nvSpPr>
        <p:spPr>
          <a:xfrm>
            <a:off x="7388352" y="3383280"/>
            <a:ext cx="384048" cy="256032"/>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82127" y="2331720"/>
            <a:ext cx="3794760" cy="2423160"/>
          </a:xfrm>
          <a:prstGeom prst="rect">
            <a:avLst/>
          </a:prstGeom>
          <a:solidFill>
            <a:srgbClr val="102238"/>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5008" y="2468880"/>
            <a:ext cx="3429000" cy="320040"/>
          </a:xfrm>
          <a:prstGeom prst="rect">
            <a:avLst/>
          </a:prstGeom>
          <a:noFill/>
        </p:spPr>
        <p:txBody>
          <a:bodyPr wrap="square" lIns="36576" rIns="36576" tIns="18288" bIns="18288"/>
          <a:lstStyle/>
          <a:p>
            <a:pPr algn="l"/>
            <a:r>
              <a:rPr sz="1200" b="1">
                <a:solidFill>
                  <a:srgbClr val="F5A524"/>
                </a:solidFill>
                <a:latin typeface="Arial"/>
                <a:ea typeface="Arial"/>
                <a:cs typeface="Arial"/>
              </a:rPr>
              <a:t>TARGET</a:t>
            </a:r>
          </a:p>
        </p:txBody>
      </p:sp>
      <p:sp>
        <p:nvSpPr>
          <p:cNvPr id="29" name="TextBox 28"/>
          <p:cNvSpPr txBox="1"/>
          <p:nvPr/>
        </p:nvSpPr>
        <p:spPr>
          <a:xfrm>
            <a:off x="8065008" y="2834640"/>
            <a:ext cx="3429000" cy="1097280"/>
          </a:xfrm>
          <a:prstGeom prst="rect">
            <a:avLst/>
          </a:prstGeom>
          <a:noFill/>
        </p:spPr>
        <p:txBody>
          <a:bodyPr wrap="square" lIns="36576" rIns="36576" tIns="18288" bIns="18288"/>
          <a:lstStyle/>
          <a:p>
            <a:pPr algn="l"/>
            <a:r>
              <a:rPr sz="2000" b="1">
                <a:solidFill>
                  <a:srgbClr val="F4F0E6"/>
                </a:solidFill>
                <a:latin typeface="Arial"/>
                <a:ea typeface="Arial"/>
                <a:cs typeface="Arial"/>
              </a:rPr>
              <a:t>Next calendar day’s official flood class</a:t>
            </a:r>
          </a:p>
        </p:txBody>
      </p:sp>
      <p:sp>
        <p:nvSpPr>
          <p:cNvPr id="30" name="TextBox 29"/>
          <p:cNvSpPr txBox="1"/>
          <p:nvPr/>
        </p:nvSpPr>
        <p:spPr>
          <a:xfrm>
            <a:off x="8065008" y="4023360"/>
            <a:ext cx="3429000" cy="502920"/>
          </a:xfrm>
          <a:prstGeom prst="rect">
            <a:avLst/>
          </a:prstGeom>
          <a:noFill/>
        </p:spPr>
        <p:txBody>
          <a:bodyPr wrap="square" lIns="36576" rIns="36576" tIns="18288" bIns="18288"/>
          <a:lstStyle/>
          <a:p>
            <a:pPr algn="l"/>
            <a:r>
              <a:rPr sz="1400" b="0">
                <a:solidFill>
                  <a:srgbClr val="8BA3B8"/>
                </a:solidFill>
                <a:latin typeface="Arial"/>
                <a:ea typeface="Arial"/>
                <a:cs typeface="Arial"/>
              </a:rPr>
              <a:t>Normal → Exceptional</a:t>
            </a:r>
          </a:p>
        </p:txBody>
      </p:sp>
      <p:sp>
        <p:nvSpPr>
          <p:cNvPr id="31" name="TextBox 30"/>
          <p:cNvSpPr txBox="1"/>
          <p:nvPr/>
        </p:nvSpPr>
        <p:spPr>
          <a:xfrm>
            <a:off x="4937760" y="4709160"/>
            <a:ext cx="6720840" cy="640080"/>
          </a:xfrm>
          <a:prstGeom prst="rect">
            <a:avLst/>
          </a:prstGeom>
          <a:noFill/>
        </p:spPr>
        <p:txBody>
          <a:bodyPr wrap="square" lIns="36576" rIns="36576" tIns="18288" bIns="18288"/>
          <a:lstStyle/>
          <a:p>
            <a:pPr algn="l"/>
            <a:r>
              <a:rPr sz="1500" b="0">
                <a:solidFill>
                  <a:srgbClr val="F4F0E6"/>
                </a:solidFill>
                <a:latin typeface="Arial"/>
                <a:ea typeface="Arial"/>
                <a:cs typeface="Arial"/>
              </a:rPr>
              <a:t>Given information available today, predict the official flood class tomorrow.</a:t>
            </a:r>
          </a:p>
        </p:txBody>
      </p:sp>
      <p:sp>
        <p:nvSpPr>
          <p:cNvPr id="32" name="Rectangle 31"/>
          <p:cNvSpPr/>
          <p:nvPr/>
        </p:nvSpPr>
        <p:spPr>
          <a:xfrm>
            <a:off x="4937760" y="5394960"/>
            <a:ext cx="3200400" cy="77724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74920" y="5440680"/>
            <a:ext cx="2926080" cy="320040"/>
          </a:xfrm>
          <a:prstGeom prst="rect">
            <a:avLst/>
          </a:prstGeom>
          <a:noFill/>
        </p:spPr>
        <p:txBody>
          <a:bodyPr wrap="square" lIns="36576" rIns="36576" tIns="18288" bIns="18288"/>
          <a:lstStyle/>
          <a:p>
            <a:pPr algn="l"/>
            <a:r>
              <a:rPr sz="1100" b="1">
                <a:solidFill>
                  <a:srgbClr val="8BA3B8"/>
                </a:solidFill>
                <a:latin typeface="Arial"/>
                <a:ea typeface="Arial"/>
                <a:cs typeface="Arial"/>
              </a:rPr>
              <a:t>TRAINING</a:t>
            </a:r>
          </a:p>
        </p:txBody>
      </p:sp>
      <p:sp>
        <p:nvSpPr>
          <p:cNvPr id="34" name="TextBox 33"/>
          <p:cNvSpPr txBox="1"/>
          <p:nvPr/>
        </p:nvSpPr>
        <p:spPr>
          <a:xfrm>
            <a:off x="5074920" y="5715000"/>
            <a:ext cx="2926080" cy="365760"/>
          </a:xfrm>
          <a:prstGeom prst="rect">
            <a:avLst/>
          </a:prstGeom>
          <a:noFill/>
        </p:spPr>
        <p:txBody>
          <a:bodyPr wrap="square" lIns="36576" rIns="36576" tIns="18288" bIns="18288"/>
          <a:lstStyle/>
          <a:p>
            <a:pPr algn="l"/>
            <a:r>
              <a:rPr sz="2000" b="1">
                <a:solidFill>
                  <a:srgbClr val="F4F0E6"/>
                </a:solidFill>
                <a:latin typeface="Arial"/>
                <a:ea typeface="Arial"/>
                <a:cs typeface="Arial"/>
              </a:rPr>
              <a:t>2024–2025</a:t>
            </a:r>
          </a:p>
        </p:txBody>
      </p:sp>
      <p:sp>
        <p:nvSpPr>
          <p:cNvPr id="35" name="Rectangle 34"/>
          <p:cNvSpPr/>
          <p:nvPr/>
        </p:nvSpPr>
        <p:spPr>
          <a:xfrm>
            <a:off x="8275320" y="5394960"/>
            <a:ext cx="3401568" cy="777240"/>
          </a:xfrm>
          <a:prstGeom prst="rect">
            <a:avLst/>
          </a:prstGeom>
          <a:solidFill>
            <a:srgbClr val="142C45"/>
          </a:solidFill>
          <a:ln w="1524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0" y="5440680"/>
            <a:ext cx="3108960" cy="320040"/>
          </a:xfrm>
          <a:prstGeom prst="rect">
            <a:avLst/>
          </a:prstGeom>
          <a:noFill/>
        </p:spPr>
        <p:txBody>
          <a:bodyPr wrap="square" lIns="36576" rIns="36576" tIns="18288" bIns="18288"/>
          <a:lstStyle/>
          <a:p>
            <a:pPr algn="l"/>
            <a:r>
              <a:rPr sz="1100" b="1">
                <a:solidFill>
                  <a:srgbClr val="F5A524"/>
                </a:solidFill>
                <a:latin typeface="Arial"/>
                <a:ea typeface="Arial"/>
                <a:cs typeface="Arial"/>
              </a:rPr>
              <a:t>HELD-OUT EVALUATION</a:t>
            </a:r>
          </a:p>
        </p:txBody>
      </p:sp>
      <p:sp>
        <p:nvSpPr>
          <p:cNvPr id="37" name="TextBox 36"/>
          <p:cNvSpPr txBox="1"/>
          <p:nvPr/>
        </p:nvSpPr>
        <p:spPr>
          <a:xfrm>
            <a:off x="8412480" y="5715000"/>
            <a:ext cx="3108960" cy="365760"/>
          </a:xfrm>
          <a:prstGeom prst="rect">
            <a:avLst/>
          </a:prstGeom>
          <a:noFill/>
        </p:spPr>
        <p:txBody>
          <a:bodyPr wrap="square" lIns="36576" rIns="36576" tIns="18288" bIns="18288"/>
          <a:lstStyle/>
          <a:p>
            <a:pPr algn="l"/>
            <a:r>
              <a:rPr sz="1600" b="1">
                <a:solidFill>
                  <a:srgbClr val="F4F0E6"/>
                </a:solidFill>
                <a:latin typeface="Arial"/>
                <a:ea typeface="Arial"/>
                <a:cs typeface="Arial"/>
              </a:rPr>
              <a:t>2026  ·  not randomly split</a:t>
            </a:r>
          </a:p>
        </p:txBody>
      </p:sp>
      <p:sp>
        <p:nvSpPr>
          <p:cNvPr id="38" name="Rectangle 37"/>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0" name="TextBox 39"/>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AUTHENTIC DATA</a:t>
            </a:r>
          </a:p>
        </p:txBody>
      </p:sp>
      <p:sp>
        <p:nvSpPr>
          <p:cNvPr id="7" name="TextBox 6"/>
          <p:cNvSpPr txBox="1"/>
          <p:nvPr/>
        </p:nvSpPr>
        <p:spPr>
          <a:xfrm>
            <a:off x="502920" y="420624"/>
            <a:ext cx="11173968" cy="640080"/>
          </a:xfrm>
          <a:prstGeom prst="rect">
            <a:avLst/>
          </a:prstGeom>
          <a:noFill/>
        </p:spPr>
        <p:txBody>
          <a:bodyPr wrap="square" lIns="36576" rIns="36576" tIns="18288" bIns="18288"/>
          <a:lstStyle/>
          <a:p>
            <a:pPr algn="l"/>
            <a:r>
              <a:rPr sz="2800" b="1">
                <a:solidFill>
                  <a:srgbClr val="F4F0E6"/>
                </a:solidFill>
                <a:latin typeface="Arial"/>
                <a:ea typeface="Arial"/>
                <a:cs typeface="Arial"/>
              </a:rPr>
              <a:t>Built from official Pakistani flood data — not synthetic data.</a:t>
            </a:r>
          </a:p>
        </p:txBody>
      </p:sp>
      <p:sp>
        <p:nvSpPr>
          <p:cNvPr id="8" name="Rectangle 7"/>
          <p:cNvSpPr/>
          <p:nvPr/>
        </p:nvSpPr>
        <p:spPr>
          <a:xfrm>
            <a:off x="502920" y="1325880"/>
            <a:ext cx="5532120" cy="260604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44752"/>
            <a:ext cx="5166360" cy="640080"/>
          </a:xfrm>
          <a:prstGeom prst="rect">
            <a:avLst/>
          </a:prstGeom>
          <a:noFill/>
        </p:spPr>
        <p:txBody>
          <a:bodyPr wrap="square" lIns="36576" rIns="36576" tIns="18288" bIns="18288"/>
          <a:lstStyle/>
          <a:p>
            <a:pPr algn="l"/>
            <a:r>
              <a:rPr sz="1600" b="1">
                <a:solidFill>
                  <a:srgbClr val="F4F0E6"/>
                </a:solidFill>
                <a:latin typeface="Arial"/>
                <a:ea typeface="Arial"/>
                <a:cs typeface="Arial"/>
              </a:rPr>
              <a:t>Pakistan Meteorological Department
Flood Forecasting Division</a:t>
            </a:r>
          </a:p>
        </p:txBody>
      </p:sp>
      <p:sp>
        <p:nvSpPr>
          <p:cNvPr id="10" name="TextBox 9"/>
          <p:cNvSpPr txBox="1"/>
          <p:nvPr/>
        </p:nvSpPr>
        <p:spPr>
          <a:xfrm>
            <a:off x="685800" y="2194560"/>
            <a:ext cx="5166360" cy="1463040"/>
          </a:xfrm>
          <a:prstGeom prst="rect">
            <a:avLst/>
          </a:prstGeom>
          <a:noFill/>
        </p:spPr>
        <p:txBody>
          <a:bodyPr wrap="square" lIns="36576" rIns="36576" tIns="18288" bIns="18288"/>
          <a:lstStyle/>
          <a:p>
            <a:pPr algn="l"/>
            <a:r>
              <a:rPr sz="1400" b="0">
                <a:solidFill>
                  <a:srgbClr val="8BA3B8"/>
                </a:solidFill>
                <a:latin typeface="Arial"/>
                <a:ea typeface="Arial"/>
                <a:cs typeface="Arial"/>
              </a:rPr>
              <a:t>Daily bulletins and advisories
Marala inflow / outflow
24-hour quantitative forecasts
Historical bulletin PDFs</a:t>
            </a:r>
          </a:p>
        </p:txBody>
      </p:sp>
      <p:sp>
        <p:nvSpPr>
          <p:cNvPr id="11" name="Rectangle 10"/>
          <p:cNvSpPr/>
          <p:nvPr/>
        </p:nvSpPr>
        <p:spPr>
          <a:xfrm>
            <a:off x="6217920" y="1325880"/>
            <a:ext cx="5458968" cy="260604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44752"/>
            <a:ext cx="5074920" cy="640080"/>
          </a:xfrm>
          <a:prstGeom prst="rect">
            <a:avLst/>
          </a:prstGeom>
          <a:noFill/>
        </p:spPr>
        <p:txBody>
          <a:bodyPr wrap="square" lIns="36576" rIns="36576" tIns="18288" bIns="18288"/>
          <a:lstStyle/>
          <a:p>
            <a:pPr algn="l"/>
            <a:r>
              <a:rPr sz="1600" b="1">
                <a:solidFill>
                  <a:srgbClr val="F4F0E6"/>
                </a:solidFill>
                <a:latin typeface="Arial"/>
                <a:ea typeface="Arial"/>
                <a:cs typeface="Arial"/>
              </a:rPr>
              <a:t>PDMA Punjab
(product context, not ML features)</a:t>
            </a:r>
          </a:p>
        </p:txBody>
      </p:sp>
      <p:sp>
        <p:nvSpPr>
          <p:cNvPr id="13" name="TextBox 12"/>
          <p:cNvSpPr txBox="1"/>
          <p:nvPr/>
        </p:nvSpPr>
        <p:spPr>
          <a:xfrm>
            <a:off x="6400800" y="2194560"/>
            <a:ext cx="5074920" cy="1463040"/>
          </a:xfrm>
          <a:prstGeom prst="rect">
            <a:avLst/>
          </a:prstGeom>
          <a:noFill/>
        </p:spPr>
        <p:txBody>
          <a:bodyPr wrap="square" lIns="36576" rIns="36576" tIns="18288" bIns="18288"/>
          <a:lstStyle/>
          <a:p>
            <a:pPr algn="l"/>
            <a:r>
              <a:rPr sz="1400" b="0">
                <a:solidFill>
                  <a:srgbClr val="8BA3B8"/>
                </a:solidFill>
                <a:latin typeface="Arial"/>
                <a:ea typeface="Arial"/>
                <a:cs typeface="Arial"/>
              </a:rPr>
              <a:t>Gauge reports cited on the dashboard
Rainfall reports cited as situational context
Not used as trained model inputs</a:t>
            </a:r>
          </a:p>
        </p:txBody>
      </p:sp>
      <p:sp>
        <p:nvSpPr>
          <p:cNvPr id="14" name="Rectangle 13"/>
          <p:cNvSpPr/>
          <p:nvPr/>
        </p:nvSpPr>
        <p:spPr>
          <a:xfrm>
            <a:off x="502920" y="4114800"/>
            <a:ext cx="2788920" cy="141732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4206240"/>
            <a:ext cx="2560320" cy="640080"/>
          </a:xfrm>
          <a:prstGeom prst="rect">
            <a:avLst/>
          </a:prstGeom>
          <a:noFill/>
        </p:spPr>
        <p:txBody>
          <a:bodyPr wrap="square" lIns="36576" rIns="36576" tIns="18288" bIns="18288"/>
          <a:lstStyle/>
          <a:p>
            <a:pPr algn="ctr"/>
            <a:r>
              <a:rPr sz="2800" b="1">
                <a:solidFill>
                  <a:srgbClr val="5CE1E6"/>
                </a:solidFill>
                <a:latin typeface="Arial"/>
                <a:ea typeface="Arial"/>
                <a:cs typeface="Arial"/>
              </a:rPr>
              <a:t>6,610</a:t>
            </a:r>
          </a:p>
        </p:txBody>
      </p:sp>
      <p:sp>
        <p:nvSpPr>
          <p:cNvPr id="16" name="TextBox 15"/>
          <p:cNvSpPr txBox="1"/>
          <p:nvPr/>
        </p:nvSpPr>
        <p:spPr>
          <a:xfrm>
            <a:off x="612648" y="4846320"/>
            <a:ext cx="2560320" cy="502920"/>
          </a:xfrm>
          <a:prstGeom prst="rect">
            <a:avLst/>
          </a:prstGeom>
          <a:noFill/>
        </p:spPr>
        <p:txBody>
          <a:bodyPr wrap="square" lIns="36576" rIns="36576" tIns="18288" bIns="18288"/>
          <a:lstStyle/>
          <a:p>
            <a:pPr algn="ctr"/>
            <a:r>
              <a:rPr sz="1200" b="0">
                <a:solidFill>
                  <a:srgbClr val="8BA3B8"/>
                </a:solidFill>
                <a:latin typeface="Arial"/>
                <a:ea typeface="Arial"/>
                <a:cs typeface="Arial"/>
              </a:rPr>
              <a:t>Extracted station-days</a:t>
            </a:r>
          </a:p>
        </p:txBody>
      </p:sp>
      <p:sp>
        <p:nvSpPr>
          <p:cNvPr id="17" name="Rectangle 16"/>
          <p:cNvSpPr/>
          <p:nvPr/>
        </p:nvSpPr>
        <p:spPr>
          <a:xfrm>
            <a:off x="3410712" y="4114800"/>
            <a:ext cx="2788920" cy="141732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206240"/>
            <a:ext cx="2560320" cy="640080"/>
          </a:xfrm>
          <a:prstGeom prst="rect">
            <a:avLst/>
          </a:prstGeom>
          <a:noFill/>
        </p:spPr>
        <p:txBody>
          <a:bodyPr wrap="square" lIns="36576" rIns="36576" tIns="18288" bIns="18288"/>
          <a:lstStyle/>
          <a:p>
            <a:pPr algn="ctr"/>
            <a:r>
              <a:rPr sz="2800" b="1">
                <a:solidFill>
                  <a:srgbClr val="5CE1E6"/>
                </a:solidFill>
                <a:latin typeface="Arial"/>
                <a:ea typeface="Arial"/>
                <a:cs typeface="Arial"/>
              </a:rPr>
              <a:t>315</a:t>
            </a:r>
          </a:p>
        </p:txBody>
      </p:sp>
      <p:sp>
        <p:nvSpPr>
          <p:cNvPr id="19" name="TextBox 18"/>
          <p:cNvSpPr txBox="1"/>
          <p:nvPr/>
        </p:nvSpPr>
        <p:spPr>
          <a:xfrm>
            <a:off x="3520440" y="4846320"/>
            <a:ext cx="2560320" cy="502920"/>
          </a:xfrm>
          <a:prstGeom prst="rect">
            <a:avLst/>
          </a:prstGeom>
          <a:noFill/>
        </p:spPr>
        <p:txBody>
          <a:bodyPr wrap="square" lIns="36576" rIns="36576" tIns="18288" bIns="18288"/>
          <a:lstStyle/>
          <a:p>
            <a:pPr algn="ctr"/>
            <a:r>
              <a:rPr sz="1200" b="0">
                <a:solidFill>
                  <a:srgbClr val="8BA3B8"/>
                </a:solidFill>
                <a:latin typeface="Arial"/>
                <a:ea typeface="Arial"/>
                <a:cs typeface="Arial"/>
              </a:rPr>
              <a:t>FFD bulletin PDFs</a:t>
            </a:r>
          </a:p>
        </p:txBody>
      </p:sp>
      <p:sp>
        <p:nvSpPr>
          <p:cNvPr id="20" name="Rectangle 19"/>
          <p:cNvSpPr/>
          <p:nvPr/>
        </p:nvSpPr>
        <p:spPr>
          <a:xfrm>
            <a:off x="6318504" y="4114800"/>
            <a:ext cx="2788920" cy="141732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206240"/>
            <a:ext cx="2560320" cy="640080"/>
          </a:xfrm>
          <a:prstGeom prst="rect">
            <a:avLst/>
          </a:prstGeom>
          <a:noFill/>
        </p:spPr>
        <p:txBody>
          <a:bodyPr wrap="square" lIns="36576" rIns="36576" tIns="18288" bIns="18288"/>
          <a:lstStyle/>
          <a:p>
            <a:pPr algn="ctr"/>
            <a:r>
              <a:rPr sz="2800" b="1">
                <a:solidFill>
                  <a:srgbClr val="5CE1E6"/>
                </a:solidFill>
                <a:latin typeface="Arial"/>
                <a:ea typeface="Arial"/>
                <a:cs typeface="Arial"/>
              </a:rPr>
              <a:t>294</a:t>
            </a:r>
          </a:p>
        </p:txBody>
      </p:sp>
      <p:sp>
        <p:nvSpPr>
          <p:cNvPr id="22" name="TextBox 21"/>
          <p:cNvSpPr txBox="1"/>
          <p:nvPr/>
        </p:nvSpPr>
        <p:spPr>
          <a:xfrm>
            <a:off x="6428232" y="4846320"/>
            <a:ext cx="2560320" cy="502920"/>
          </a:xfrm>
          <a:prstGeom prst="rect">
            <a:avLst/>
          </a:prstGeom>
          <a:noFill/>
        </p:spPr>
        <p:txBody>
          <a:bodyPr wrap="square" lIns="36576" rIns="36576" tIns="18288" bIns="18288"/>
          <a:lstStyle/>
          <a:p>
            <a:pPr algn="ctr"/>
            <a:r>
              <a:rPr sz="1200" b="0">
                <a:solidFill>
                  <a:srgbClr val="8BA3B8"/>
                </a:solidFill>
                <a:latin typeface="Arial"/>
                <a:ea typeface="Arial"/>
                <a:cs typeface="Arial"/>
              </a:rPr>
              <a:t>Chenab @ Marala days</a:t>
            </a:r>
          </a:p>
        </p:txBody>
      </p:sp>
      <p:sp>
        <p:nvSpPr>
          <p:cNvPr id="23" name="Rectangle 22"/>
          <p:cNvSpPr/>
          <p:nvPr/>
        </p:nvSpPr>
        <p:spPr>
          <a:xfrm>
            <a:off x="9226296" y="4114800"/>
            <a:ext cx="2788920" cy="141732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36024" y="4206240"/>
            <a:ext cx="2560320" cy="640080"/>
          </a:xfrm>
          <a:prstGeom prst="rect">
            <a:avLst/>
          </a:prstGeom>
          <a:noFill/>
        </p:spPr>
        <p:txBody>
          <a:bodyPr wrap="square" lIns="36576" rIns="36576" tIns="18288" bIns="18288"/>
          <a:lstStyle/>
          <a:p>
            <a:pPr algn="ctr"/>
            <a:r>
              <a:rPr sz="2800" b="1">
                <a:solidFill>
                  <a:srgbClr val="5CE1E6"/>
                </a:solidFill>
                <a:latin typeface="Arial"/>
                <a:ea typeface="Arial"/>
                <a:cs typeface="Arial"/>
              </a:rPr>
              <a:t>26</a:t>
            </a:r>
          </a:p>
        </p:txBody>
      </p:sp>
      <p:sp>
        <p:nvSpPr>
          <p:cNvPr id="25" name="TextBox 24"/>
          <p:cNvSpPr txBox="1"/>
          <p:nvPr/>
        </p:nvSpPr>
        <p:spPr>
          <a:xfrm>
            <a:off x="9336024" y="4846320"/>
            <a:ext cx="2560320" cy="502920"/>
          </a:xfrm>
          <a:prstGeom prst="rect">
            <a:avLst/>
          </a:prstGeom>
          <a:noFill/>
        </p:spPr>
        <p:txBody>
          <a:bodyPr wrap="square" lIns="36576" rIns="36576" tIns="18288" bIns="18288"/>
          <a:lstStyle/>
          <a:p>
            <a:pPr algn="ctr"/>
            <a:r>
              <a:rPr sz="1200" b="0">
                <a:solidFill>
                  <a:srgbClr val="8BA3B8"/>
                </a:solidFill>
                <a:latin typeface="Arial"/>
                <a:ea typeface="Arial"/>
                <a:cs typeface="Arial"/>
              </a:rPr>
              <a:t>Gauging stations in extract</a:t>
            </a:r>
          </a:p>
        </p:txBody>
      </p:sp>
      <p:sp>
        <p:nvSpPr>
          <p:cNvPr id="26" name="TextBox 25"/>
          <p:cNvSpPr txBox="1"/>
          <p:nvPr/>
        </p:nvSpPr>
        <p:spPr>
          <a:xfrm>
            <a:off x="502920" y="5669280"/>
            <a:ext cx="11155680" cy="502920"/>
          </a:xfrm>
          <a:prstGeom prst="rect">
            <a:avLst/>
          </a:prstGeom>
          <a:noFill/>
        </p:spPr>
        <p:txBody>
          <a:bodyPr wrap="square" lIns="36576" rIns="36576" tIns="18288" bIns="18288"/>
          <a:lstStyle/>
          <a:p>
            <a:pPr algn="l"/>
            <a:r>
              <a:rPr sz="1400" b="0">
                <a:solidFill>
                  <a:srgbClr val="F4F0E6"/>
                </a:solidFill>
                <a:latin typeface="Arial"/>
                <a:ea typeface="Arial"/>
                <a:cs typeface="Arial"/>
              </a:rPr>
              <a:t>Official PDFs  →  extraction  →  Chenab @ Marala  →  features  →  next-day labels  →  model</a:t>
            </a:r>
          </a:p>
        </p:txBody>
      </p:sp>
      <p:sp>
        <p:nvSpPr>
          <p:cNvPr id="27" name="TextBox 26"/>
          <p:cNvSpPr txBox="1"/>
          <p:nvPr/>
        </p:nvSpPr>
        <p:spPr>
          <a:xfrm>
            <a:off x="502920" y="6126480"/>
            <a:ext cx="11155680" cy="256032"/>
          </a:xfrm>
          <a:prstGeom prst="rect">
            <a:avLst/>
          </a:prstGeom>
          <a:noFill/>
        </p:spPr>
        <p:txBody>
          <a:bodyPr wrap="square" lIns="36576" rIns="36576" tIns="18288" bIns="18288"/>
          <a:lstStyle/>
          <a:p>
            <a:pPr algn="l"/>
            <a:r>
              <a:rPr sz="1200" b="0">
                <a:solidFill>
                  <a:srgbClr val="8BA3B8"/>
                </a:solidFill>
                <a:latin typeface="Arial"/>
                <a:ea typeface="Arial"/>
                <a:cs typeface="Arial"/>
              </a:rPr>
              <a:t>Processed file date range: 16 Jun 2024 – 3 Sep 2026.  Primary training source: FFD bulletins.</a:t>
            </a:r>
          </a:p>
        </p:txBody>
      </p:sp>
      <p:sp>
        <p:nvSpPr>
          <p:cNvPr id="28" name="Rectangle 27"/>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0" name="TextBox 29"/>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DATA PIPELINE</a:t>
            </a:r>
          </a:p>
        </p:txBody>
      </p:sp>
      <p:sp>
        <p:nvSpPr>
          <p:cNvPr id="7" name="TextBox 6"/>
          <p:cNvSpPr txBox="1"/>
          <p:nvPr/>
        </p:nvSpPr>
        <p:spPr>
          <a:xfrm>
            <a:off x="502920" y="420624"/>
            <a:ext cx="11173968" cy="640080"/>
          </a:xfrm>
          <a:prstGeom prst="rect">
            <a:avLst/>
          </a:prstGeom>
          <a:noFill/>
        </p:spPr>
        <p:txBody>
          <a:bodyPr wrap="square" lIns="36576" rIns="36576" tIns="18288" bIns="18288"/>
          <a:lstStyle/>
          <a:p>
            <a:pPr algn="l"/>
            <a:r>
              <a:rPr sz="2800" b="1">
                <a:solidFill>
                  <a:srgbClr val="F4F0E6"/>
                </a:solidFill>
                <a:latin typeface="Arial"/>
                <a:ea typeface="Arial"/>
                <a:cs typeface="Arial"/>
              </a:rPr>
              <a:t>From messy government PDFs to a machine-learning dataset.</a:t>
            </a:r>
          </a:p>
        </p:txBody>
      </p:sp>
      <p:sp>
        <p:nvSpPr>
          <p:cNvPr id="8" name="Rectangle 7"/>
          <p:cNvSpPr/>
          <p:nvPr/>
        </p:nvSpPr>
        <p:spPr>
          <a:xfrm>
            <a:off x="365760" y="1371600"/>
            <a:ext cx="1554480" cy="16916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RAW
BULLETINS</a:t>
            </a:r>
          </a:p>
        </p:txBody>
      </p:sp>
      <p:sp>
        <p:nvSpPr>
          <p:cNvPr id="10" name="TextBox 9"/>
          <p:cNvSpPr txBox="1"/>
          <p:nvPr/>
        </p:nvSpPr>
        <p:spPr>
          <a:xfrm>
            <a:off x="420624"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FFD PDFs</a:t>
            </a:r>
          </a:p>
        </p:txBody>
      </p:sp>
      <p:sp>
        <p:nvSpPr>
          <p:cNvPr id="11" name="Right Arrow 10"/>
          <p:cNvSpPr/>
          <p:nvPr/>
        </p:nvSpPr>
        <p:spPr>
          <a:xfrm>
            <a:off x="1920240" y="2084831"/>
            <a:ext cx="128016" cy="128016"/>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8256" y="1371600"/>
            <a:ext cx="1554480" cy="16916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EXTRACT</a:t>
            </a:r>
          </a:p>
        </p:txBody>
      </p:sp>
      <p:sp>
        <p:nvSpPr>
          <p:cNvPr id="14" name="TextBox 13"/>
          <p:cNvSpPr txBox="1"/>
          <p:nvPr/>
        </p:nvSpPr>
        <p:spPr>
          <a:xfrm>
            <a:off x="2103120"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extract_data.py</a:t>
            </a:r>
          </a:p>
        </p:txBody>
      </p:sp>
      <p:sp>
        <p:nvSpPr>
          <p:cNvPr id="15" name="Right Arrow 14"/>
          <p:cNvSpPr/>
          <p:nvPr/>
        </p:nvSpPr>
        <p:spPr>
          <a:xfrm>
            <a:off x="3602736" y="2084831"/>
            <a:ext cx="128016" cy="128016"/>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30752" y="1371600"/>
            <a:ext cx="1554480" cy="16916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5615"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NORMALIZE</a:t>
            </a:r>
          </a:p>
        </p:txBody>
      </p:sp>
      <p:sp>
        <p:nvSpPr>
          <p:cNvPr id="18" name="TextBox 17"/>
          <p:cNvSpPr txBox="1"/>
          <p:nvPr/>
        </p:nvSpPr>
        <p:spPr>
          <a:xfrm>
            <a:off x="3785615"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dates + stations</a:t>
            </a:r>
          </a:p>
        </p:txBody>
      </p:sp>
      <p:sp>
        <p:nvSpPr>
          <p:cNvPr id="19" name="Right Arrow 18"/>
          <p:cNvSpPr/>
          <p:nvPr/>
        </p:nvSpPr>
        <p:spPr>
          <a:xfrm>
            <a:off x="5285232" y="2084831"/>
            <a:ext cx="128016" cy="128016"/>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13248" y="1371600"/>
            <a:ext cx="1554480" cy="16916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68112"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MARALA</a:t>
            </a:r>
          </a:p>
        </p:txBody>
      </p:sp>
      <p:sp>
        <p:nvSpPr>
          <p:cNvPr id="22" name="TextBox 21"/>
          <p:cNvSpPr txBox="1"/>
          <p:nvPr/>
        </p:nvSpPr>
        <p:spPr>
          <a:xfrm>
            <a:off x="5468112"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build_dataset.py</a:t>
            </a:r>
          </a:p>
        </p:txBody>
      </p:sp>
      <p:sp>
        <p:nvSpPr>
          <p:cNvPr id="23" name="Right Arrow 22"/>
          <p:cNvSpPr/>
          <p:nvPr/>
        </p:nvSpPr>
        <p:spPr>
          <a:xfrm>
            <a:off x="6967728" y="2084831"/>
            <a:ext cx="128016" cy="128016"/>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95744" y="1371600"/>
            <a:ext cx="1554480" cy="16916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0608"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FEATURES</a:t>
            </a:r>
          </a:p>
        </p:txBody>
      </p:sp>
      <p:sp>
        <p:nvSpPr>
          <p:cNvPr id="26" name="TextBox 25"/>
          <p:cNvSpPr txBox="1"/>
          <p:nvPr/>
        </p:nvSpPr>
        <p:spPr>
          <a:xfrm>
            <a:off x="7150608"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final_dataset.py</a:t>
            </a:r>
          </a:p>
        </p:txBody>
      </p:sp>
      <p:sp>
        <p:nvSpPr>
          <p:cNvPr id="27" name="Right Arrow 26"/>
          <p:cNvSpPr/>
          <p:nvPr/>
        </p:nvSpPr>
        <p:spPr>
          <a:xfrm>
            <a:off x="8650224" y="2084831"/>
            <a:ext cx="128016" cy="128016"/>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78240" y="1371600"/>
            <a:ext cx="1554480" cy="16916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3104"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NEXT-DAY
TARGET</a:t>
            </a:r>
          </a:p>
        </p:txBody>
      </p:sp>
      <p:sp>
        <p:nvSpPr>
          <p:cNvPr id="30" name="TextBox 29"/>
          <p:cNvSpPr txBox="1"/>
          <p:nvPr/>
        </p:nvSpPr>
        <p:spPr>
          <a:xfrm>
            <a:off x="8833104"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train_model.py</a:t>
            </a:r>
          </a:p>
        </p:txBody>
      </p:sp>
      <p:sp>
        <p:nvSpPr>
          <p:cNvPr id="31" name="Right Arrow 30"/>
          <p:cNvSpPr/>
          <p:nvPr/>
        </p:nvSpPr>
        <p:spPr>
          <a:xfrm>
            <a:off x="10332720" y="2084831"/>
            <a:ext cx="128016" cy="128016"/>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60736" y="1371600"/>
            <a:ext cx="1554480" cy="1691640"/>
          </a:xfrm>
          <a:prstGeom prst="rect">
            <a:avLst/>
          </a:prstGeom>
          <a:solidFill>
            <a:srgbClr val="0E6E6B"/>
          </a:solidFill>
          <a:ln w="1524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0" y="1463040"/>
            <a:ext cx="1444752" cy="868680"/>
          </a:xfrm>
          <a:prstGeom prst="rect">
            <a:avLst/>
          </a:prstGeom>
          <a:noFill/>
        </p:spPr>
        <p:txBody>
          <a:bodyPr wrap="square" lIns="36576" rIns="36576" tIns="18288" bIns="18288"/>
          <a:lstStyle/>
          <a:p>
            <a:pPr algn="ctr"/>
            <a:r>
              <a:rPr sz="1200" b="1">
                <a:solidFill>
                  <a:srgbClr val="F4F0E6"/>
                </a:solidFill>
                <a:latin typeface="Arial"/>
                <a:ea typeface="Arial"/>
                <a:cs typeface="Arial"/>
              </a:rPr>
              <a:t>TIME-AWARE
TRAINING</a:t>
            </a:r>
          </a:p>
        </p:txBody>
      </p:sp>
      <p:sp>
        <p:nvSpPr>
          <p:cNvPr id="34" name="TextBox 33"/>
          <p:cNvSpPr txBox="1"/>
          <p:nvPr/>
        </p:nvSpPr>
        <p:spPr>
          <a:xfrm>
            <a:off x="10515600" y="2377440"/>
            <a:ext cx="1444752" cy="502920"/>
          </a:xfrm>
          <a:prstGeom prst="rect">
            <a:avLst/>
          </a:prstGeom>
          <a:noFill/>
        </p:spPr>
        <p:txBody>
          <a:bodyPr wrap="square" lIns="36576" rIns="36576" tIns="18288" bIns="18288"/>
          <a:lstStyle/>
          <a:p>
            <a:pPr algn="ctr"/>
            <a:r>
              <a:rPr sz="1000" b="0">
                <a:solidFill>
                  <a:srgbClr val="5CE1E6"/>
                </a:solidFill>
                <a:latin typeface="Arial"/>
                <a:ea typeface="Arial"/>
                <a:cs typeface="Arial"/>
              </a:rPr>
              <a:t>2024–25 / 2026</a:t>
            </a:r>
          </a:p>
        </p:txBody>
      </p:sp>
      <p:sp>
        <p:nvSpPr>
          <p:cNvPr id="35" name="Rectangle 34"/>
          <p:cNvSpPr/>
          <p:nvPr/>
        </p:nvSpPr>
        <p:spPr>
          <a:xfrm>
            <a:off x="502920" y="3337560"/>
            <a:ext cx="5532120" cy="269748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3456432"/>
            <a:ext cx="5166360" cy="292608"/>
          </a:xfrm>
          <a:prstGeom prst="rect">
            <a:avLst/>
          </a:prstGeom>
          <a:noFill/>
        </p:spPr>
        <p:txBody>
          <a:bodyPr wrap="square" lIns="36576" rIns="36576" tIns="18288" bIns="18288"/>
          <a:lstStyle/>
          <a:p>
            <a:pPr algn="l"/>
            <a:r>
              <a:rPr sz="1200" b="1">
                <a:solidFill>
                  <a:srgbClr val="F5A524"/>
                </a:solidFill>
                <a:latin typeface="Arial"/>
                <a:ea typeface="Arial"/>
                <a:cs typeface="Arial"/>
              </a:rPr>
              <a:t>SOURCE REALITY</a:t>
            </a:r>
          </a:p>
        </p:txBody>
      </p:sp>
      <p:sp>
        <p:nvSpPr>
          <p:cNvPr id="37" name="Rectangle 36"/>
          <p:cNvSpPr/>
          <p:nvPr/>
        </p:nvSpPr>
        <p:spPr>
          <a:xfrm>
            <a:off x="685800" y="3840480"/>
            <a:ext cx="5166360" cy="347472"/>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3840480"/>
            <a:ext cx="4892040" cy="347472"/>
          </a:xfrm>
          <a:prstGeom prst="rect">
            <a:avLst/>
          </a:prstGeom>
          <a:noFill/>
        </p:spPr>
        <p:txBody>
          <a:bodyPr wrap="square" lIns="36576" rIns="36576" tIns="18288" bIns="18288"/>
          <a:lstStyle/>
          <a:p>
            <a:pPr algn="l"/>
            <a:r>
              <a:rPr sz="1300" b="0">
                <a:solidFill>
                  <a:srgbClr val="8BA3B8"/>
                </a:solidFill>
                <a:latin typeface="Courier New"/>
                <a:ea typeface="Courier New"/>
                <a:cs typeface="Courier New"/>
              </a:rPr>
              <a:t>Belolewve Ll Ow</a:t>
            </a:r>
          </a:p>
        </p:txBody>
      </p:sp>
      <p:sp>
        <p:nvSpPr>
          <p:cNvPr id="39" name="Rectangle 38"/>
          <p:cNvSpPr/>
          <p:nvPr/>
        </p:nvSpPr>
        <p:spPr>
          <a:xfrm>
            <a:off x="685800" y="4224528"/>
            <a:ext cx="5166360" cy="347472"/>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224528"/>
            <a:ext cx="4892040" cy="347472"/>
          </a:xfrm>
          <a:prstGeom prst="rect">
            <a:avLst/>
          </a:prstGeom>
          <a:noFill/>
        </p:spPr>
        <p:txBody>
          <a:bodyPr wrap="square" lIns="36576" rIns="36576" tIns="18288" bIns="18288"/>
          <a:lstStyle/>
          <a:p>
            <a:pPr algn="l"/>
            <a:r>
              <a:rPr sz="1300" b="0">
                <a:solidFill>
                  <a:srgbClr val="8BA3B8"/>
                </a:solidFill>
                <a:latin typeface="Courier New"/>
                <a:ea typeface="Courier New"/>
                <a:cs typeface="Courier New"/>
              </a:rPr>
              <a:t>Exception Ally High</a:t>
            </a:r>
          </a:p>
        </p:txBody>
      </p:sp>
      <p:sp>
        <p:nvSpPr>
          <p:cNvPr id="41" name="Rectangle 40"/>
          <p:cNvSpPr/>
          <p:nvPr/>
        </p:nvSpPr>
        <p:spPr>
          <a:xfrm>
            <a:off x="685800" y="4608576"/>
            <a:ext cx="5166360" cy="347472"/>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4608576"/>
            <a:ext cx="4892040" cy="347472"/>
          </a:xfrm>
          <a:prstGeom prst="rect">
            <a:avLst/>
          </a:prstGeom>
          <a:noFill/>
        </p:spPr>
        <p:txBody>
          <a:bodyPr wrap="square" lIns="36576" rIns="36576" tIns="18288" bIns="18288"/>
          <a:lstStyle/>
          <a:p>
            <a:pPr algn="l"/>
            <a:r>
              <a:rPr sz="1300" b="0">
                <a:solidFill>
                  <a:srgbClr val="8BA3B8"/>
                </a:solidFill>
                <a:latin typeface="Courier New"/>
                <a:ea typeface="Courier New"/>
                <a:cs typeface="Courier New"/>
              </a:rPr>
              <a:t>Hig H</a:t>
            </a:r>
          </a:p>
        </p:txBody>
      </p:sp>
      <p:sp>
        <p:nvSpPr>
          <p:cNvPr id="43" name="Rectangle 42"/>
          <p:cNvSpPr/>
          <p:nvPr/>
        </p:nvSpPr>
        <p:spPr>
          <a:xfrm>
            <a:off x="685800" y="4992624"/>
            <a:ext cx="5166360" cy="347472"/>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4992624"/>
            <a:ext cx="4892040" cy="347472"/>
          </a:xfrm>
          <a:prstGeom prst="rect">
            <a:avLst/>
          </a:prstGeom>
          <a:noFill/>
        </p:spPr>
        <p:txBody>
          <a:bodyPr wrap="square" lIns="36576" rIns="36576" tIns="18288" bIns="18288"/>
          <a:lstStyle/>
          <a:p>
            <a:pPr algn="l"/>
            <a:r>
              <a:rPr sz="1300" b="0">
                <a:solidFill>
                  <a:srgbClr val="8BA3B8"/>
                </a:solidFill>
                <a:latin typeface="Courier New"/>
                <a:ea typeface="Courier New"/>
                <a:cs typeface="Courier New"/>
              </a:rPr>
              <a:t>Lo W</a:t>
            </a:r>
          </a:p>
        </p:txBody>
      </p:sp>
      <p:sp>
        <p:nvSpPr>
          <p:cNvPr id="45" name="Rectangle 44"/>
          <p:cNvSpPr/>
          <p:nvPr/>
        </p:nvSpPr>
        <p:spPr>
          <a:xfrm>
            <a:off x="685800" y="5376672"/>
            <a:ext cx="5166360" cy="347472"/>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5376672"/>
            <a:ext cx="4892040" cy="347472"/>
          </a:xfrm>
          <a:prstGeom prst="rect">
            <a:avLst/>
          </a:prstGeom>
          <a:noFill/>
        </p:spPr>
        <p:txBody>
          <a:bodyPr wrap="square" lIns="36576" rIns="36576" tIns="18288" bIns="18288"/>
          <a:lstStyle/>
          <a:p>
            <a:pPr algn="l"/>
            <a:r>
              <a:rPr sz="1300" b="0">
                <a:solidFill>
                  <a:srgbClr val="8BA3B8"/>
                </a:solidFill>
                <a:latin typeface="Courier New"/>
                <a:ea typeface="Courier New"/>
                <a:cs typeface="Courier New"/>
              </a:rPr>
              <a:t>1100.0 in flood_level</a:t>
            </a:r>
          </a:p>
        </p:txBody>
      </p:sp>
      <p:sp>
        <p:nvSpPr>
          <p:cNvPr id="47" name="Rectangle 46"/>
          <p:cNvSpPr/>
          <p:nvPr/>
        </p:nvSpPr>
        <p:spPr>
          <a:xfrm>
            <a:off x="6263640" y="3337560"/>
            <a:ext cx="5413248" cy="2697480"/>
          </a:xfrm>
          <a:prstGeom prst="rect">
            <a:avLst/>
          </a:prstGeom>
          <a:solidFill>
            <a:srgbClr val="102238"/>
          </a:solidFill>
          <a:ln w="1651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46520" y="3456432"/>
            <a:ext cx="5074920" cy="292608"/>
          </a:xfrm>
          <a:prstGeom prst="rect">
            <a:avLst/>
          </a:prstGeom>
          <a:noFill/>
        </p:spPr>
        <p:txBody>
          <a:bodyPr wrap="square" lIns="36576" rIns="36576" tIns="18288" bIns="18288"/>
          <a:lstStyle/>
          <a:p>
            <a:pPr algn="l"/>
            <a:r>
              <a:rPr sz="1200" b="1">
                <a:solidFill>
                  <a:srgbClr val="5CE1E6"/>
                </a:solidFill>
                <a:latin typeface="Arial"/>
                <a:ea typeface="Arial"/>
                <a:cs typeface="Arial"/>
              </a:rPr>
              <a:t>STRUCTURED MARALA ROW</a:t>
            </a:r>
          </a:p>
        </p:txBody>
      </p:sp>
      <p:sp>
        <p:nvSpPr>
          <p:cNvPr id="49" name="TextBox 48"/>
          <p:cNvSpPr txBox="1"/>
          <p:nvPr/>
        </p:nvSpPr>
        <p:spPr>
          <a:xfrm>
            <a:off x="6446520" y="3840480"/>
            <a:ext cx="2103120" cy="347472"/>
          </a:xfrm>
          <a:prstGeom prst="rect">
            <a:avLst/>
          </a:prstGeom>
          <a:noFill/>
        </p:spPr>
        <p:txBody>
          <a:bodyPr wrap="square" lIns="36576" rIns="36576" tIns="18288" bIns="18288"/>
          <a:lstStyle/>
          <a:p>
            <a:pPr algn="l"/>
            <a:r>
              <a:rPr sz="1200" b="0">
                <a:solidFill>
                  <a:srgbClr val="8BA3B8"/>
                </a:solidFill>
                <a:latin typeface="Arial"/>
                <a:ea typeface="Arial"/>
                <a:cs typeface="Arial"/>
              </a:rPr>
              <a:t>River / station</a:t>
            </a:r>
          </a:p>
        </p:txBody>
      </p:sp>
      <p:sp>
        <p:nvSpPr>
          <p:cNvPr id="50" name="TextBox 49"/>
          <p:cNvSpPr txBox="1"/>
          <p:nvPr/>
        </p:nvSpPr>
        <p:spPr>
          <a:xfrm>
            <a:off x="8595360" y="3840480"/>
            <a:ext cx="2834640" cy="347472"/>
          </a:xfrm>
          <a:prstGeom prst="rect">
            <a:avLst/>
          </a:prstGeom>
          <a:noFill/>
        </p:spPr>
        <p:txBody>
          <a:bodyPr wrap="square" lIns="36576" rIns="36576" tIns="18288" bIns="18288"/>
          <a:lstStyle/>
          <a:p>
            <a:pPr algn="l"/>
            <a:r>
              <a:rPr sz="1300" b="1">
                <a:solidFill>
                  <a:srgbClr val="F4F0E6"/>
                </a:solidFill>
                <a:latin typeface="Arial"/>
                <a:ea typeface="Arial"/>
                <a:cs typeface="Arial"/>
              </a:rPr>
              <a:t>CHENAB  ·  Marala</a:t>
            </a:r>
          </a:p>
        </p:txBody>
      </p:sp>
      <p:sp>
        <p:nvSpPr>
          <p:cNvPr id="51" name="TextBox 50"/>
          <p:cNvSpPr txBox="1"/>
          <p:nvPr/>
        </p:nvSpPr>
        <p:spPr>
          <a:xfrm>
            <a:off x="6446520" y="4224528"/>
            <a:ext cx="2103120" cy="347472"/>
          </a:xfrm>
          <a:prstGeom prst="rect">
            <a:avLst/>
          </a:prstGeom>
          <a:noFill/>
        </p:spPr>
        <p:txBody>
          <a:bodyPr wrap="square" lIns="36576" rIns="36576" tIns="18288" bIns="18288"/>
          <a:lstStyle/>
          <a:p>
            <a:pPr algn="l"/>
            <a:r>
              <a:rPr sz="1200" b="0">
                <a:solidFill>
                  <a:srgbClr val="8BA3B8"/>
                </a:solidFill>
                <a:latin typeface="Arial"/>
                <a:ea typeface="Arial"/>
                <a:cs typeface="Arial"/>
              </a:rPr>
              <a:t>Inflow / outflow</a:t>
            </a:r>
          </a:p>
        </p:txBody>
      </p:sp>
      <p:sp>
        <p:nvSpPr>
          <p:cNvPr id="52" name="TextBox 51"/>
          <p:cNvSpPr txBox="1"/>
          <p:nvPr/>
        </p:nvSpPr>
        <p:spPr>
          <a:xfrm>
            <a:off x="8595360" y="4224528"/>
            <a:ext cx="2834640" cy="347472"/>
          </a:xfrm>
          <a:prstGeom prst="rect">
            <a:avLst/>
          </a:prstGeom>
          <a:noFill/>
        </p:spPr>
        <p:txBody>
          <a:bodyPr wrap="square" lIns="36576" rIns="36576" tIns="18288" bIns="18288"/>
          <a:lstStyle/>
          <a:p>
            <a:pPr algn="l"/>
            <a:r>
              <a:rPr sz="1300" b="1">
                <a:solidFill>
                  <a:srgbClr val="F4F0E6"/>
                </a:solidFill>
                <a:latin typeface="Arial"/>
                <a:ea typeface="Arial"/>
                <a:cs typeface="Arial"/>
              </a:rPr>
              <a:t>thousand cusecs</a:t>
            </a:r>
          </a:p>
        </p:txBody>
      </p:sp>
      <p:sp>
        <p:nvSpPr>
          <p:cNvPr id="53" name="TextBox 52"/>
          <p:cNvSpPr txBox="1"/>
          <p:nvPr/>
        </p:nvSpPr>
        <p:spPr>
          <a:xfrm>
            <a:off x="6446520" y="4608576"/>
            <a:ext cx="2103120" cy="347472"/>
          </a:xfrm>
          <a:prstGeom prst="rect">
            <a:avLst/>
          </a:prstGeom>
          <a:noFill/>
        </p:spPr>
        <p:txBody>
          <a:bodyPr wrap="square" lIns="36576" rIns="36576" tIns="18288" bIns="18288"/>
          <a:lstStyle/>
          <a:p>
            <a:pPr algn="l"/>
            <a:r>
              <a:rPr sz="1200" b="0">
                <a:solidFill>
                  <a:srgbClr val="8BA3B8"/>
                </a:solidFill>
                <a:latin typeface="Arial"/>
                <a:ea typeface="Arial"/>
                <a:cs typeface="Arial"/>
              </a:rPr>
              <a:t>24h forecast</a:t>
            </a:r>
          </a:p>
        </p:txBody>
      </p:sp>
      <p:sp>
        <p:nvSpPr>
          <p:cNvPr id="54" name="TextBox 53"/>
          <p:cNvSpPr txBox="1"/>
          <p:nvPr/>
        </p:nvSpPr>
        <p:spPr>
          <a:xfrm>
            <a:off x="8595360" y="4608576"/>
            <a:ext cx="2834640" cy="347472"/>
          </a:xfrm>
          <a:prstGeom prst="rect">
            <a:avLst/>
          </a:prstGeom>
          <a:noFill/>
        </p:spPr>
        <p:txBody>
          <a:bodyPr wrap="square" lIns="36576" rIns="36576" tIns="18288" bIns="18288"/>
          <a:lstStyle/>
          <a:p>
            <a:pPr algn="l"/>
            <a:r>
              <a:rPr sz="1300" b="1">
                <a:solidFill>
                  <a:srgbClr val="F4F0E6"/>
                </a:solidFill>
                <a:latin typeface="Arial"/>
                <a:ea typeface="Arial"/>
                <a:cs typeface="Arial"/>
              </a:rPr>
              <a:t>parsed numeric band</a:t>
            </a:r>
          </a:p>
        </p:txBody>
      </p:sp>
      <p:sp>
        <p:nvSpPr>
          <p:cNvPr id="55" name="TextBox 54"/>
          <p:cNvSpPr txBox="1"/>
          <p:nvPr/>
        </p:nvSpPr>
        <p:spPr>
          <a:xfrm>
            <a:off x="6446520" y="4992624"/>
            <a:ext cx="2103120" cy="347472"/>
          </a:xfrm>
          <a:prstGeom prst="rect">
            <a:avLst/>
          </a:prstGeom>
          <a:noFill/>
        </p:spPr>
        <p:txBody>
          <a:bodyPr wrap="square" lIns="36576" rIns="36576" tIns="18288" bIns="18288"/>
          <a:lstStyle/>
          <a:p>
            <a:pPr algn="l"/>
            <a:r>
              <a:rPr sz="1200" b="0">
                <a:solidFill>
                  <a:srgbClr val="8BA3B8"/>
                </a:solidFill>
                <a:latin typeface="Arial"/>
                <a:ea typeface="Arial"/>
                <a:cs typeface="Arial"/>
              </a:rPr>
              <a:t>Next-day label</a:t>
            </a:r>
          </a:p>
        </p:txBody>
      </p:sp>
      <p:sp>
        <p:nvSpPr>
          <p:cNvPr id="56" name="TextBox 55"/>
          <p:cNvSpPr txBox="1"/>
          <p:nvPr/>
        </p:nvSpPr>
        <p:spPr>
          <a:xfrm>
            <a:off x="8595360" y="4992624"/>
            <a:ext cx="2834640" cy="347472"/>
          </a:xfrm>
          <a:prstGeom prst="rect">
            <a:avLst/>
          </a:prstGeom>
          <a:noFill/>
        </p:spPr>
        <p:txBody>
          <a:bodyPr wrap="square" lIns="36576" rIns="36576" tIns="18288" bIns="18288"/>
          <a:lstStyle/>
          <a:p>
            <a:pPr algn="l"/>
            <a:r>
              <a:rPr sz="1300" b="1">
                <a:solidFill>
                  <a:srgbClr val="F4F0E6"/>
                </a:solidFill>
                <a:latin typeface="Arial"/>
                <a:ea typeface="Arial"/>
                <a:cs typeface="Arial"/>
              </a:rPr>
              <a:t>official threshold class</a:t>
            </a:r>
          </a:p>
        </p:txBody>
      </p:sp>
      <p:sp>
        <p:nvSpPr>
          <p:cNvPr id="57" name="TextBox 56"/>
          <p:cNvSpPr txBox="1"/>
          <p:nvPr/>
        </p:nvSpPr>
        <p:spPr>
          <a:xfrm>
            <a:off x="6446520" y="5376672"/>
            <a:ext cx="2103120" cy="347472"/>
          </a:xfrm>
          <a:prstGeom prst="rect">
            <a:avLst/>
          </a:prstGeom>
          <a:noFill/>
        </p:spPr>
        <p:txBody>
          <a:bodyPr wrap="square" lIns="36576" rIns="36576" tIns="18288" bIns="18288"/>
          <a:lstStyle/>
          <a:p>
            <a:pPr algn="l"/>
            <a:r>
              <a:rPr sz="1200" b="0">
                <a:solidFill>
                  <a:srgbClr val="8BA3B8"/>
                </a:solidFill>
                <a:latin typeface="Arial"/>
                <a:ea typeface="Arial"/>
                <a:cs typeface="Arial"/>
              </a:rPr>
              <a:t>Keep rule</a:t>
            </a:r>
          </a:p>
        </p:txBody>
      </p:sp>
      <p:sp>
        <p:nvSpPr>
          <p:cNvPr id="58" name="TextBox 57"/>
          <p:cNvSpPr txBox="1"/>
          <p:nvPr/>
        </p:nvSpPr>
        <p:spPr>
          <a:xfrm>
            <a:off x="8595360" y="5376672"/>
            <a:ext cx="2834640" cy="347472"/>
          </a:xfrm>
          <a:prstGeom prst="rect">
            <a:avLst/>
          </a:prstGeom>
          <a:noFill/>
        </p:spPr>
        <p:txBody>
          <a:bodyPr wrap="square" lIns="36576" rIns="36576" tIns="18288" bIns="18288"/>
          <a:lstStyle/>
          <a:p>
            <a:pPr algn="l"/>
            <a:r>
              <a:rPr sz="1300" b="1">
                <a:solidFill>
                  <a:srgbClr val="F4F0E6"/>
                </a:solidFill>
                <a:latin typeface="Arial"/>
                <a:ea typeface="Arial"/>
                <a:cs typeface="Arial"/>
              </a:rPr>
              <a:t>only consecutive calendar days</a:t>
            </a:r>
          </a:p>
        </p:txBody>
      </p:sp>
      <p:sp>
        <p:nvSpPr>
          <p:cNvPr id="59" name="Rectangle 58"/>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61" name="TextBox 60"/>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MODEL DEVELOPMENT</a:t>
            </a:r>
          </a:p>
        </p:txBody>
      </p:sp>
      <p:sp>
        <p:nvSpPr>
          <p:cNvPr id="7" name="TextBox 6"/>
          <p:cNvSpPr txBox="1"/>
          <p:nvPr/>
        </p:nvSpPr>
        <p:spPr>
          <a:xfrm>
            <a:off x="502920" y="420624"/>
            <a:ext cx="11173968" cy="640080"/>
          </a:xfrm>
          <a:prstGeom prst="rect">
            <a:avLst/>
          </a:prstGeom>
          <a:noFill/>
        </p:spPr>
        <p:txBody>
          <a:bodyPr wrap="square" lIns="36576" rIns="36576" tIns="18288" bIns="18288"/>
          <a:lstStyle/>
          <a:p>
            <a:pPr algn="l"/>
            <a:r>
              <a:rPr sz="2800" b="1">
                <a:solidFill>
                  <a:srgbClr val="F4F0E6"/>
                </a:solidFill>
                <a:latin typeface="Arial"/>
                <a:ea typeface="Arial"/>
                <a:cs typeface="Arial"/>
              </a:rPr>
              <a:t>Designed for time-series data, not random test splits.</a:t>
            </a:r>
          </a:p>
        </p:txBody>
      </p:sp>
      <p:sp>
        <p:nvSpPr>
          <p:cNvPr id="8" name="Rectangle 7"/>
          <p:cNvSpPr/>
          <p:nvPr/>
        </p:nvSpPr>
        <p:spPr>
          <a:xfrm>
            <a:off x="502920" y="1371600"/>
            <a:ext cx="3566160"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3200400" cy="274320"/>
          </a:xfrm>
          <a:prstGeom prst="rect">
            <a:avLst/>
          </a:prstGeom>
          <a:noFill/>
        </p:spPr>
        <p:txBody>
          <a:bodyPr wrap="square" lIns="36576" rIns="36576" tIns="18288" bIns="18288"/>
          <a:lstStyle/>
          <a:p>
            <a:pPr algn="l"/>
            <a:r>
              <a:rPr sz="1200" b="1">
                <a:solidFill>
                  <a:srgbClr val="8BA3B8"/>
                </a:solidFill>
                <a:latin typeface="Arial"/>
                <a:ea typeface="Arial"/>
                <a:cs typeface="Arial"/>
              </a:rPr>
              <a:t>CANDIDATES</a:t>
            </a:r>
          </a:p>
        </p:txBody>
      </p:sp>
      <p:sp>
        <p:nvSpPr>
          <p:cNvPr id="10" name="TextBox 9"/>
          <p:cNvSpPr txBox="1"/>
          <p:nvPr/>
        </p:nvSpPr>
        <p:spPr>
          <a:xfrm>
            <a:off x="685800" y="1874519"/>
            <a:ext cx="3200400" cy="640080"/>
          </a:xfrm>
          <a:prstGeom prst="rect">
            <a:avLst/>
          </a:prstGeom>
          <a:noFill/>
        </p:spPr>
        <p:txBody>
          <a:bodyPr wrap="square" lIns="36576" rIns="36576" tIns="18288" bIns="18288"/>
          <a:lstStyle/>
          <a:p>
            <a:pPr algn="l"/>
            <a:r>
              <a:rPr sz="2200" b="1">
                <a:solidFill>
                  <a:srgbClr val="F4F0E6"/>
                </a:solidFill>
                <a:latin typeface="Arial"/>
                <a:ea typeface="Arial"/>
                <a:cs typeface="Arial"/>
              </a:rPr>
              <a:t>Random Forest
Extra Trees</a:t>
            </a:r>
          </a:p>
        </p:txBody>
      </p:sp>
      <p:sp>
        <p:nvSpPr>
          <p:cNvPr id="11" name="TextBox 10"/>
          <p:cNvSpPr txBox="1"/>
          <p:nvPr/>
        </p:nvSpPr>
        <p:spPr>
          <a:xfrm>
            <a:off x="685800" y="2743200"/>
            <a:ext cx="3200400" cy="640080"/>
          </a:xfrm>
          <a:prstGeom prst="rect">
            <a:avLst/>
          </a:prstGeom>
          <a:noFill/>
        </p:spPr>
        <p:txBody>
          <a:bodyPr wrap="square" lIns="36576" rIns="36576" tIns="18288" bIns="18288"/>
          <a:lstStyle/>
          <a:p>
            <a:pPr algn="l"/>
            <a:r>
              <a:rPr sz="1300" b="0">
                <a:solidFill>
                  <a:srgbClr val="8BA3B8"/>
                </a:solidFill>
                <a:latin typeface="Arial"/>
                <a:ea typeface="Arial"/>
                <a:cs typeface="Arial"/>
              </a:rPr>
              <a:t>Same median imputer.
Trees chosen for mixed-scale hydro features.</a:t>
            </a:r>
          </a:p>
        </p:txBody>
      </p:sp>
      <p:sp>
        <p:nvSpPr>
          <p:cNvPr id="12" name="Right Arrow 11"/>
          <p:cNvSpPr/>
          <p:nvPr/>
        </p:nvSpPr>
        <p:spPr>
          <a:xfrm>
            <a:off x="4160520" y="2331720"/>
            <a:ext cx="365760" cy="201168"/>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17720" y="1371600"/>
            <a:ext cx="3566160"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1508760"/>
            <a:ext cx="3200400" cy="274320"/>
          </a:xfrm>
          <a:prstGeom prst="rect">
            <a:avLst/>
          </a:prstGeom>
          <a:noFill/>
        </p:spPr>
        <p:txBody>
          <a:bodyPr wrap="square" lIns="36576" rIns="36576" tIns="18288" bIns="18288"/>
          <a:lstStyle/>
          <a:p>
            <a:pPr algn="l"/>
            <a:r>
              <a:rPr sz="1200" b="1">
                <a:solidFill>
                  <a:srgbClr val="8BA3B8"/>
                </a:solidFill>
                <a:latin typeface="Arial"/>
                <a:ea typeface="Arial"/>
                <a:cs typeface="Arial"/>
              </a:rPr>
              <a:t>SELECTION</a:t>
            </a:r>
          </a:p>
        </p:txBody>
      </p:sp>
      <p:sp>
        <p:nvSpPr>
          <p:cNvPr id="15" name="TextBox 14"/>
          <p:cNvSpPr txBox="1"/>
          <p:nvPr/>
        </p:nvSpPr>
        <p:spPr>
          <a:xfrm>
            <a:off x="4800600" y="1874519"/>
            <a:ext cx="3200400" cy="640080"/>
          </a:xfrm>
          <a:prstGeom prst="rect">
            <a:avLst/>
          </a:prstGeom>
          <a:noFill/>
        </p:spPr>
        <p:txBody>
          <a:bodyPr wrap="square" lIns="36576" rIns="36576" tIns="18288" bIns="18288"/>
          <a:lstStyle/>
          <a:p>
            <a:pPr algn="l"/>
            <a:r>
              <a:rPr sz="2200" b="1">
                <a:solidFill>
                  <a:srgbClr val="F4F0E6"/>
                </a:solidFill>
                <a:latin typeface="Arial"/>
                <a:ea typeface="Arial"/>
                <a:cs typeface="Arial"/>
              </a:rPr>
              <a:t>TimeSeriesSplit
Macro F1</a:t>
            </a:r>
          </a:p>
        </p:txBody>
      </p:sp>
      <p:sp>
        <p:nvSpPr>
          <p:cNvPr id="16" name="TextBox 15"/>
          <p:cNvSpPr txBox="1"/>
          <p:nvPr/>
        </p:nvSpPr>
        <p:spPr>
          <a:xfrm>
            <a:off x="4800600" y="2743200"/>
            <a:ext cx="3200400" cy="640080"/>
          </a:xfrm>
          <a:prstGeom prst="rect">
            <a:avLst/>
          </a:prstGeom>
          <a:noFill/>
        </p:spPr>
        <p:txBody>
          <a:bodyPr wrap="square" lIns="36576" rIns="36576" tIns="18288" bIns="18288"/>
          <a:lstStyle/>
          <a:p>
            <a:pPr algn="l"/>
            <a:r>
              <a:rPr sz="1300" b="0">
                <a:solidFill>
                  <a:srgbClr val="8BA3B8"/>
                </a:solidFill>
                <a:latin typeface="Arial"/>
                <a:ea typeface="Arial"/>
                <a:cs typeface="Arial"/>
              </a:rPr>
              <a:t>2026 stays untouched until the final test.</a:t>
            </a:r>
          </a:p>
        </p:txBody>
      </p:sp>
      <p:sp>
        <p:nvSpPr>
          <p:cNvPr id="17" name="Right Arrow 16"/>
          <p:cNvSpPr/>
          <p:nvPr/>
        </p:nvSpPr>
        <p:spPr>
          <a:xfrm>
            <a:off x="8275320" y="2331720"/>
            <a:ext cx="365760" cy="201168"/>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32520" y="1371600"/>
            <a:ext cx="2944368" cy="2331720"/>
          </a:xfrm>
          <a:prstGeom prst="rect">
            <a:avLst/>
          </a:prstGeom>
          <a:solidFill>
            <a:srgbClr val="0E6E6B"/>
          </a:solidFill>
          <a:ln w="1778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1508760"/>
            <a:ext cx="2697480" cy="274320"/>
          </a:xfrm>
          <a:prstGeom prst="rect">
            <a:avLst/>
          </a:prstGeom>
          <a:noFill/>
        </p:spPr>
        <p:txBody>
          <a:bodyPr wrap="square" lIns="36576" rIns="36576" tIns="18288" bIns="18288"/>
          <a:lstStyle/>
          <a:p>
            <a:pPr algn="l"/>
            <a:r>
              <a:rPr sz="1200" b="1">
                <a:solidFill>
                  <a:srgbClr val="5CE1E6"/>
                </a:solidFill>
                <a:latin typeface="Arial"/>
                <a:ea typeface="Arial"/>
                <a:cs typeface="Arial"/>
              </a:rPr>
              <a:t>SELECTED</a:t>
            </a:r>
          </a:p>
        </p:txBody>
      </p:sp>
      <p:sp>
        <p:nvSpPr>
          <p:cNvPr id="20" name="TextBox 19"/>
          <p:cNvSpPr txBox="1"/>
          <p:nvPr/>
        </p:nvSpPr>
        <p:spPr>
          <a:xfrm>
            <a:off x="8869680" y="1920240"/>
            <a:ext cx="2697480" cy="777240"/>
          </a:xfrm>
          <a:prstGeom prst="rect">
            <a:avLst/>
          </a:prstGeom>
          <a:noFill/>
        </p:spPr>
        <p:txBody>
          <a:bodyPr wrap="square" lIns="36576" rIns="36576" tIns="18288" bIns="18288"/>
          <a:lstStyle/>
          <a:p>
            <a:pPr algn="l"/>
            <a:r>
              <a:rPr sz="2400" b="1">
                <a:solidFill>
                  <a:srgbClr val="FFFFFF"/>
                </a:solidFill>
                <a:latin typeface="Arial"/>
                <a:ea typeface="Arial"/>
                <a:cs typeface="Arial"/>
              </a:rPr>
              <a:t>Random
Forest</a:t>
            </a:r>
          </a:p>
        </p:txBody>
      </p:sp>
      <p:sp>
        <p:nvSpPr>
          <p:cNvPr id="21" name="TextBox 20"/>
          <p:cNvSpPr txBox="1"/>
          <p:nvPr/>
        </p:nvSpPr>
        <p:spPr>
          <a:xfrm>
            <a:off x="8869680" y="2880360"/>
            <a:ext cx="2697480" cy="502920"/>
          </a:xfrm>
          <a:prstGeom prst="rect">
            <a:avLst/>
          </a:prstGeom>
          <a:noFill/>
        </p:spPr>
        <p:txBody>
          <a:bodyPr wrap="square" lIns="36576" rIns="36576" tIns="18288" bIns="18288"/>
          <a:lstStyle/>
          <a:p>
            <a:pPr algn="l"/>
            <a:r>
              <a:rPr sz="1200" b="0">
                <a:solidFill>
                  <a:srgbClr val="5CE1E6"/>
                </a:solidFill>
                <a:latin typeface="Arial"/>
                <a:ea typeface="Arial"/>
                <a:cs typeface="Arial"/>
              </a:rPr>
              <a:t>Saved in the model package</a:t>
            </a:r>
          </a:p>
        </p:txBody>
      </p:sp>
      <p:sp>
        <p:nvSpPr>
          <p:cNvPr id="22" name="Rectangle 21"/>
          <p:cNvSpPr/>
          <p:nvPr/>
        </p:nvSpPr>
        <p:spPr>
          <a:xfrm>
            <a:off x="502920" y="3931920"/>
            <a:ext cx="11173968" cy="205740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14800"/>
            <a:ext cx="10698480" cy="365760"/>
          </a:xfrm>
          <a:prstGeom prst="rect">
            <a:avLst/>
          </a:prstGeom>
          <a:noFill/>
        </p:spPr>
        <p:txBody>
          <a:bodyPr wrap="square" lIns="36576" rIns="36576" tIns="18288" bIns="18288"/>
          <a:lstStyle/>
          <a:p>
            <a:pPr algn="l"/>
            <a:r>
              <a:rPr sz="1800" b="1">
                <a:solidFill>
                  <a:srgbClr val="F5A524"/>
                </a:solidFill>
                <a:latin typeface="Arial"/>
                <a:ea typeface="Arial"/>
                <a:cs typeface="Arial"/>
              </a:rPr>
              <a:t>Why macro F1?</a:t>
            </a:r>
          </a:p>
        </p:txBody>
      </p:sp>
      <p:sp>
        <p:nvSpPr>
          <p:cNvPr id="24" name="TextBox 23"/>
          <p:cNvSpPr txBox="1"/>
          <p:nvPr/>
        </p:nvSpPr>
        <p:spPr>
          <a:xfrm>
            <a:off x="731520" y="4617720"/>
            <a:ext cx="10698480" cy="1051560"/>
          </a:xfrm>
          <a:prstGeom prst="rect">
            <a:avLst/>
          </a:prstGeom>
          <a:noFill/>
        </p:spPr>
        <p:txBody>
          <a:bodyPr wrap="square" lIns="36576" rIns="36576" tIns="18288" bIns="18288"/>
          <a:lstStyle/>
          <a:p>
            <a:pPr algn="l"/>
            <a:r>
              <a:rPr sz="1800" b="0">
                <a:solidFill>
                  <a:srgbClr val="F4F0E6"/>
                </a:solidFill>
                <a:latin typeface="Arial"/>
                <a:ea typeface="Arial"/>
                <a:cs typeface="Arial"/>
              </a:rPr>
              <a:t>Rare severe flood classes must not disappear behind abundant normal days.
Accuracy alone would reward a model that only predicts Normal.</a:t>
            </a:r>
          </a:p>
        </p:txBody>
      </p:sp>
      <p:sp>
        <p:nvSpPr>
          <p:cNvPr id="25" name="Rectangle 24"/>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27" name="TextBox 26"/>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HELD-OUT 2026 TEST</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Does it actually work?</a:t>
            </a:r>
          </a:p>
        </p:txBody>
      </p:sp>
      <p:sp>
        <p:nvSpPr>
          <p:cNvPr id="8" name="TextBox 7"/>
          <p:cNvSpPr txBox="1"/>
          <p:nvPr/>
        </p:nvSpPr>
        <p:spPr>
          <a:xfrm>
            <a:off x="502920" y="1051560"/>
            <a:ext cx="11155680" cy="292608"/>
          </a:xfrm>
          <a:prstGeom prst="rect">
            <a:avLst/>
          </a:prstGeom>
          <a:noFill/>
        </p:spPr>
        <p:txBody>
          <a:bodyPr wrap="square" lIns="36576" rIns="36576" tIns="18288" bIns="18288"/>
          <a:lstStyle/>
          <a:p>
            <a:pPr algn="l"/>
            <a:r>
              <a:rPr sz="1400" b="0">
                <a:solidFill>
                  <a:srgbClr val="8BA3B8"/>
                </a:solidFill>
                <a:latin typeface="Arial"/>
                <a:ea typeface="Arial"/>
                <a:cs typeface="Arial"/>
              </a:rPr>
              <a:t>Training 2024–2025   ·   Test 2026   ·   52 next-day cases   ·   Random Forest</a:t>
            </a:r>
          </a:p>
        </p:txBody>
      </p:sp>
      <p:sp>
        <p:nvSpPr>
          <p:cNvPr id="9" name="Rectangle 8"/>
          <p:cNvSpPr/>
          <p:nvPr/>
        </p:nvSpPr>
        <p:spPr>
          <a:xfrm>
            <a:off x="502920" y="1417320"/>
            <a:ext cx="2788920" cy="1325880"/>
          </a:xfrm>
          <a:prstGeom prst="rect">
            <a:avLst/>
          </a:prstGeom>
          <a:solidFill>
            <a:srgbClr val="102238"/>
          </a:solidFill>
          <a:ln w="1651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2606040" cy="640080"/>
          </a:xfrm>
          <a:prstGeom prst="rect">
            <a:avLst/>
          </a:prstGeom>
          <a:noFill/>
        </p:spPr>
        <p:txBody>
          <a:bodyPr wrap="square" lIns="36576" rIns="36576" tIns="18288" bIns="18288"/>
          <a:lstStyle/>
          <a:p>
            <a:pPr algn="ctr"/>
            <a:r>
              <a:rPr sz="2800" b="1">
                <a:solidFill>
                  <a:srgbClr val="8BA3B8"/>
                </a:solidFill>
                <a:latin typeface="Arial"/>
                <a:ea typeface="Arial"/>
                <a:cs typeface="Arial"/>
              </a:rPr>
              <a:t>98.1%</a:t>
            </a:r>
          </a:p>
        </p:txBody>
      </p:sp>
      <p:sp>
        <p:nvSpPr>
          <p:cNvPr id="11" name="TextBox 10"/>
          <p:cNvSpPr txBox="1"/>
          <p:nvPr/>
        </p:nvSpPr>
        <p:spPr>
          <a:xfrm>
            <a:off x="594360" y="2148840"/>
            <a:ext cx="2606040" cy="411480"/>
          </a:xfrm>
          <a:prstGeom prst="rect">
            <a:avLst/>
          </a:prstGeom>
          <a:noFill/>
        </p:spPr>
        <p:txBody>
          <a:bodyPr wrap="square" lIns="36576" rIns="36576" tIns="18288" bIns="18288"/>
          <a:lstStyle/>
          <a:p>
            <a:pPr algn="ctr"/>
            <a:r>
              <a:rPr sz="1300" b="0">
                <a:solidFill>
                  <a:srgbClr val="F4F0E6"/>
                </a:solidFill>
                <a:latin typeface="Arial"/>
                <a:ea typeface="Arial"/>
                <a:cs typeface="Arial"/>
              </a:rPr>
              <a:t>Accuracy</a:t>
            </a:r>
          </a:p>
        </p:txBody>
      </p:sp>
      <p:sp>
        <p:nvSpPr>
          <p:cNvPr id="12" name="Rectangle 11"/>
          <p:cNvSpPr/>
          <p:nvPr/>
        </p:nvSpPr>
        <p:spPr>
          <a:xfrm>
            <a:off x="3410712" y="1417320"/>
            <a:ext cx="2788920" cy="1325880"/>
          </a:xfrm>
          <a:prstGeom prst="rect">
            <a:avLst/>
          </a:prstGeom>
          <a:solidFill>
            <a:srgbClr val="102238"/>
          </a:solidFill>
          <a:ln w="1651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508760"/>
            <a:ext cx="2606040" cy="640080"/>
          </a:xfrm>
          <a:prstGeom prst="rect">
            <a:avLst/>
          </a:prstGeom>
          <a:noFill/>
        </p:spPr>
        <p:txBody>
          <a:bodyPr wrap="square" lIns="36576" rIns="36576" tIns="18288" bIns="18288"/>
          <a:lstStyle/>
          <a:p>
            <a:pPr algn="ctr"/>
            <a:r>
              <a:rPr sz="2800" b="1">
                <a:solidFill>
                  <a:srgbClr val="F5A524"/>
                </a:solidFill>
                <a:latin typeface="Arial"/>
                <a:ea typeface="Arial"/>
                <a:cs typeface="Arial"/>
              </a:rPr>
              <a:t>50.0%</a:t>
            </a:r>
          </a:p>
        </p:txBody>
      </p:sp>
      <p:sp>
        <p:nvSpPr>
          <p:cNvPr id="14" name="TextBox 13"/>
          <p:cNvSpPr txBox="1"/>
          <p:nvPr/>
        </p:nvSpPr>
        <p:spPr>
          <a:xfrm>
            <a:off x="3502152" y="2148840"/>
            <a:ext cx="2606040" cy="411480"/>
          </a:xfrm>
          <a:prstGeom prst="rect">
            <a:avLst/>
          </a:prstGeom>
          <a:noFill/>
        </p:spPr>
        <p:txBody>
          <a:bodyPr wrap="square" lIns="36576" rIns="36576" tIns="18288" bIns="18288"/>
          <a:lstStyle/>
          <a:p>
            <a:pPr algn="ctr"/>
            <a:r>
              <a:rPr sz="1300" b="0">
                <a:solidFill>
                  <a:srgbClr val="F4F0E6"/>
                </a:solidFill>
                <a:latin typeface="Arial"/>
                <a:ea typeface="Arial"/>
                <a:cs typeface="Arial"/>
              </a:rPr>
              <a:t>Balanced accuracy</a:t>
            </a:r>
          </a:p>
        </p:txBody>
      </p:sp>
      <p:sp>
        <p:nvSpPr>
          <p:cNvPr id="15" name="Rectangle 14"/>
          <p:cNvSpPr/>
          <p:nvPr/>
        </p:nvSpPr>
        <p:spPr>
          <a:xfrm>
            <a:off x="6318504" y="1417320"/>
            <a:ext cx="2788920" cy="1325880"/>
          </a:xfrm>
          <a:prstGeom prst="rect">
            <a:avLst/>
          </a:prstGeom>
          <a:solidFill>
            <a:srgbClr val="102238"/>
          </a:solidFill>
          <a:ln w="1651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508760"/>
            <a:ext cx="2606040" cy="640080"/>
          </a:xfrm>
          <a:prstGeom prst="rect">
            <a:avLst/>
          </a:prstGeom>
          <a:noFill/>
        </p:spPr>
        <p:txBody>
          <a:bodyPr wrap="square" lIns="36576" rIns="36576" tIns="18288" bIns="18288"/>
          <a:lstStyle/>
          <a:p>
            <a:pPr algn="ctr"/>
            <a:r>
              <a:rPr sz="2800" b="1">
                <a:solidFill>
                  <a:srgbClr val="F5A524"/>
                </a:solidFill>
                <a:latin typeface="Arial"/>
                <a:ea typeface="Arial"/>
                <a:cs typeface="Arial"/>
              </a:rPr>
              <a:t>49.5%</a:t>
            </a:r>
          </a:p>
        </p:txBody>
      </p:sp>
      <p:sp>
        <p:nvSpPr>
          <p:cNvPr id="17" name="TextBox 16"/>
          <p:cNvSpPr txBox="1"/>
          <p:nvPr/>
        </p:nvSpPr>
        <p:spPr>
          <a:xfrm>
            <a:off x="6409944" y="2148840"/>
            <a:ext cx="2606040" cy="411480"/>
          </a:xfrm>
          <a:prstGeom prst="rect">
            <a:avLst/>
          </a:prstGeom>
          <a:noFill/>
        </p:spPr>
        <p:txBody>
          <a:bodyPr wrap="square" lIns="36576" rIns="36576" tIns="18288" bIns="18288"/>
          <a:lstStyle/>
          <a:p>
            <a:pPr algn="ctr"/>
            <a:r>
              <a:rPr sz="1300" b="0">
                <a:solidFill>
                  <a:srgbClr val="F4F0E6"/>
                </a:solidFill>
                <a:latin typeface="Arial"/>
                <a:ea typeface="Arial"/>
                <a:cs typeface="Arial"/>
              </a:rPr>
              <a:t>Macro F1</a:t>
            </a:r>
          </a:p>
        </p:txBody>
      </p:sp>
      <p:sp>
        <p:nvSpPr>
          <p:cNvPr id="18" name="Rectangle 17"/>
          <p:cNvSpPr/>
          <p:nvPr/>
        </p:nvSpPr>
        <p:spPr>
          <a:xfrm>
            <a:off x="9226296" y="1417320"/>
            <a:ext cx="2788920" cy="1325880"/>
          </a:xfrm>
          <a:prstGeom prst="rect">
            <a:avLst/>
          </a:prstGeom>
          <a:solidFill>
            <a:srgbClr val="102238"/>
          </a:solidFill>
          <a:ln w="1651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17736" y="1508760"/>
            <a:ext cx="2606040" cy="640080"/>
          </a:xfrm>
          <a:prstGeom prst="rect">
            <a:avLst/>
          </a:prstGeom>
          <a:noFill/>
        </p:spPr>
        <p:txBody>
          <a:bodyPr wrap="square" lIns="36576" rIns="36576" tIns="18288" bIns="18288"/>
          <a:lstStyle/>
          <a:p>
            <a:pPr algn="ctr"/>
            <a:r>
              <a:rPr sz="2800" b="1">
                <a:solidFill>
                  <a:srgbClr val="8BA3B8"/>
                </a:solidFill>
                <a:latin typeface="Arial"/>
                <a:ea typeface="Arial"/>
                <a:cs typeface="Arial"/>
              </a:rPr>
              <a:t>97.1%</a:t>
            </a:r>
          </a:p>
        </p:txBody>
      </p:sp>
      <p:sp>
        <p:nvSpPr>
          <p:cNvPr id="20" name="TextBox 19"/>
          <p:cNvSpPr txBox="1"/>
          <p:nvPr/>
        </p:nvSpPr>
        <p:spPr>
          <a:xfrm>
            <a:off x="9317736" y="2148840"/>
            <a:ext cx="2606040" cy="411480"/>
          </a:xfrm>
          <a:prstGeom prst="rect">
            <a:avLst/>
          </a:prstGeom>
          <a:noFill/>
        </p:spPr>
        <p:txBody>
          <a:bodyPr wrap="square" lIns="36576" rIns="36576" tIns="18288" bIns="18288"/>
          <a:lstStyle/>
          <a:p>
            <a:pPr algn="ctr"/>
            <a:r>
              <a:rPr sz="1300" b="0">
                <a:solidFill>
                  <a:srgbClr val="F4F0E6"/>
                </a:solidFill>
                <a:latin typeface="Arial"/>
                <a:ea typeface="Arial"/>
                <a:cs typeface="Arial"/>
              </a:rPr>
              <a:t>Weighted F1</a:t>
            </a:r>
          </a:p>
        </p:txBody>
      </p:sp>
      <p:pic>
        <p:nvPicPr>
          <p:cNvPr id="21" name="Picture 20" descr="cm.png"/>
          <p:cNvPicPr>
            <a:picLocks noChangeAspect="1"/>
          </p:cNvPicPr>
          <p:nvPr/>
        </p:nvPicPr>
        <p:blipFill>
          <a:blip r:embed="rId3"/>
          <a:stretch>
            <a:fillRect/>
          </a:stretch>
        </p:blipFill>
        <p:spPr>
          <a:xfrm>
            <a:off x="411480" y="2880360"/>
            <a:ext cx="5943600" cy="3383280"/>
          </a:xfrm>
          <a:prstGeom prst="rect">
            <a:avLst/>
          </a:prstGeom>
        </p:spPr>
      </p:pic>
      <p:sp>
        <p:nvSpPr>
          <p:cNvPr id="22" name="Rectangle 21"/>
          <p:cNvSpPr/>
          <p:nvPr/>
        </p:nvSpPr>
        <p:spPr>
          <a:xfrm>
            <a:off x="6492240" y="2926080"/>
            <a:ext cx="5184648" cy="3246120"/>
          </a:xfrm>
          <a:prstGeom prst="rect">
            <a:avLst/>
          </a:prstGeom>
          <a:solidFill>
            <a:srgbClr val="102238"/>
          </a:solidFill>
          <a:ln w="1778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063240"/>
            <a:ext cx="4846320" cy="365760"/>
          </a:xfrm>
          <a:prstGeom prst="rect">
            <a:avLst/>
          </a:prstGeom>
          <a:noFill/>
        </p:spPr>
        <p:txBody>
          <a:bodyPr wrap="square" lIns="36576" rIns="36576" tIns="18288" bIns="18288"/>
          <a:lstStyle/>
          <a:p>
            <a:pPr algn="l"/>
            <a:r>
              <a:rPr sz="1200" b="1">
                <a:solidFill>
                  <a:srgbClr val="F5A524"/>
                </a:solidFill>
                <a:latin typeface="Arial"/>
                <a:ea typeface="Arial"/>
                <a:cs typeface="Arial"/>
              </a:rPr>
              <a:t>READ THE HARD NUMBER</a:t>
            </a:r>
          </a:p>
        </p:txBody>
      </p:sp>
      <p:sp>
        <p:nvSpPr>
          <p:cNvPr id="24" name="TextBox 23"/>
          <p:cNvSpPr txBox="1"/>
          <p:nvPr/>
        </p:nvSpPr>
        <p:spPr>
          <a:xfrm>
            <a:off x="6675120" y="3474720"/>
            <a:ext cx="4846320" cy="2468880"/>
          </a:xfrm>
          <a:prstGeom prst="rect">
            <a:avLst/>
          </a:prstGeom>
          <a:noFill/>
        </p:spPr>
        <p:txBody>
          <a:bodyPr wrap="square" lIns="36576" rIns="36576" tIns="18288" bIns="18288"/>
          <a:lstStyle/>
          <a:p>
            <a:pPr algn="l"/>
            <a:r>
              <a:rPr sz="1500" b="0">
                <a:solidFill>
                  <a:srgbClr val="F4F0E6"/>
                </a:solidFill>
                <a:latin typeface="Arial"/>
                <a:ea typeface="Arial"/>
                <a:cs typeface="Arial"/>
              </a:rPr>
              <a:t>51 of 52 held-out days were Normal.
Accuracy is high because the test year was quiet.
The one Low next-day case was predicted Normal.
That is why FloodShield never lets ML override official FFD danger.</a:t>
            </a:r>
          </a:p>
        </p:txBody>
      </p:sp>
      <p:sp>
        <p:nvSpPr>
          <p:cNvPr id="25" name="Rectangle 24"/>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27" name="TextBox 26"/>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WHAT THE MODEL LISTENS TO</a:t>
            </a:r>
          </a:p>
        </p:txBody>
      </p:sp>
      <p:sp>
        <p:nvSpPr>
          <p:cNvPr id="7" name="TextBox 6"/>
          <p:cNvSpPr txBox="1"/>
          <p:nvPr/>
        </p:nvSpPr>
        <p:spPr>
          <a:xfrm>
            <a:off x="502920" y="420624"/>
            <a:ext cx="11173968" cy="502920"/>
          </a:xfrm>
          <a:prstGeom prst="rect">
            <a:avLst/>
          </a:prstGeom>
          <a:noFill/>
        </p:spPr>
        <p:txBody>
          <a:bodyPr wrap="square" lIns="36576" rIns="36576" tIns="18288" bIns="18288"/>
          <a:lstStyle/>
          <a:p>
            <a:pPr algn="l"/>
            <a:r>
              <a:rPr sz="2800" b="1">
                <a:solidFill>
                  <a:srgbClr val="F4F0E6"/>
                </a:solidFill>
                <a:latin typeface="Arial"/>
                <a:ea typeface="Arial"/>
                <a:cs typeface="Arial"/>
              </a:rPr>
              <a:t>What does the model actually listen to?</a:t>
            </a:r>
          </a:p>
        </p:txBody>
      </p:sp>
      <p:sp>
        <p:nvSpPr>
          <p:cNvPr id="8" name="TextBox 7"/>
          <p:cNvSpPr txBox="1"/>
          <p:nvPr/>
        </p:nvSpPr>
        <p:spPr>
          <a:xfrm>
            <a:off x="502920" y="1078992"/>
            <a:ext cx="11155680" cy="365760"/>
          </a:xfrm>
          <a:prstGeom prst="rect">
            <a:avLst/>
          </a:prstGeom>
          <a:noFill/>
        </p:spPr>
        <p:txBody>
          <a:bodyPr wrap="square" lIns="36576" rIns="36576" tIns="18288" bIns="18288"/>
          <a:lstStyle/>
          <a:p>
            <a:pPr algn="l"/>
            <a:r>
              <a:rPr sz="1400" b="0">
                <a:solidFill>
                  <a:srgbClr val="8BA3B8"/>
                </a:solidFill>
                <a:latin typeface="Arial"/>
                <a:ea typeface="Arial"/>
                <a:cs typeface="Arial"/>
              </a:rPr>
              <a:t>Feature importance shows association, not causation.  Six FFD-forecast features account for 34% of total importance.</a:t>
            </a:r>
          </a:p>
        </p:txBody>
      </p:sp>
      <p:pic>
        <p:nvPicPr>
          <p:cNvPr id="9" name="Picture 8" descr="feat.png"/>
          <p:cNvPicPr>
            <a:picLocks noChangeAspect="1"/>
          </p:cNvPicPr>
          <p:nvPr/>
        </p:nvPicPr>
        <p:blipFill>
          <a:blip r:embed="rId3"/>
          <a:stretch>
            <a:fillRect/>
          </a:stretch>
        </p:blipFill>
        <p:spPr>
          <a:xfrm>
            <a:off x="320040" y="1417320"/>
            <a:ext cx="7589520" cy="4709160"/>
          </a:xfrm>
          <a:prstGeom prst="rect">
            <a:avLst/>
          </a:prstGeom>
        </p:spPr>
      </p:pic>
      <p:sp>
        <p:nvSpPr>
          <p:cNvPr id="10" name="Rectangle 9"/>
          <p:cNvSpPr/>
          <p:nvPr/>
        </p:nvSpPr>
        <p:spPr>
          <a:xfrm>
            <a:off x="7955279" y="1554480"/>
            <a:ext cx="3721608" cy="4434840"/>
          </a:xfrm>
          <a:prstGeom prst="rect">
            <a:avLst/>
          </a:prstGeom>
          <a:solidFill>
            <a:srgbClr val="102238"/>
          </a:solidFill>
          <a:ln w="1651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737360"/>
            <a:ext cx="3383280" cy="365760"/>
          </a:xfrm>
          <a:prstGeom prst="rect">
            <a:avLst/>
          </a:prstGeom>
          <a:noFill/>
        </p:spPr>
        <p:txBody>
          <a:bodyPr wrap="square" lIns="36576" rIns="36576" tIns="18288" bIns="18288"/>
          <a:lstStyle/>
          <a:p>
            <a:pPr algn="l"/>
            <a:r>
              <a:rPr sz="1200" b="1">
                <a:solidFill>
                  <a:srgbClr val="5CE1E6"/>
                </a:solidFill>
                <a:latin typeface="Arial"/>
                <a:ea typeface="Arial"/>
                <a:cs typeface="Arial"/>
              </a:rPr>
              <a:t>MAIN PATTERN</a:t>
            </a:r>
          </a:p>
        </p:txBody>
      </p:sp>
      <p:sp>
        <p:nvSpPr>
          <p:cNvPr id="12" name="TextBox 11"/>
          <p:cNvSpPr txBox="1"/>
          <p:nvPr/>
        </p:nvSpPr>
        <p:spPr>
          <a:xfrm>
            <a:off x="8138160" y="2194560"/>
            <a:ext cx="3383280" cy="2194560"/>
          </a:xfrm>
          <a:prstGeom prst="rect">
            <a:avLst/>
          </a:prstGeom>
          <a:noFill/>
        </p:spPr>
        <p:txBody>
          <a:bodyPr wrap="square" lIns="36576" rIns="36576" tIns="18288" bIns="18288"/>
          <a:lstStyle/>
          <a:p>
            <a:pPr algn="l"/>
            <a:r>
              <a:rPr sz="2000" b="1">
                <a:solidFill>
                  <a:srgbClr val="F4F0E6"/>
                </a:solidFill>
                <a:latin typeface="Arial"/>
                <a:ea typeface="Arial"/>
                <a:cs typeface="Arial"/>
              </a:rPr>
              <a:t>Forecast change and FFD’s 24-hour outlook dominate the learned signal.</a:t>
            </a:r>
          </a:p>
        </p:txBody>
      </p:sp>
      <p:sp>
        <p:nvSpPr>
          <p:cNvPr id="13" name="TextBox 12"/>
          <p:cNvSpPr txBox="1"/>
          <p:nvPr/>
        </p:nvSpPr>
        <p:spPr>
          <a:xfrm>
            <a:off x="8138160" y="4572000"/>
            <a:ext cx="3383280" cy="1097280"/>
          </a:xfrm>
          <a:prstGeom prst="rect">
            <a:avLst/>
          </a:prstGeom>
          <a:noFill/>
        </p:spPr>
        <p:txBody>
          <a:bodyPr wrap="square" lIns="36576" rIns="36576" tIns="18288" bIns="18288"/>
          <a:lstStyle/>
          <a:p>
            <a:pPr algn="l"/>
            <a:r>
              <a:rPr sz="1300" b="0">
                <a:solidFill>
                  <a:srgbClr val="8BA3B8"/>
                </a:solidFill>
                <a:latin typeface="Arial"/>
                <a:ea typeface="Arial"/>
                <a:cs typeface="Arial"/>
              </a:rPr>
              <a:t>Top values are mean-decrease-in-impurity from the saved Random Forest in floodshield_feature_importance.csv.</a:t>
            </a:r>
          </a:p>
        </p:txBody>
      </p:sp>
      <p:sp>
        <p:nvSpPr>
          <p:cNvPr id="14" name="Rectangle 13"/>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16" name="TextBox 15"/>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RESPONSIBLE AI</a:t>
            </a:r>
          </a:p>
        </p:txBody>
      </p:sp>
      <p:sp>
        <p:nvSpPr>
          <p:cNvPr id="7" name="TextBox 6"/>
          <p:cNvSpPr txBox="1"/>
          <p:nvPr/>
        </p:nvSpPr>
        <p:spPr>
          <a:xfrm>
            <a:off x="502920" y="420624"/>
            <a:ext cx="11173968" cy="640080"/>
          </a:xfrm>
          <a:prstGeom prst="rect">
            <a:avLst/>
          </a:prstGeom>
          <a:noFill/>
        </p:spPr>
        <p:txBody>
          <a:bodyPr wrap="square" lIns="36576" rIns="36576" tIns="18288" bIns="18288"/>
          <a:lstStyle/>
          <a:p>
            <a:pPr algn="l"/>
            <a:r>
              <a:rPr sz="2800" b="1">
                <a:solidFill>
                  <a:srgbClr val="F4F0E6"/>
                </a:solidFill>
                <a:latin typeface="Arial"/>
                <a:ea typeface="Arial"/>
                <a:cs typeface="Arial"/>
              </a:rPr>
              <a:t>We deliberately took AI away from the most dangerous decision.</a:t>
            </a:r>
          </a:p>
        </p:txBody>
      </p:sp>
      <p:sp>
        <p:nvSpPr>
          <p:cNvPr id="8" name="Rectangle 7"/>
          <p:cNvSpPr/>
          <p:nvPr/>
        </p:nvSpPr>
        <p:spPr>
          <a:xfrm>
            <a:off x="365760" y="1325880"/>
            <a:ext cx="1847088" cy="777240"/>
          </a:xfrm>
          <a:prstGeom prst="rect">
            <a:avLst/>
          </a:prstGeom>
          <a:solidFill>
            <a:srgbClr val="102238"/>
          </a:solidFill>
          <a:ln w="1397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25880"/>
            <a:ext cx="1755648" cy="777240"/>
          </a:xfrm>
          <a:prstGeom prst="rect">
            <a:avLst/>
          </a:prstGeom>
          <a:noFill/>
        </p:spPr>
        <p:txBody>
          <a:bodyPr wrap="square" lIns="36576" rIns="36576" tIns="18288" bIns="18288"/>
          <a:lstStyle/>
          <a:p>
            <a:pPr algn="ctr"/>
            <a:r>
              <a:rPr sz="1100" b="1">
                <a:solidFill>
                  <a:srgbClr val="F4F0E6"/>
                </a:solidFill>
                <a:latin typeface="Arial"/>
                <a:ea typeface="Arial"/>
                <a:cs typeface="Arial"/>
              </a:rPr>
              <a:t>OFFICIAL DATA</a:t>
            </a:r>
          </a:p>
        </p:txBody>
      </p:sp>
      <p:sp>
        <p:nvSpPr>
          <p:cNvPr id="10" name="Right Arrow 9"/>
          <p:cNvSpPr/>
          <p:nvPr/>
        </p:nvSpPr>
        <p:spPr>
          <a:xfrm>
            <a:off x="2212848" y="1600200"/>
            <a:ext cx="11887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31720" y="1325880"/>
            <a:ext cx="1847088" cy="777240"/>
          </a:xfrm>
          <a:prstGeom prst="rect">
            <a:avLst/>
          </a:prstGeom>
          <a:solidFill>
            <a:srgbClr val="102238"/>
          </a:solidFill>
          <a:ln w="1397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39" y="1325880"/>
            <a:ext cx="1755648" cy="777240"/>
          </a:xfrm>
          <a:prstGeom prst="rect">
            <a:avLst/>
          </a:prstGeom>
          <a:noFill/>
        </p:spPr>
        <p:txBody>
          <a:bodyPr wrap="square" lIns="36576" rIns="36576" tIns="18288" bIns="18288"/>
          <a:lstStyle/>
          <a:p>
            <a:pPr algn="ctr"/>
            <a:r>
              <a:rPr sz="1100" b="1">
                <a:solidFill>
                  <a:srgbClr val="F4F0E6"/>
                </a:solidFill>
                <a:latin typeface="Arial"/>
                <a:ea typeface="Arial"/>
                <a:cs typeface="Arial"/>
              </a:rPr>
              <a:t>THRESHOLD + ML</a:t>
            </a:r>
          </a:p>
        </p:txBody>
      </p:sp>
      <p:sp>
        <p:nvSpPr>
          <p:cNvPr id="13" name="Right Arrow 12"/>
          <p:cNvSpPr/>
          <p:nvPr/>
        </p:nvSpPr>
        <p:spPr>
          <a:xfrm>
            <a:off x="4178808" y="1600200"/>
            <a:ext cx="11887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25880"/>
            <a:ext cx="1847088" cy="777240"/>
          </a:xfrm>
          <a:prstGeom prst="rect">
            <a:avLst/>
          </a:prstGeom>
          <a:solidFill>
            <a:srgbClr val="0E6E6B"/>
          </a:solidFill>
          <a:ln w="1397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325880"/>
            <a:ext cx="1755648" cy="777240"/>
          </a:xfrm>
          <a:prstGeom prst="rect">
            <a:avLst/>
          </a:prstGeom>
          <a:noFill/>
        </p:spPr>
        <p:txBody>
          <a:bodyPr wrap="square" lIns="36576" rIns="36576" tIns="18288" bIns="18288"/>
          <a:lstStyle/>
          <a:p>
            <a:pPr algn="ctr"/>
            <a:r>
              <a:rPr sz="1100" b="1">
                <a:solidFill>
                  <a:srgbClr val="F4F0E6"/>
                </a:solidFill>
                <a:latin typeface="Arial"/>
                <a:ea typeface="Arial"/>
                <a:cs typeface="Arial"/>
              </a:rPr>
              <a:t>MAX-RISK FUSION</a:t>
            </a:r>
          </a:p>
        </p:txBody>
      </p:sp>
      <p:sp>
        <p:nvSpPr>
          <p:cNvPr id="16" name="Right Arrow 15"/>
          <p:cNvSpPr/>
          <p:nvPr/>
        </p:nvSpPr>
        <p:spPr>
          <a:xfrm>
            <a:off x="6144768" y="1600200"/>
            <a:ext cx="11887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325880"/>
            <a:ext cx="1847088" cy="777240"/>
          </a:xfrm>
          <a:prstGeom prst="rect">
            <a:avLst/>
          </a:prstGeom>
          <a:solidFill>
            <a:srgbClr val="0E6E6B"/>
          </a:solidFill>
          <a:ln w="1397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1325880"/>
            <a:ext cx="1755648" cy="777240"/>
          </a:xfrm>
          <a:prstGeom prst="rect">
            <a:avLst/>
          </a:prstGeom>
          <a:noFill/>
        </p:spPr>
        <p:txBody>
          <a:bodyPr wrap="square" lIns="36576" rIns="36576" tIns="18288" bIns="18288"/>
          <a:lstStyle/>
          <a:p>
            <a:pPr algn="ctr"/>
            <a:r>
              <a:rPr sz="1100" b="1">
                <a:solidFill>
                  <a:srgbClr val="F4F0E6"/>
                </a:solidFill>
                <a:latin typeface="Arial"/>
                <a:ea typeface="Arial"/>
                <a:cs typeface="Arial"/>
              </a:rPr>
              <a:t>RISK LEVEL LOCKED</a:t>
            </a:r>
          </a:p>
        </p:txBody>
      </p:sp>
      <p:sp>
        <p:nvSpPr>
          <p:cNvPr id="19" name="Right Arrow 18"/>
          <p:cNvSpPr/>
          <p:nvPr/>
        </p:nvSpPr>
        <p:spPr>
          <a:xfrm>
            <a:off x="8110727" y="1600200"/>
            <a:ext cx="11887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325880"/>
            <a:ext cx="1847088" cy="777240"/>
          </a:xfrm>
          <a:prstGeom prst="rect">
            <a:avLst/>
          </a:prstGeom>
          <a:solidFill>
            <a:srgbClr val="102238"/>
          </a:solidFill>
          <a:ln w="1397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325880"/>
            <a:ext cx="1755648" cy="777240"/>
          </a:xfrm>
          <a:prstGeom prst="rect">
            <a:avLst/>
          </a:prstGeom>
          <a:noFill/>
        </p:spPr>
        <p:txBody>
          <a:bodyPr wrap="square" lIns="36576" rIns="36576" tIns="18288" bIns="18288"/>
          <a:lstStyle/>
          <a:p>
            <a:pPr algn="ctr"/>
            <a:r>
              <a:rPr sz="1100" b="1">
                <a:solidFill>
                  <a:srgbClr val="F4F0E6"/>
                </a:solidFill>
                <a:latin typeface="Arial"/>
                <a:ea typeface="Arial"/>
                <a:cs typeface="Arial"/>
              </a:rPr>
              <a:t>QWEN / TEMPLATES</a:t>
            </a:r>
          </a:p>
        </p:txBody>
      </p:sp>
      <p:sp>
        <p:nvSpPr>
          <p:cNvPr id="22" name="Right Arrow 21"/>
          <p:cNvSpPr/>
          <p:nvPr/>
        </p:nvSpPr>
        <p:spPr>
          <a:xfrm>
            <a:off x="10076688" y="1600200"/>
            <a:ext cx="118872"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95560" y="1325880"/>
            <a:ext cx="1847088" cy="777240"/>
          </a:xfrm>
          <a:prstGeom prst="rect">
            <a:avLst/>
          </a:prstGeom>
          <a:solidFill>
            <a:srgbClr val="102238"/>
          </a:solidFill>
          <a:ln w="1397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0" y="1325880"/>
            <a:ext cx="1755648" cy="777240"/>
          </a:xfrm>
          <a:prstGeom prst="rect">
            <a:avLst/>
          </a:prstGeom>
          <a:noFill/>
        </p:spPr>
        <p:txBody>
          <a:bodyPr wrap="square" lIns="36576" rIns="36576" tIns="18288" bIns="18288"/>
          <a:lstStyle/>
          <a:p>
            <a:pPr algn="ctr"/>
            <a:r>
              <a:rPr sz="1100" b="1">
                <a:solidFill>
                  <a:srgbClr val="F4F0E6"/>
                </a:solidFill>
                <a:latin typeface="Arial"/>
                <a:ea typeface="Arial"/>
                <a:cs typeface="Arial"/>
              </a:rPr>
              <a:t>EN + URDU</a:t>
            </a:r>
          </a:p>
        </p:txBody>
      </p:sp>
      <p:sp>
        <p:nvSpPr>
          <p:cNvPr id="25" name="Rectangle 24"/>
          <p:cNvSpPr/>
          <p:nvPr/>
        </p:nvSpPr>
        <p:spPr>
          <a:xfrm>
            <a:off x="502920" y="2286000"/>
            <a:ext cx="5532120" cy="3246120"/>
          </a:xfrm>
          <a:prstGeom prst="rect">
            <a:avLst/>
          </a:prstGeom>
          <a:solidFill>
            <a:srgbClr val="102238"/>
          </a:solidFill>
          <a:ln w="1651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395728"/>
            <a:ext cx="5166360" cy="320040"/>
          </a:xfrm>
          <a:prstGeom prst="rect">
            <a:avLst/>
          </a:prstGeom>
          <a:noFill/>
        </p:spPr>
        <p:txBody>
          <a:bodyPr wrap="square" lIns="36576" rIns="36576" tIns="18288" bIns="18288"/>
          <a:lstStyle/>
          <a:p>
            <a:pPr algn="l"/>
            <a:r>
              <a:rPr sz="1600" b="1">
                <a:solidFill>
                  <a:srgbClr val="5CE1E6"/>
                </a:solidFill>
                <a:latin typeface="Arial"/>
                <a:ea typeface="Arial"/>
                <a:cs typeface="Arial"/>
              </a:rPr>
              <a:t>QWEN CAN</a:t>
            </a:r>
          </a:p>
        </p:txBody>
      </p:sp>
      <p:sp>
        <p:nvSpPr>
          <p:cNvPr id="27" name="Rectangle 26"/>
          <p:cNvSpPr/>
          <p:nvPr/>
        </p:nvSpPr>
        <p:spPr>
          <a:xfrm>
            <a:off x="731520" y="2816352"/>
            <a:ext cx="5074920" cy="68580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2816352"/>
            <a:ext cx="4754880" cy="685800"/>
          </a:xfrm>
          <a:prstGeom prst="rect">
            <a:avLst/>
          </a:prstGeom>
          <a:noFill/>
        </p:spPr>
        <p:txBody>
          <a:bodyPr wrap="square" lIns="36576" rIns="36576" tIns="18288" bIns="18288"/>
          <a:lstStyle/>
          <a:p>
            <a:pPr algn="l"/>
            <a:r>
              <a:rPr sz="1500" b="0">
                <a:solidFill>
                  <a:srgbClr val="F4F0E6"/>
                </a:solidFill>
                <a:latin typeface="Arial"/>
                <a:ea typeface="Arial"/>
                <a:cs typeface="Arial"/>
              </a:rPr>
              <a:t>Phrase the already-decided alert</a:t>
            </a:r>
          </a:p>
        </p:txBody>
      </p:sp>
      <p:sp>
        <p:nvSpPr>
          <p:cNvPr id="29" name="Rectangle 28"/>
          <p:cNvSpPr/>
          <p:nvPr/>
        </p:nvSpPr>
        <p:spPr>
          <a:xfrm>
            <a:off x="731520" y="3621024"/>
            <a:ext cx="5074920" cy="68580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621024"/>
            <a:ext cx="4754880" cy="685800"/>
          </a:xfrm>
          <a:prstGeom prst="rect">
            <a:avLst/>
          </a:prstGeom>
          <a:noFill/>
        </p:spPr>
        <p:txBody>
          <a:bodyPr wrap="square" lIns="36576" rIns="36576" tIns="18288" bIns="18288"/>
          <a:lstStyle/>
          <a:p>
            <a:pPr algn="l"/>
            <a:r>
              <a:rPr sz="1500" b="0">
                <a:solidFill>
                  <a:srgbClr val="F4F0E6"/>
                </a:solidFill>
                <a:latin typeface="Arial"/>
                <a:ea typeface="Arial"/>
                <a:cs typeface="Arial"/>
              </a:rPr>
              <a:t>Explain the three signals simply</a:t>
            </a:r>
          </a:p>
        </p:txBody>
      </p:sp>
      <p:sp>
        <p:nvSpPr>
          <p:cNvPr id="31" name="Rectangle 30"/>
          <p:cNvSpPr/>
          <p:nvPr/>
        </p:nvSpPr>
        <p:spPr>
          <a:xfrm>
            <a:off x="731520" y="4425696"/>
            <a:ext cx="5074920" cy="68580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25696"/>
            <a:ext cx="4754880" cy="685800"/>
          </a:xfrm>
          <a:prstGeom prst="rect">
            <a:avLst/>
          </a:prstGeom>
          <a:noFill/>
        </p:spPr>
        <p:txBody>
          <a:bodyPr wrap="square" lIns="36576" rIns="36576" tIns="18288" bIns="18288"/>
          <a:lstStyle/>
          <a:p>
            <a:pPr algn="l"/>
            <a:r>
              <a:rPr sz="1500" b="0">
                <a:solidFill>
                  <a:srgbClr val="F4F0E6"/>
                </a:solidFill>
                <a:latin typeface="Arial"/>
                <a:ea typeface="Arial"/>
                <a:cs typeface="Arial"/>
              </a:rPr>
              <a:t>Translate into Urdu</a:t>
            </a:r>
          </a:p>
        </p:txBody>
      </p:sp>
      <p:sp>
        <p:nvSpPr>
          <p:cNvPr id="33" name="Rectangle 32"/>
          <p:cNvSpPr/>
          <p:nvPr/>
        </p:nvSpPr>
        <p:spPr>
          <a:xfrm>
            <a:off x="6217920" y="2286000"/>
            <a:ext cx="5458968" cy="3246120"/>
          </a:xfrm>
          <a:prstGeom prst="rect">
            <a:avLst/>
          </a:prstGeom>
          <a:solidFill>
            <a:srgbClr val="102238"/>
          </a:solidFill>
          <a:ln w="16510">
            <a:solidFill>
              <a:srgbClr val="E2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395728"/>
            <a:ext cx="5074920" cy="320040"/>
          </a:xfrm>
          <a:prstGeom prst="rect">
            <a:avLst/>
          </a:prstGeom>
          <a:noFill/>
        </p:spPr>
        <p:txBody>
          <a:bodyPr wrap="square" lIns="36576" rIns="36576" tIns="18288" bIns="18288"/>
          <a:lstStyle/>
          <a:p>
            <a:pPr algn="l"/>
            <a:r>
              <a:rPr sz="1600" b="1">
                <a:solidFill>
                  <a:srgbClr val="E23B3B"/>
                </a:solidFill>
                <a:latin typeface="Arial"/>
                <a:ea typeface="Arial"/>
                <a:cs typeface="Arial"/>
              </a:rPr>
              <a:t>QWEN CANNOT</a:t>
            </a:r>
          </a:p>
        </p:txBody>
      </p:sp>
      <p:sp>
        <p:nvSpPr>
          <p:cNvPr id="35" name="Rectangle 34"/>
          <p:cNvSpPr/>
          <p:nvPr/>
        </p:nvSpPr>
        <p:spPr>
          <a:xfrm>
            <a:off x="6446520" y="2788920"/>
            <a:ext cx="5029200" cy="566928"/>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2788920"/>
            <a:ext cx="4709160" cy="566928"/>
          </a:xfrm>
          <a:prstGeom prst="rect">
            <a:avLst/>
          </a:prstGeom>
          <a:noFill/>
        </p:spPr>
        <p:txBody>
          <a:bodyPr wrap="square" lIns="36576" rIns="36576" tIns="18288" bIns="18288"/>
          <a:lstStyle/>
          <a:p>
            <a:pPr algn="l"/>
            <a:r>
              <a:rPr sz="1400" b="0">
                <a:solidFill>
                  <a:srgbClr val="F4F0E6"/>
                </a:solidFill>
                <a:latin typeface="Arial"/>
                <a:ea typeface="Arial"/>
                <a:cs typeface="Arial"/>
              </a:rPr>
              <a:t>Change the risk level</a:t>
            </a:r>
          </a:p>
        </p:txBody>
      </p:sp>
      <p:sp>
        <p:nvSpPr>
          <p:cNvPr id="37" name="Rectangle 36"/>
          <p:cNvSpPr/>
          <p:nvPr/>
        </p:nvSpPr>
        <p:spPr>
          <a:xfrm>
            <a:off x="6446520" y="3429000"/>
            <a:ext cx="5029200" cy="566928"/>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9400" y="3429000"/>
            <a:ext cx="4709160" cy="566928"/>
          </a:xfrm>
          <a:prstGeom prst="rect">
            <a:avLst/>
          </a:prstGeom>
          <a:noFill/>
        </p:spPr>
        <p:txBody>
          <a:bodyPr wrap="square" lIns="36576" rIns="36576" tIns="18288" bIns="18288"/>
          <a:lstStyle/>
          <a:p>
            <a:pPr algn="l"/>
            <a:r>
              <a:rPr sz="1400" b="0">
                <a:solidFill>
                  <a:srgbClr val="F4F0E6"/>
                </a:solidFill>
                <a:latin typeface="Arial"/>
                <a:ea typeface="Arial"/>
                <a:cs typeface="Arial"/>
              </a:rPr>
              <a:t>Invent measurements</a:t>
            </a:r>
          </a:p>
        </p:txBody>
      </p:sp>
      <p:sp>
        <p:nvSpPr>
          <p:cNvPr id="39" name="Rectangle 38"/>
          <p:cNvSpPr/>
          <p:nvPr/>
        </p:nvSpPr>
        <p:spPr>
          <a:xfrm>
            <a:off x="6446520" y="4069079"/>
            <a:ext cx="5029200" cy="566928"/>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4069079"/>
            <a:ext cx="4709160" cy="566928"/>
          </a:xfrm>
          <a:prstGeom prst="rect">
            <a:avLst/>
          </a:prstGeom>
          <a:noFill/>
        </p:spPr>
        <p:txBody>
          <a:bodyPr wrap="square" lIns="36576" rIns="36576" tIns="18288" bIns="18288"/>
          <a:lstStyle/>
          <a:p>
            <a:pPr algn="l"/>
            <a:r>
              <a:rPr sz="1400" b="0">
                <a:solidFill>
                  <a:srgbClr val="F4F0E6"/>
                </a:solidFill>
                <a:latin typeface="Arial"/>
                <a:ea typeface="Arial"/>
                <a:cs typeface="Arial"/>
              </a:rPr>
              <a:t>Invent evacuation orders</a:t>
            </a:r>
          </a:p>
        </p:txBody>
      </p:sp>
      <p:sp>
        <p:nvSpPr>
          <p:cNvPr id="41" name="Rectangle 40"/>
          <p:cNvSpPr/>
          <p:nvPr/>
        </p:nvSpPr>
        <p:spPr>
          <a:xfrm>
            <a:off x="6446520" y="4709159"/>
            <a:ext cx="5029200" cy="566928"/>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0" y="4709159"/>
            <a:ext cx="4709160" cy="566928"/>
          </a:xfrm>
          <a:prstGeom prst="rect">
            <a:avLst/>
          </a:prstGeom>
          <a:noFill/>
        </p:spPr>
        <p:txBody>
          <a:bodyPr wrap="square" lIns="36576" rIns="36576" tIns="18288" bIns="18288"/>
          <a:lstStyle/>
          <a:p>
            <a:pPr algn="l"/>
            <a:r>
              <a:rPr sz="1400" b="0">
                <a:solidFill>
                  <a:srgbClr val="F4F0E6"/>
                </a:solidFill>
                <a:latin typeface="Arial"/>
                <a:ea typeface="Arial"/>
                <a:cs typeface="Arial"/>
              </a:rPr>
              <a:t>Override official danger</a:t>
            </a:r>
          </a:p>
        </p:txBody>
      </p:sp>
      <p:sp>
        <p:nvSpPr>
          <p:cNvPr id="43" name="Rectangle 42"/>
          <p:cNvSpPr/>
          <p:nvPr/>
        </p:nvSpPr>
        <p:spPr>
          <a:xfrm>
            <a:off x="502920" y="5650992"/>
            <a:ext cx="11173968" cy="658368"/>
          </a:xfrm>
          <a:prstGeom prst="rect">
            <a:avLst/>
          </a:prstGeom>
          <a:solidFill>
            <a:srgbClr val="142C45"/>
          </a:solidFill>
          <a:ln w="1397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650992"/>
            <a:ext cx="10835640" cy="658368"/>
          </a:xfrm>
          <a:prstGeom prst="rect">
            <a:avLst/>
          </a:prstGeom>
          <a:noFill/>
        </p:spPr>
        <p:txBody>
          <a:bodyPr wrap="square" lIns="36576" rIns="36576" tIns="18288" bIns="18288"/>
          <a:lstStyle/>
          <a:p>
            <a:pPr algn="l"/>
            <a:r>
              <a:rPr sz="1400" b="1">
                <a:solidFill>
                  <a:srgbClr val="F4F0E6"/>
                </a:solidFill>
                <a:latin typeface="Arial"/>
                <a:ea typeface="Arial"/>
                <a:cs typeface="Arial"/>
              </a:rPr>
              <a:t>If Qwen is unavailable, deterministic English + Urdu templates still fire. The risk level stays locked.</a:t>
            </a:r>
          </a:p>
        </p:txBody>
      </p:sp>
      <p:sp>
        <p:nvSpPr>
          <p:cNvPr id="45" name="Rectangle 44"/>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7" name="TextBox 46"/>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LIVE DEMO</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Let’s watch FloodShield make a decision.</a:t>
            </a:r>
          </a:p>
        </p:txBody>
      </p:sp>
      <p:sp>
        <p:nvSpPr>
          <p:cNvPr id="8" name="TextBox 7"/>
          <p:cNvSpPr txBox="1"/>
          <p:nvPr/>
        </p:nvSpPr>
        <p:spPr>
          <a:xfrm>
            <a:off x="502920" y="1024128"/>
            <a:ext cx="11155680" cy="256032"/>
          </a:xfrm>
          <a:prstGeom prst="rect">
            <a:avLst/>
          </a:prstGeom>
          <a:noFill/>
        </p:spPr>
        <p:txBody>
          <a:bodyPr wrap="square" lIns="36576" rIns="36576" tIns="18288" bIns="18288"/>
          <a:lstStyle/>
          <a:p>
            <a:pPr algn="l"/>
            <a:r>
              <a:rPr sz="1300" b="0">
                <a:solidFill>
                  <a:srgbClr val="8BA3B8"/>
                </a:solidFill>
                <a:latin typeface="Arial"/>
                <a:ea typeface="Arial"/>
                <a:cs typeface="Arial"/>
              </a:rPr>
              <a:t>Worked example from the saved live engine run  ·  4 September 2026  ·  Chenab @ Marala</a:t>
            </a:r>
          </a:p>
        </p:txBody>
      </p:sp>
      <p:sp>
        <p:nvSpPr>
          <p:cNvPr id="9" name="Rectangle 8"/>
          <p:cNvSpPr/>
          <p:nvPr/>
        </p:nvSpPr>
        <p:spPr>
          <a:xfrm>
            <a:off x="457200" y="1371600"/>
            <a:ext cx="6720840" cy="48006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6720840" cy="5029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371600"/>
            <a:ext cx="4206240" cy="502920"/>
          </a:xfrm>
          <a:prstGeom prst="rect">
            <a:avLst/>
          </a:prstGeom>
          <a:noFill/>
        </p:spPr>
        <p:txBody>
          <a:bodyPr wrap="square" lIns="36576" rIns="36576" tIns="18288" bIns="18288"/>
          <a:lstStyle/>
          <a:p>
            <a:pPr algn="l"/>
            <a:r>
              <a:rPr sz="1400" b="1">
                <a:solidFill>
                  <a:srgbClr val="FFFFFF"/>
                </a:solidFill>
                <a:latin typeface="Arial"/>
                <a:ea typeface="Arial"/>
                <a:cs typeface="Arial"/>
              </a:rPr>
              <a:t>AI FLOODSHIELD PAK</a:t>
            </a:r>
          </a:p>
        </p:txBody>
      </p:sp>
      <p:sp>
        <p:nvSpPr>
          <p:cNvPr id="12" name="TextBox 11"/>
          <p:cNvSpPr txBox="1"/>
          <p:nvPr/>
        </p:nvSpPr>
        <p:spPr>
          <a:xfrm>
            <a:off x="4846320" y="1371600"/>
            <a:ext cx="2148840" cy="502920"/>
          </a:xfrm>
          <a:prstGeom prst="rect">
            <a:avLst/>
          </a:prstGeom>
          <a:noFill/>
        </p:spPr>
        <p:txBody>
          <a:bodyPr wrap="square" lIns="36576" rIns="36576" tIns="18288" bIns="18288"/>
          <a:lstStyle/>
          <a:p>
            <a:pPr algn="r"/>
            <a:r>
              <a:rPr sz="1100" b="0">
                <a:solidFill>
                  <a:srgbClr val="5CE1E6"/>
                </a:solidFill>
                <a:latin typeface="Arial"/>
                <a:ea typeface="Arial"/>
                <a:cs typeface="Arial"/>
              </a:rPr>
              <a:t>LIVE  ·  04 Sep 2026</a:t>
            </a:r>
          </a:p>
        </p:txBody>
      </p:sp>
      <p:sp>
        <p:nvSpPr>
          <p:cNvPr id="13" name="TextBox 12"/>
          <p:cNvSpPr txBox="1"/>
          <p:nvPr/>
        </p:nvSpPr>
        <p:spPr>
          <a:xfrm>
            <a:off x="640080" y="1965960"/>
            <a:ext cx="6400800" cy="256032"/>
          </a:xfrm>
          <a:prstGeom prst="rect">
            <a:avLst/>
          </a:prstGeom>
          <a:noFill/>
        </p:spPr>
        <p:txBody>
          <a:bodyPr wrap="square" lIns="36576" rIns="36576" tIns="18288" bIns="18288"/>
          <a:lstStyle/>
          <a:p>
            <a:pPr algn="l"/>
            <a:r>
              <a:rPr sz="1100" b="1">
                <a:solidFill>
                  <a:srgbClr val="5C7388"/>
                </a:solidFill>
                <a:latin typeface="Arial"/>
                <a:ea typeface="Arial"/>
                <a:cs typeface="Arial"/>
              </a:rPr>
              <a:t>FINAL ALERT LEVEL</a:t>
            </a:r>
          </a:p>
        </p:txBody>
      </p:sp>
      <p:sp>
        <p:nvSpPr>
          <p:cNvPr id="14" name="TextBox 13"/>
          <p:cNvSpPr txBox="1"/>
          <p:nvPr/>
        </p:nvSpPr>
        <p:spPr>
          <a:xfrm>
            <a:off x="640080" y="2194560"/>
            <a:ext cx="3200400" cy="640080"/>
          </a:xfrm>
          <a:prstGeom prst="rect">
            <a:avLst/>
          </a:prstGeom>
          <a:noFill/>
        </p:spPr>
        <p:txBody>
          <a:bodyPr wrap="square" lIns="36576" rIns="36576" tIns="18288" bIns="18288"/>
          <a:lstStyle/>
          <a:p>
            <a:pPr algn="l"/>
            <a:r>
              <a:rPr sz="4000" b="1">
                <a:solidFill>
                  <a:srgbClr val="F5A524"/>
                </a:solidFill>
                <a:latin typeface="Arial"/>
                <a:ea typeface="Arial"/>
                <a:cs typeface="Arial"/>
              </a:rPr>
              <a:t>LOW</a:t>
            </a:r>
          </a:p>
        </p:txBody>
      </p:sp>
      <p:sp>
        <p:nvSpPr>
          <p:cNvPr id="15" name="Rectangle 14"/>
          <p:cNvSpPr/>
          <p:nvPr/>
        </p:nvSpPr>
        <p:spPr>
          <a:xfrm>
            <a:off x="640080" y="2926080"/>
            <a:ext cx="1965960" cy="960120"/>
          </a:xfrm>
          <a:prstGeom prst="rect">
            <a:avLst/>
          </a:prstGeom>
          <a:solidFill>
            <a:srgbClr val="EEF4F3"/>
          </a:solidFill>
          <a:ln w="1016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971800"/>
            <a:ext cx="1965960" cy="502920"/>
          </a:xfrm>
          <a:prstGeom prst="rect">
            <a:avLst/>
          </a:prstGeom>
          <a:noFill/>
        </p:spPr>
        <p:txBody>
          <a:bodyPr wrap="square" lIns="36576" rIns="36576" tIns="18288" bIns="18288"/>
          <a:lstStyle/>
          <a:p>
            <a:pPr algn="ctr"/>
            <a:r>
              <a:rPr sz="1800" b="1">
                <a:solidFill>
                  <a:srgbClr val="121A26"/>
                </a:solidFill>
                <a:latin typeface="Arial"/>
                <a:ea typeface="Arial"/>
                <a:cs typeface="Arial"/>
              </a:rPr>
              <a:t>51.9k</a:t>
            </a:r>
          </a:p>
        </p:txBody>
      </p:sp>
      <p:sp>
        <p:nvSpPr>
          <p:cNvPr id="17" name="TextBox 16"/>
          <p:cNvSpPr txBox="1"/>
          <p:nvPr/>
        </p:nvSpPr>
        <p:spPr>
          <a:xfrm>
            <a:off x="640080" y="3429000"/>
            <a:ext cx="1965960" cy="365760"/>
          </a:xfrm>
          <a:prstGeom prst="rect">
            <a:avLst/>
          </a:prstGeom>
          <a:noFill/>
        </p:spPr>
        <p:txBody>
          <a:bodyPr wrap="square" lIns="36576" rIns="36576" tIns="18288" bIns="18288"/>
          <a:lstStyle/>
          <a:p>
            <a:pPr algn="ctr"/>
            <a:r>
              <a:rPr sz="1100" b="0">
                <a:solidFill>
                  <a:srgbClr val="5C7388"/>
                </a:solidFill>
                <a:latin typeface="Arial"/>
                <a:ea typeface="Arial"/>
                <a:cs typeface="Arial"/>
              </a:rPr>
              <a:t>Inflow</a:t>
            </a:r>
          </a:p>
        </p:txBody>
      </p:sp>
      <p:sp>
        <p:nvSpPr>
          <p:cNvPr id="18" name="Rectangle 17"/>
          <p:cNvSpPr/>
          <p:nvPr/>
        </p:nvSpPr>
        <p:spPr>
          <a:xfrm>
            <a:off x="2743200" y="2926080"/>
            <a:ext cx="1965960" cy="960120"/>
          </a:xfrm>
          <a:prstGeom prst="rect">
            <a:avLst/>
          </a:prstGeom>
          <a:solidFill>
            <a:srgbClr val="EEF4F3"/>
          </a:solidFill>
          <a:ln w="1016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0" y="2971800"/>
            <a:ext cx="1965960" cy="502920"/>
          </a:xfrm>
          <a:prstGeom prst="rect">
            <a:avLst/>
          </a:prstGeom>
          <a:noFill/>
        </p:spPr>
        <p:txBody>
          <a:bodyPr wrap="square" lIns="36576" rIns="36576" tIns="18288" bIns="18288"/>
          <a:lstStyle/>
          <a:p>
            <a:pPr algn="ctr"/>
            <a:r>
              <a:rPr sz="1800" b="1">
                <a:solidFill>
                  <a:srgbClr val="121A26"/>
                </a:solidFill>
                <a:latin typeface="Arial"/>
                <a:ea typeface="Arial"/>
                <a:cs typeface="Arial"/>
              </a:rPr>
              <a:t>26.1k</a:t>
            </a:r>
          </a:p>
        </p:txBody>
      </p:sp>
      <p:sp>
        <p:nvSpPr>
          <p:cNvPr id="20" name="TextBox 19"/>
          <p:cNvSpPr txBox="1"/>
          <p:nvPr/>
        </p:nvSpPr>
        <p:spPr>
          <a:xfrm>
            <a:off x="2743200" y="3429000"/>
            <a:ext cx="1965960" cy="365760"/>
          </a:xfrm>
          <a:prstGeom prst="rect">
            <a:avLst/>
          </a:prstGeom>
          <a:noFill/>
        </p:spPr>
        <p:txBody>
          <a:bodyPr wrap="square" lIns="36576" rIns="36576" tIns="18288" bIns="18288"/>
          <a:lstStyle/>
          <a:p>
            <a:pPr algn="ctr"/>
            <a:r>
              <a:rPr sz="1100" b="0">
                <a:solidFill>
                  <a:srgbClr val="5C7388"/>
                </a:solidFill>
                <a:latin typeface="Arial"/>
                <a:ea typeface="Arial"/>
                <a:cs typeface="Arial"/>
              </a:rPr>
              <a:t>Outflow</a:t>
            </a:r>
          </a:p>
        </p:txBody>
      </p:sp>
      <p:sp>
        <p:nvSpPr>
          <p:cNvPr id="21" name="Rectangle 20"/>
          <p:cNvSpPr/>
          <p:nvPr/>
        </p:nvSpPr>
        <p:spPr>
          <a:xfrm>
            <a:off x="4846320" y="2926080"/>
            <a:ext cx="1965960" cy="960120"/>
          </a:xfrm>
          <a:prstGeom prst="rect">
            <a:avLst/>
          </a:prstGeom>
          <a:solidFill>
            <a:srgbClr val="EEF4F3"/>
          </a:solidFill>
          <a:ln w="1016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2971800"/>
            <a:ext cx="1965960" cy="502920"/>
          </a:xfrm>
          <a:prstGeom prst="rect">
            <a:avLst/>
          </a:prstGeom>
          <a:noFill/>
        </p:spPr>
        <p:txBody>
          <a:bodyPr wrap="square" lIns="36576" rIns="36576" tIns="18288" bIns="18288"/>
          <a:lstStyle/>
          <a:p>
            <a:pPr algn="ctr"/>
            <a:r>
              <a:rPr sz="1800" b="1">
                <a:solidFill>
                  <a:srgbClr val="121A26"/>
                </a:solidFill>
                <a:latin typeface="Arial"/>
                <a:ea typeface="Arial"/>
                <a:cs typeface="Arial"/>
              </a:rPr>
              <a:t>100–120</a:t>
            </a:r>
          </a:p>
        </p:txBody>
      </p:sp>
      <p:sp>
        <p:nvSpPr>
          <p:cNvPr id="23" name="TextBox 22"/>
          <p:cNvSpPr txBox="1"/>
          <p:nvPr/>
        </p:nvSpPr>
        <p:spPr>
          <a:xfrm>
            <a:off x="4846320" y="3429000"/>
            <a:ext cx="1965960" cy="365760"/>
          </a:xfrm>
          <a:prstGeom prst="rect">
            <a:avLst/>
          </a:prstGeom>
          <a:noFill/>
        </p:spPr>
        <p:txBody>
          <a:bodyPr wrap="square" lIns="36576" rIns="36576" tIns="18288" bIns="18288"/>
          <a:lstStyle/>
          <a:p>
            <a:pPr algn="ctr"/>
            <a:r>
              <a:rPr sz="1100" b="0">
                <a:solidFill>
                  <a:srgbClr val="5C7388"/>
                </a:solidFill>
                <a:latin typeface="Arial"/>
                <a:ea typeface="Arial"/>
                <a:cs typeface="Arial"/>
              </a:rPr>
              <a:t>FFD 24h</a:t>
            </a:r>
          </a:p>
        </p:txBody>
      </p:sp>
      <p:sp>
        <p:nvSpPr>
          <p:cNvPr id="24" name="Rectangle 23"/>
          <p:cNvSpPr/>
          <p:nvPr/>
        </p:nvSpPr>
        <p:spPr>
          <a:xfrm>
            <a:off x="640080" y="4069080"/>
            <a:ext cx="1965960" cy="960120"/>
          </a:xfrm>
          <a:prstGeom prst="rect">
            <a:avLst/>
          </a:prstGeom>
          <a:solidFill>
            <a:srgbClr val="FFFFFF"/>
          </a:solidFill>
          <a:ln w="17780">
            <a:solidFill>
              <a:srgbClr val="2FB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114800"/>
            <a:ext cx="1965960" cy="292608"/>
          </a:xfrm>
          <a:prstGeom prst="rect">
            <a:avLst/>
          </a:prstGeom>
          <a:noFill/>
        </p:spPr>
        <p:txBody>
          <a:bodyPr wrap="square" lIns="36576" rIns="36576" tIns="18288" bIns="18288"/>
          <a:lstStyle/>
          <a:p>
            <a:pPr algn="ctr"/>
            <a:r>
              <a:rPr sz="1000" b="1">
                <a:solidFill>
                  <a:srgbClr val="5C7388"/>
                </a:solidFill>
                <a:latin typeface="Arial"/>
                <a:ea typeface="Arial"/>
                <a:cs typeface="Arial"/>
              </a:rPr>
              <a:t>NOW</a:t>
            </a:r>
          </a:p>
        </p:txBody>
      </p:sp>
      <p:sp>
        <p:nvSpPr>
          <p:cNvPr id="26" name="TextBox 25"/>
          <p:cNvSpPr txBox="1"/>
          <p:nvPr/>
        </p:nvSpPr>
        <p:spPr>
          <a:xfrm>
            <a:off x="640080" y="4407408"/>
            <a:ext cx="1965960" cy="502920"/>
          </a:xfrm>
          <a:prstGeom prst="rect">
            <a:avLst/>
          </a:prstGeom>
          <a:noFill/>
        </p:spPr>
        <p:txBody>
          <a:bodyPr wrap="square" lIns="36576" rIns="36576" tIns="18288" bIns="18288"/>
          <a:lstStyle/>
          <a:p>
            <a:pPr algn="ctr"/>
            <a:r>
              <a:rPr sz="1600" b="1">
                <a:solidFill>
                  <a:srgbClr val="2FB38B"/>
                </a:solidFill>
                <a:latin typeface="Arial"/>
                <a:ea typeface="Arial"/>
                <a:cs typeface="Arial"/>
              </a:rPr>
              <a:t>NORMAL</a:t>
            </a:r>
          </a:p>
        </p:txBody>
      </p:sp>
      <p:sp>
        <p:nvSpPr>
          <p:cNvPr id="27" name="Rectangle 26"/>
          <p:cNvSpPr/>
          <p:nvPr/>
        </p:nvSpPr>
        <p:spPr>
          <a:xfrm>
            <a:off x="2743200" y="4069080"/>
            <a:ext cx="1965960" cy="960120"/>
          </a:xfrm>
          <a:prstGeom prst="rect">
            <a:avLst/>
          </a:prstGeom>
          <a:solidFill>
            <a:srgbClr val="FFFFFF"/>
          </a:solidFill>
          <a:ln w="1778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 y="4114800"/>
            <a:ext cx="1965960" cy="292608"/>
          </a:xfrm>
          <a:prstGeom prst="rect">
            <a:avLst/>
          </a:prstGeom>
          <a:noFill/>
        </p:spPr>
        <p:txBody>
          <a:bodyPr wrap="square" lIns="36576" rIns="36576" tIns="18288" bIns="18288"/>
          <a:lstStyle/>
          <a:p>
            <a:pPr algn="ctr"/>
            <a:r>
              <a:rPr sz="1000" b="1">
                <a:solidFill>
                  <a:srgbClr val="5C7388"/>
                </a:solidFill>
                <a:latin typeface="Arial"/>
                <a:ea typeface="Arial"/>
                <a:cs typeface="Arial"/>
              </a:rPr>
              <a:t>FFD 24H</a:t>
            </a:r>
          </a:p>
        </p:txBody>
      </p:sp>
      <p:sp>
        <p:nvSpPr>
          <p:cNvPr id="29" name="TextBox 28"/>
          <p:cNvSpPr txBox="1"/>
          <p:nvPr/>
        </p:nvSpPr>
        <p:spPr>
          <a:xfrm>
            <a:off x="2743200" y="4407408"/>
            <a:ext cx="1965960" cy="502920"/>
          </a:xfrm>
          <a:prstGeom prst="rect">
            <a:avLst/>
          </a:prstGeom>
          <a:noFill/>
        </p:spPr>
        <p:txBody>
          <a:bodyPr wrap="square" lIns="36576" rIns="36576" tIns="18288" bIns="18288"/>
          <a:lstStyle/>
          <a:p>
            <a:pPr algn="ctr"/>
            <a:r>
              <a:rPr sz="1600" b="1">
                <a:solidFill>
                  <a:srgbClr val="F5A524"/>
                </a:solidFill>
                <a:latin typeface="Arial"/>
                <a:ea typeface="Arial"/>
                <a:cs typeface="Arial"/>
              </a:rPr>
              <a:t>LOW</a:t>
            </a:r>
          </a:p>
        </p:txBody>
      </p:sp>
      <p:sp>
        <p:nvSpPr>
          <p:cNvPr id="30" name="Rectangle 29"/>
          <p:cNvSpPr/>
          <p:nvPr/>
        </p:nvSpPr>
        <p:spPr>
          <a:xfrm>
            <a:off x="4846320" y="4069080"/>
            <a:ext cx="1965960" cy="960120"/>
          </a:xfrm>
          <a:prstGeom prst="rect">
            <a:avLst/>
          </a:prstGeom>
          <a:solidFill>
            <a:srgbClr val="FFFFFF"/>
          </a:solidFill>
          <a:ln w="17780">
            <a:solidFill>
              <a:srgbClr val="2FB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4114800"/>
            <a:ext cx="1965960" cy="292608"/>
          </a:xfrm>
          <a:prstGeom prst="rect">
            <a:avLst/>
          </a:prstGeom>
          <a:noFill/>
        </p:spPr>
        <p:txBody>
          <a:bodyPr wrap="square" lIns="36576" rIns="36576" tIns="18288" bIns="18288"/>
          <a:lstStyle/>
          <a:p>
            <a:pPr algn="ctr"/>
            <a:r>
              <a:rPr sz="1000" b="1">
                <a:solidFill>
                  <a:srgbClr val="5C7388"/>
                </a:solidFill>
                <a:latin typeface="Arial"/>
                <a:ea typeface="Arial"/>
                <a:cs typeface="Arial"/>
              </a:rPr>
              <a:t>ML NEXT DAY</a:t>
            </a:r>
          </a:p>
        </p:txBody>
      </p:sp>
      <p:sp>
        <p:nvSpPr>
          <p:cNvPr id="32" name="TextBox 31"/>
          <p:cNvSpPr txBox="1"/>
          <p:nvPr/>
        </p:nvSpPr>
        <p:spPr>
          <a:xfrm>
            <a:off x="4846320" y="4407408"/>
            <a:ext cx="1965960" cy="502920"/>
          </a:xfrm>
          <a:prstGeom prst="rect">
            <a:avLst/>
          </a:prstGeom>
          <a:noFill/>
        </p:spPr>
        <p:txBody>
          <a:bodyPr wrap="square" lIns="36576" rIns="36576" tIns="18288" bIns="18288"/>
          <a:lstStyle/>
          <a:p>
            <a:pPr algn="ctr"/>
            <a:r>
              <a:rPr sz="1600" b="1">
                <a:solidFill>
                  <a:srgbClr val="2FB38B"/>
                </a:solidFill>
                <a:latin typeface="Arial"/>
                <a:ea typeface="Arial"/>
                <a:cs typeface="Arial"/>
              </a:rPr>
              <a:t>NORMAL</a:t>
            </a:r>
          </a:p>
        </p:txBody>
      </p:sp>
      <p:sp>
        <p:nvSpPr>
          <p:cNvPr id="33" name="TextBox 32"/>
          <p:cNvSpPr txBox="1"/>
          <p:nvPr/>
        </p:nvSpPr>
        <p:spPr>
          <a:xfrm>
            <a:off x="640080" y="5120640"/>
            <a:ext cx="6309360" cy="777240"/>
          </a:xfrm>
          <a:prstGeom prst="rect">
            <a:avLst/>
          </a:prstGeom>
          <a:noFill/>
        </p:spPr>
        <p:txBody>
          <a:bodyPr wrap="square" lIns="36576" rIns="36576" tIns="18288" bIns="18288"/>
          <a:lstStyle/>
          <a:p>
            <a:pPr algn="l"/>
            <a:r>
              <a:rPr sz="1400" b="1">
                <a:solidFill>
                  <a:srgbClr val="121A26"/>
                </a:solidFill>
                <a:latin typeface="Arial"/>
                <a:ea typeface="Arial"/>
                <a:cs typeface="Arial"/>
              </a:rPr>
              <a:t>ML said Normal.  FFD said Low.  Final = Low.
Official danger is never downgraded.</a:t>
            </a:r>
          </a:p>
        </p:txBody>
      </p:sp>
      <p:sp>
        <p:nvSpPr>
          <p:cNvPr id="34" name="Rectangle 33"/>
          <p:cNvSpPr/>
          <p:nvPr/>
        </p:nvSpPr>
        <p:spPr>
          <a:xfrm>
            <a:off x="7360920" y="1371600"/>
            <a:ext cx="4315968"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79" y="1444752"/>
            <a:ext cx="4023360" cy="256032"/>
          </a:xfrm>
          <a:prstGeom prst="rect">
            <a:avLst/>
          </a:prstGeom>
          <a:noFill/>
        </p:spPr>
        <p:txBody>
          <a:bodyPr wrap="square" lIns="36576" rIns="36576" tIns="18288" bIns="18288"/>
          <a:lstStyle/>
          <a:p>
            <a:pPr algn="l"/>
            <a:r>
              <a:rPr sz="1100" b="1">
                <a:solidFill>
                  <a:srgbClr val="5CE1E6"/>
                </a:solidFill>
                <a:latin typeface="Arial"/>
                <a:ea typeface="Arial"/>
                <a:cs typeface="Arial"/>
              </a:rPr>
              <a:t>ENGLISH  ·  generated by Qwen</a:t>
            </a:r>
          </a:p>
        </p:txBody>
      </p:sp>
      <p:sp>
        <p:nvSpPr>
          <p:cNvPr id="36" name="TextBox 35"/>
          <p:cNvSpPr txBox="1"/>
          <p:nvPr/>
        </p:nvSpPr>
        <p:spPr>
          <a:xfrm>
            <a:off x="7498079" y="1737360"/>
            <a:ext cx="4023360" cy="1828800"/>
          </a:xfrm>
          <a:prstGeom prst="rect">
            <a:avLst/>
          </a:prstGeom>
          <a:noFill/>
        </p:spPr>
        <p:txBody>
          <a:bodyPr wrap="square" lIns="36576" rIns="36576" tIns="18288" bIns="18288"/>
          <a:lstStyle/>
          <a:p>
            <a:pPr algn="l"/>
            <a:r>
              <a:rPr sz="1200" b="0">
                <a:solidFill>
                  <a:srgbClr val="F4F0E6"/>
                </a:solidFill>
                <a:latin typeface="Arial"/>
                <a:ea typeface="Arial"/>
                <a:cs typeface="Arial"/>
              </a:rPr>
              <a:t>Flood risk is currently Low on the Chenab River at Marala. Water inflow is 51.9 thousand cusecs and outflow is 26.1 thousand cusecs. The forecast for the next 24 hours shows inflow rising to 100–120 thousand cusecs, but the overall risk remains Low. The machine-learning model predicts Normal conditions for tomorrow. Follow official government instructions.</a:t>
            </a:r>
          </a:p>
        </p:txBody>
      </p:sp>
      <p:sp>
        <p:nvSpPr>
          <p:cNvPr id="37" name="Rectangle 36"/>
          <p:cNvSpPr/>
          <p:nvPr/>
        </p:nvSpPr>
        <p:spPr>
          <a:xfrm>
            <a:off x="7360920" y="3840480"/>
            <a:ext cx="4315968" cy="23317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79" y="3913632"/>
            <a:ext cx="4023360" cy="256032"/>
          </a:xfrm>
          <a:prstGeom prst="rect">
            <a:avLst/>
          </a:prstGeom>
          <a:noFill/>
        </p:spPr>
        <p:txBody>
          <a:bodyPr wrap="square" lIns="36576" rIns="36576" tIns="18288" bIns="18288"/>
          <a:lstStyle/>
          <a:p>
            <a:pPr algn="l"/>
            <a:r>
              <a:rPr sz="1100" b="1">
                <a:solidFill>
                  <a:srgbClr val="5CE1E6"/>
                </a:solidFill>
                <a:latin typeface="Arial Unicode MS"/>
                <a:ea typeface="Arial Unicode MS"/>
                <a:cs typeface="Arial Unicode MS"/>
              </a:rPr>
              <a:t>اردو  ·  Qwen</a:t>
            </a:r>
          </a:p>
        </p:txBody>
      </p:sp>
      <p:sp>
        <p:nvSpPr>
          <p:cNvPr id="39" name="TextBox 38"/>
          <p:cNvSpPr txBox="1"/>
          <p:nvPr/>
        </p:nvSpPr>
        <p:spPr>
          <a:xfrm>
            <a:off x="7498079" y="4206240"/>
            <a:ext cx="4023360" cy="1828800"/>
          </a:xfrm>
          <a:prstGeom prst="rect">
            <a:avLst/>
          </a:prstGeom>
          <a:noFill/>
        </p:spPr>
        <p:txBody>
          <a:bodyPr wrap="square" lIns="36576" rIns="36576" tIns="18288" bIns="18288"/>
          <a:lstStyle/>
          <a:p>
            <a:pPr algn="l"/>
            <a:r>
              <a:rPr sz="1200" b="0">
                <a:solidFill>
                  <a:srgbClr val="F4F0E6"/>
                </a:solidFill>
                <a:latin typeface="Arial Unicode MS"/>
                <a:ea typeface="Arial Unicode MS"/>
                <a:cs typeface="Arial Unicode MS"/>
              </a:rPr>
              <a:t>چناب ندی مارالہ پر فلڈ کا خطرہ ابھی کم ہے۔ آب کا داخلہ 51.9 ہزار کیوسکس ہے اور باہر جانے والا آب 26.1 ہزار کیوسکس ہے۔ اگلے 24 گھنٹوں کے لیے توقع ہے کہ داخلہ 100-120 ہزار کیوسکس تک بڑھ جائے۔ حکومتی ہدایات کی پیروی کریں۔</a:t>
            </a:r>
          </a:p>
        </p:txBody>
      </p:sp>
      <p:sp>
        <p:nvSpPr>
          <p:cNvPr id="40" name="Rectangle 39"/>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2" name="TextBox 41"/>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SYSTEM ARCHITECTURE</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Train once. Infer continuously.</a:t>
            </a:r>
          </a:p>
        </p:txBody>
      </p:sp>
      <p:sp>
        <p:nvSpPr>
          <p:cNvPr id="8" name="Rectangle 7"/>
          <p:cNvSpPr/>
          <p:nvPr/>
        </p:nvSpPr>
        <p:spPr>
          <a:xfrm>
            <a:off x="502920" y="1234440"/>
            <a:ext cx="5394960" cy="443484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53312"/>
            <a:ext cx="5029200" cy="320040"/>
          </a:xfrm>
          <a:prstGeom prst="rect">
            <a:avLst/>
          </a:prstGeom>
          <a:noFill/>
        </p:spPr>
        <p:txBody>
          <a:bodyPr wrap="square" lIns="36576" rIns="36576" tIns="18288" bIns="18288"/>
          <a:lstStyle/>
          <a:p>
            <a:pPr algn="l"/>
            <a:r>
              <a:rPr sz="1400" b="1">
                <a:solidFill>
                  <a:srgbClr val="5CE1E6"/>
                </a:solidFill>
                <a:latin typeface="Arial"/>
                <a:ea typeface="Arial"/>
                <a:cs typeface="Arial"/>
              </a:rPr>
              <a:t>TRAINING PATH</a:t>
            </a:r>
          </a:p>
        </p:txBody>
      </p:sp>
      <p:sp>
        <p:nvSpPr>
          <p:cNvPr id="10" name="Rectangle 9"/>
          <p:cNvSpPr/>
          <p:nvPr/>
        </p:nvSpPr>
        <p:spPr>
          <a:xfrm>
            <a:off x="731520" y="1783080"/>
            <a:ext cx="493776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83080"/>
            <a:ext cx="466344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Official historical bulletins</a:t>
            </a:r>
          </a:p>
        </p:txBody>
      </p:sp>
      <p:sp>
        <p:nvSpPr>
          <p:cNvPr id="12" name="Rectangle 11"/>
          <p:cNvSpPr/>
          <p:nvPr/>
        </p:nvSpPr>
        <p:spPr>
          <a:xfrm>
            <a:off x="731520" y="2468880"/>
            <a:ext cx="493776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468880"/>
            <a:ext cx="466344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PDF extraction  ·  extract_data.py</a:t>
            </a:r>
          </a:p>
        </p:txBody>
      </p:sp>
      <p:sp>
        <p:nvSpPr>
          <p:cNvPr id="14" name="Rectangle 13"/>
          <p:cNvSpPr/>
          <p:nvPr/>
        </p:nvSpPr>
        <p:spPr>
          <a:xfrm>
            <a:off x="731520" y="3154680"/>
            <a:ext cx="493776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54680"/>
            <a:ext cx="466344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Feature engineering</a:t>
            </a:r>
          </a:p>
        </p:txBody>
      </p:sp>
      <p:sp>
        <p:nvSpPr>
          <p:cNvPr id="16" name="Rectangle 15"/>
          <p:cNvSpPr/>
          <p:nvPr/>
        </p:nvSpPr>
        <p:spPr>
          <a:xfrm>
            <a:off x="731520" y="3840480"/>
            <a:ext cx="493776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40480"/>
            <a:ext cx="466344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Temporal training  ·  2024–2025</a:t>
            </a:r>
          </a:p>
        </p:txBody>
      </p:sp>
      <p:sp>
        <p:nvSpPr>
          <p:cNvPr id="18" name="Rectangle 17"/>
          <p:cNvSpPr/>
          <p:nvPr/>
        </p:nvSpPr>
        <p:spPr>
          <a:xfrm>
            <a:off x="731520" y="4526280"/>
            <a:ext cx="493776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526280"/>
            <a:ext cx="466344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Model artifact  ·  floodshield_marala_model.pkl</a:t>
            </a:r>
          </a:p>
        </p:txBody>
      </p:sp>
      <p:sp>
        <p:nvSpPr>
          <p:cNvPr id="20" name="Rectangle 19"/>
          <p:cNvSpPr/>
          <p:nvPr/>
        </p:nvSpPr>
        <p:spPr>
          <a:xfrm>
            <a:off x="6263640" y="1234440"/>
            <a:ext cx="5413248" cy="4434840"/>
          </a:xfrm>
          <a:prstGeom prst="rect">
            <a:avLst/>
          </a:prstGeom>
          <a:solidFill>
            <a:srgbClr val="102238"/>
          </a:solidFill>
          <a:ln w="1651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353312"/>
            <a:ext cx="5074920" cy="320040"/>
          </a:xfrm>
          <a:prstGeom prst="rect">
            <a:avLst/>
          </a:prstGeom>
          <a:noFill/>
        </p:spPr>
        <p:txBody>
          <a:bodyPr wrap="square" lIns="36576" rIns="36576" tIns="18288" bIns="18288"/>
          <a:lstStyle/>
          <a:p>
            <a:pPr algn="l"/>
            <a:r>
              <a:rPr sz="1400" b="1">
                <a:solidFill>
                  <a:srgbClr val="5CE1E6"/>
                </a:solidFill>
                <a:latin typeface="Arial"/>
                <a:ea typeface="Arial"/>
                <a:cs typeface="Arial"/>
              </a:rPr>
              <a:t>LIVE PATH</a:t>
            </a:r>
          </a:p>
        </p:txBody>
      </p:sp>
      <p:sp>
        <p:nvSpPr>
          <p:cNvPr id="22" name="Rectangle 21"/>
          <p:cNvSpPr/>
          <p:nvPr/>
        </p:nvSpPr>
        <p:spPr>
          <a:xfrm>
            <a:off x="6492240" y="1783080"/>
            <a:ext cx="498348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1783080"/>
            <a:ext cx="470916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FFD bulletin  ·  HTML or local CSV</a:t>
            </a:r>
          </a:p>
        </p:txBody>
      </p:sp>
      <p:sp>
        <p:nvSpPr>
          <p:cNvPr id="24" name="Rectangle 23"/>
          <p:cNvSpPr/>
          <p:nvPr/>
        </p:nvSpPr>
        <p:spPr>
          <a:xfrm>
            <a:off x="6492240" y="2468880"/>
            <a:ext cx="498348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2468880"/>
            <a:ext cx="470916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Current risk  +  forecast risk  +  ML</a:t>
            </a:r>
          </a:p>
        </p:txBody>
      </p:sp>
      <p:sp>
        <p:nvSpPr>
          <p:cNvPr id="26" name="Rectangle 25"/>
          <p:cNvSpPr/>
          <p:nvPr/>
        </p:nvSpPr>
        <p:spPr>
          <a:xfrm>
            <a:off x="6492240" y="3154680"/>
            <a:ext cx="4983480" cy="594360"/>
          </a:xfrm>
          <a:prstGeom prst="rect">
            <a:avLst/>
          </a:prstGeom>
          <a:solidFill>
            <a:srgbClr val="0E6E6B"/>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3154680"/>
            <a:ext cx="470916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Max-risk fusion</a:t>
            </a:r>
          </a:p>
        </p:txBody>
      </p:sp>
      <p:sp>
        <p:nvSpPr>
          <p:cNvPr id="28" name="Rectangle 27"/>
          <p:cNvSpPr/>
          <p:nvPr/>
        </p:nvSpPr>
        <p:spPr>
          <a:xfrm>
            <a:off x="6492240" y="3840480"/>
            <a:ext cx="498348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3840480"/>
            <a:ext cx="470916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Qwen phrasing  /  deterministic templates</a:t>
            </a:r>
          </a:p>
        </p:txBody>
      </p:sp>
      <p:sp>
        <p:nvSpPr>
          <p:cNvPr id="30" name="Rectangle 29"/>
          <p:cNvSpPr/>
          <p:nvPr/>
        </p:nvSpPr>
        <p:spPr>
          <a:xfrm>
            <a:off x="6492240" y="4526280"/>
            <a:ext cx="4983480" cy="5943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9400" y="4526280"/>
            <a:ext cx="4709160" cy="594360"/>
          </a:xfrm>
          <a:prstGeom prst="rect">
            <a:avLst/>
          </a:prstGeom>
          <a:noFill/>
        </p:spPr>
        <p:txBody>
          <a:bodyPr wrap="square" lIns="36576" rIns="36576" tIns="18288" bIns="18288"/>
          <a:lstStyle/>
          <a:p>
            <a:pPr algn="l"/>
            <a:r>
              <a:rPr sz="1400" b="0">
                <a:solidFill>
                  <a:srgbClr val="F4F0E6"/>
                </a:solidFill>
                <a:latin typeface="Arial"/>
                <a:ea typeface="Arial"/>
                <a:cs typeface="Arial"/>
              </a:rPr>
              <a:t>FastAPI  →  Next.js dashboard</a:t>
            </a:r>
          </a:p>
        </p:txBody>
      </p:sp>
      <p:sp>
        <p:nvSpPr>
          <p:cNvPr id="32" name="TextBox 31"/>
          <p:cNvSpPr txBox="1"/>
          <p:nvPr/>
        </p:nvSpPr>
        <p:spPr>
          <a:xfrm>
            <a:off x="502920" y="5806440"/>
            <a:ext cx="11173968" cy="411480"/>
          </a:xfrm>
          <a:prstGeom prst="rect">
            <a:avLst/>
          </a:prstGeom>
          <a:noFill/>
        </p:spPr>
        <p:txBody>
          <a:bodyPr wrap="square" lIns="36576" rIns="36576" tIns="18288" bIns="18288"/>
          <a:lstStyle/>
          <a:p>
            <a:pPr algn="ctr"/>
            <a:r>
              <a:rPr sz="1300" b="0">
                <a:solidFill>
                  <a:srgbClr val="8BA3B8"/>
                </a:solidFill>
                <a:latin typeface="Arial"/>
                <a:ea typeface="Arial"/>
                <a:cs typeface="Arial"/>
              </a:rPr>
              <a:t>Python   ·   pandas   ·   scikit-learn   ·   pdfplumber   ·   BeautifulSoup   ·   FastAPI   ·   Next.js   ·   Qwen / DashScope</a:t>
            </a:r>
          </a:p>
        </p:txBody>
      </p:sp>
      <p:sp>
        <p:nvSpPr>
          <p:cNvPr id="33" name="Rectangle 32"/>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5" name="TextBox 34"/>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IMPACT + SCALE</a:t>
            </a:r>
          </a:p>
        </p:txBody>
      </p:sp>
      <p:sp>
        <p:nvSpPr>
          <p:cNvPr id="7" name="TextBox 6"/>
          <p:cNvSpPr txBox="1"/>
          <p:nvPr/>
        </p:nvSpPr>
        <p:spPr>
          <a:xfrm>
            <a:off x="502920" y="420624"/>
            <a:ext cx="11173968" cy="502920"/>
          </a:xfrm>
          <a:prstGeom prst="rect">
            <a:avLst/>
          </a:prstGeom>
          <a:noFill/>
        </p:spPr>
        <p:txBody>
          <a:bodyPr wrap="square" lIns="36576" rIns="36576" tIns="18288" bIns="18288"/>
          <a:lstStyle/>
          <a:p>
            <a:pPr algn="l"/>
            <a:r>
              <a:rPr sz="2800" b="1">
                <a:solidFill>
                  <a:srgbClr val="F4F0E6"/>
                </a:solidFill>
                <a:latin typeface="Arial"/>
                <a:ea typeface="Arial"/>
                <a:cs typeface="Arial"/>
              </a:rPr>
              <a:t>Marala is the beginning — not the endpoint.</a:t>
            </a:r>
          </a:p>
        </p:txBody>
      </p:sp>
      <p:sp>
        <p:nvSpPr>
          <p:cNvPr id="8" name="TextBox 7"/>
          <p:cNvSpPr txBox="1"/>
          <p:nvPr/>
        </p:nvSpPr>
        <p:spPr>
          <a:xfrm>
            <a:off x="502920" y="1097280"/>
            <a:ext cx="11155680" cy="320040"/>
          </a:xfrm>
          <a:prstGeom prst="rect">
            <a:avLst/>
          </a:prstGeom>
          <a:noFill/>
        </p:spPr>
        <p:txBody>
          <a:bodyPr wrap="square" lIns="36576" rIns="36576" tIns="18288" bIns="18288"/>
          <a:lstStyle/>
          <a:p>
            <a:pPr algn="l"/>
            <a:r>
              <a:rPr sz="1400" b="0">
                <a:solidFill>
                  <a:srgbClr val="8BA3B8"/>
                </a:solidFill>
                <a:latin typeface="Arial"/>
                <a:ea typeface="Arial"/>
                <a:cs typeface="Arial"/>
              </a:rPr>
              <a:t>FFD bulletins already include these Chenab stations.  Expansion is a next-phase filter, not a new data invention.</a:t>
            </a:r>
          </a:p>
        </p:txBody>
      </p:sp>
      <p:sp>
        <p:nvSpPr>
          <p:cNvPr id="9" name="Rectangle 8"/>
          <p:cNvSpPr/>
          <p:nvPr/>
        </p:nvSpPr>
        <p:spPr>
          <a:xfrm>
            <a:off x="502920" y="1554480"/>
            <a:ext cx="2121408" cy="1234440"/>
          </a:xfrm>
          <a:prstGeom prst="rect">
            <a:avLst/>
          </a:prstGeom>
          <a:solidFill>
            <a:srgbClr val="0E6E6B"/>
          </a:solidFill>
          <a:ln w="1524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27632"/>
            <a:ext cx="2121408" cy="320040"/>
          </a:xfrm>
          <a:prstGeom prst="rect">
            <a:avLst/>
          </a:prstGeom>
          <a:noFill/>
        </p:spPr>
        <p:txBody>
          <a:bodyPr wrap="square" lIns="36576" rIns="36576" tIns="18288" bIns="18288"/>
          <a:lstStyle/>
          <a:p>
            <a:pPr algn="ctr"/>
            <a:r>
              <a:rPr sz="1000" b="1">
                <a:solidFill>
                  <a:srgbClr val="5CE1E6"/>
                </a:solidFill>
                <a:latin typeface="Arial"/>
                <a:ea typeface="Arial"/>
                <a:cs typeface="Arial"/>
              </a:rPr>
              <a:t>IMPLEMENTED</a:t>
            </a:r>
          </a:p>
        </p:txBody>
      </p:sp>
      <p:sp>
        <p:nvSpPr>
          <p:cNvPr id="11" name="TextBox 10"/>
          <p:cNvSpPr txBox="1"/>
          <p:nvPr/>
        </p:nvSpPr>
        <p:spPr>
          <a:xfrm>
            <a:off x="502920" y="1965960"/>
            <a:ext cx="2121408" cy="640080"/>
          </a:xfrm>
          <a:prstGeom prst="rect">
            <a:avLst/>
          </a:prstGeom>
          <a:noFill/>
        </p:spPr>
        <p:txBody>
          <a:bodyPr wrap="square" lIns="36576" rIns="36576" tIns="18288" bIns="18288"/>
          <a:lstStyle/>
          <a:p>
            <a:pPr algn="ctr"/>
            <a:r>
              <a:rPr sz="1800" b="1">
                <a:solidFill>
                  <a:srgbClr val="F4F0E6"/>
                </a:solidFill>
                <a:latin typeface="Arial"/>
                <a:ea typeface="Arial"/>
                <a:cs typeface="Arial"/>
              </a:rPr>
              <a:t>Marala</a:t>
            </a:r>
          </a:p>
        </p:txBody>
      </p:sp>
      <p:sp>
        <p:nvSpPr>
          <p:cNvPr id="12" name="Right Arrow 11"/>
          <p:cNvSpPr/>
          <p:nvPr/>
        </p:nvSpPr>
        <p:spPr>
          <a:xfrm>
            <a:off x="2624328" y="2057400"/>
            <a:ext cx="182880"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07208" y="1554480"/>
            <a:ext cx="2121408" cy="12344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7208" y="1627632"/>
            <a:ext cx="2121408" cy="320040"/>
          </a:xfrm>
          <a:prstGeom prst="rect">
            <a:avLst/>
          </a:prstGeom>
          <a:noFill/>
        </p:spPr>
        <p:txBody>
          <a:bodyPr wrap="square" lIns="36576" rIns="36576" tIns="18288" bIns="18288"/>
          <a:lstStyle/>
          <a:p>
            <a:pPr algn="ctr"/>
            <a:r>
              <a:rPr sz="1000" b="1">
                <a:solidFill>
                  <a:srgbClr val="8BA3B8"/>
                </a:solidFill>
                <a:latin typeface="Arial"/>
                <a:ea typeface="Arial"/>
                <a:cs typeface="Arial"/>
              </a:rPr>
              <a:t>NEXT PHASE</a:t>
            </a:r>
          </a:p>
        </p:txBody>
      </p:sp>
      <p:sp>
        <p:nvSpPr>
          <p:cNvPr id="15" name="TextBox 14"/>
          <p:cNvSpPr txBox="1"/>
          <p:nvPr/>
        </p:nvSpPr>
        <p:spPr>
          <a:xfrm>
            <a:off x="2807208" y="1965960"/>
            <a:ext cx="2121408" cy="640080"/>
          </a:xfrm>
          <a:prstGeom prst="rect">
            <a:avLst/>
          </a:prstGeom>
          <a:noFill/>
        </p:spPr>
        <p:txBody>
          <a:bodyPr wrap="square" lIns="36576" rIns="36576" tIns="18288" bIns="18288"/>
          <a:lstStyle/>
          <a:p>
            <a:pPr algn="ctr"/>
            <a:r>
              <a:rPr sz="1800" b="1">
                <a:solidFill>
                  <a:srgbClr val="F4F0E6"/>
                </a:solidFill>
                <a:latin typeface="Arial"/>
                <a:ea typeface="Arial"/>
                <a:cs typeface="Arial"/>
              </a:rPr>
              <a:t>Khanki</a:t>
            </a:r>
          </a:p>
        </p:txBody>
      </p:sp>
      <p:sp>
        <p:nvSpPr>
          <p:cNvPr id="16" name="Right Arrow 15"/>
          <p:cNvSpPr/>
          <p:nvPr/>
        </p:nvSpPr>
        <p:spPr>
          <a:xfrm>
            <a:off x="4928616" y="2057400"/>
            <a:ext cx="182880"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11496" y="1554480"/>
            <a:ext cx="2121408" cy="12344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11496" y="1627632"/>
            <a:ext cx="2121408" cy="320040"/>
          </a:xfrm>
          <a:prstGeom prst="rect">
            <a:avLst/>
          </a:prstGeom>
          <a:noFill/>
        </p:spPr>
        <p:txBody>
          <a:bodyPr wrap="square" lIns="36576" rIns="36576" tIns="18288" bIns="18288"/>
          <a:lstStyle/>
          <a:p>
            <a:pPr algn="ctr"/>
            <a:r>
              <a:rPr sz="1000" b="1">
                <a:solidFill>
                  <a:srgbClr val="8BA3B8"/>
                </a:solidFill>
                <a:latin typeface="Arial"/>
                <a:ea typeface="Arial"/>
                <a:cs typeface="Arial"/>
              </a:rPr>
              <a:t>NEXT PHASE</a:t>
            </a:r>
          </a:p>
        </p:txBody>
      </p:sp>
      <p:sp>
        <p:nvSpPr>
          <p:cNvPr id="19" name="TextBox 18"/>
          <p:cNvSpPr txBox="1"/>
          <p:nvPr/>
        </p:nvSpPr>
        <p:spPr>
          <a:xfrm>
            <a:off x="5111496" y="1965960"/>
            <a:ext cx="2121408" cy="640080"/>
          </a:xfrm>
          <a:prstGeom prst="rect">
            <a:avLst/>
          </a:prstGeom>
          <a:noFill/>
        </p:spPr>
        <p:txBody>
          <a:bodyPr wrap="square" lIns="36576" rIns="36576" tIns="18288" bIns="18288"/>
          <a:lstStyle/>
          <a:p>
            <a:pPr algn="ctr"/>
            <a:r>
              <a:rPr sz="1800" b="1">
                <a:solidFill>
                  <a:srgbClr val="F4F0E6"/>
                </a:solidFill>
                <a:latin typeface="Arial"/>
                <a:ea typeface="Arial"/>
                <a:cs typeface="Arial"/>
              </a:rPr>
              <a:t>Qadirabad</a:t>
            </a:r>
          </a:p>
        </p:txBody>
      </p:sp>
      <p:sp>
        <p:nvSpPr>
          <p:cNvPr id="20" name="Right Arrow 19"/>
          <p:cNvSpPr/>
          <p:nvPr/>
        </p:nvSpPr>
        <p:spPr>
          <a:xfrm>
            <a:off x="7232904" y="2057400"/>
            <a:ext cx="182880"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15784" y="1554480"/>
            <a:ext cx="2121408" cy="12344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4" y="1627632"/>
            <a:ext cx="2121408" cy="320040"/>
          </a:xfrm>
          <a:prstGeom prst="rect">
            <a:avLst/>
          </a:prstGeom>
          <a:noFill/>
        </p:spPr>
        <p:txBody>
          <a:bodyPr wrap="square" lIns="36576" rIns="36576" tIns="18288" bIns="18288"/>
          <a:lstStyle/>
          <a:p>
            <a:pPr algn="ctr"/>
            <a:r>
              <a:rPr sz="1000" b="1">
                <a:solidFill>
                  <a:srgbClr val="8BA3B8"/>
                </a:solidFill>
                <a:latin typeface="Arial"/>
                <a:ea typeface="Arial"/>
                <a:cs typeface="Arial"/>
              </a:rPr>
              <a:t>NEXT PHASE</a:t>
            </a:r>
          </a:p>
        </p:txBody>
      </p:sp>
      <p:sp>
        <p:nvSpPr>
          <p:cNvPr id="23" name="TextBox 22"/>
          <p:cNvSpPr txBox="1"/>
          <p:nvPr/>
        </p:nvSpPr>
        <p:spPr>
          <a:xfrm>
            <a:off x="7415784" y="1965960"/>
            <a:ext cx="2121408" cy="640080"/>
          </a:xfrm>
          <a:prstGeom prst="rect">
            <a:avLst/>
          </a:prstGeom>
          <a:noFill/>
        </p:spPr>
        <p:txBody>
          <a:bodyPr wrap="square" lIns="36576" rIns="36576" tIns="18288" bIns="18288"/>
          <a:lstStyle/>
          <a:p>
            <a:pPr algn="ctr"/>
            <a:r>
              <a:rPr sz="1800" b="1">
                <a:solidFill>
                  <a:srgbClr val="F4F0E6"/>
                </a:solidFill>
                <a:latin typeface="Arial"/>
                <a:ea typeface="Arial"/>
                <a:cs typeface="Arial"/>
              </a:rPr>
              <a:t>Trimmu</a:t>
            </a:r>
          </a:p>
        </p:txBody>
      </p:sp>
      <p:sp>
        <p:nvSpPr>
          <p:cNvPr id="24" name="Right Arrow 23"/>
          <p:cNvSpPr/>
          <p:nvPr/>
        </p:nvSpPr>
        <p:spPr>
          <a:xfrm>
            <a:off x="9537192" y="2057400"/>
            <a:ext cx="182880" cy="146304"/>
          </a:xfrm>
          <a:prstGeom prst="rightArrow">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20072" y="1554480"/>
            <a:ext cx="2121408" cy="1234440"/>
          </a:xfrm>
          <a:prstGeom prst="rect">
            <a:avLst/>
          </a:prstGeom>
          <a:solidFill>
            <a:srgbClr val="102238"/>
          </a:solidFill>
          <a:ln w="1524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20072" y="1627632"/>
            <a:ext cx="2121408" cy="320040"/>
          </a:xfrm>
          <a:prstGeom prst="rect">
            <a:avLst/>
          </a:prstGeom>
          <a:noFill/>
        </p:spPr>
        <p:txBody>
          <a:bodyPr wrap="square" lIns="36576" rIns="36576" tIns="18288" bIns="18288"/>
          <a:lstStyle/>
          <a:p>
            <a:pPr algn="ctr"/>
            <a:r>
              <a:rPr sz="1000" b="1">
                <a:solidFill>
                  <a:srgbClr val="8BA3B8"/>
                </a:solidFill>
                <a:latin typeface="Arial"/>
                <a:ea typeface="Arial"/>
                <a:cs typeface="Arial"/>
              </a:rPr>
              <a:t>NEXT PHASE</a:t>
            </a:r>
          </a:p>
        </p:txBody>
      </p:sp>
      <p:sp>
        <p:nvSpPr>
          <p:cNvPr id="27" name="TextBox 26"/>
          <p:cNvSpPr txBox="1"/>
          <p:nvPr/>
        </p:nvSpPr>
        <p:spPr>
          <a:xfrm>
            <a:off x="9720072" y="1965960"/>
            <a:ext cx="2121408" cy="640080"/>
          </a:xfrm>
          <a:prstGeom prst="rect">
            <a:avLst/>
          </a:prstGeom>
          <a:noFill/>
        </p:spPr>
        <p:txBody>
          <a:bodyPr wrap="square" lIns="36576" rIns="36576" tIns="18288" bIns="18288"/>
          <a:lstStyle/>
          <a:p>
            <a:pPr algn="ctr"/>
            <a:r>
              <a:rPr sz="1800" b="1">
                <a:solidFill>
                  <a:srgbClr val="F4F0E6"/>
                </a:solidFill>
                <a:latin typeface="Arial"/>
                <a:ea typeface="Arial"/>
                <a:cs typeface="Arial"/>
              </a:rPr>
              <a:t>Panjnad</a:t>
            </a:r>
          </a:p>
        </p:txBody>
      </p:sp>
      <p:sp>
        <p:nvSpPr>
          <p:cNvPr id="28" name="TextBox 27"/>
          <p:cNvSpPr txBox="1"/>
          <p:nvPr/>
        </p:nvSpPr>
        <p:spPr>
          <a:xfrm>
            <a:off x="502920" y="2926080"/>
            <a:ext cx="11155680" cy="274320"/>
          </a:xfrm>
          <a:prstGeom prst="rect">
            <a:avLst/>
          </a:prstGeom>
          <a:noFill/>
        </p:spPr>
        <p:txBody>
          <a:bodyPr wrap="square" lIns="36576" rIns="36576" tIns="18288" bIns="18288"/>
          <a:lstStyle/>
          <a:p>
            <a:pPr algn="l"/>
            <a:r>
              <a:rPr sz="1300" b="0">
                <a:solidFill>
                  <a:srgbClr val="8BA3B8"/>
                </a:solidFill>
                <a:latin typeface="Arial"/>
                <a:ea typeface="Arial"/>
                <a:cs typeface="Arial"/>
              </a:rPr>
              <a:t>Then the broader FFD river network already present in the 6,610-row extract.</a:t>
            </a:r>
          </a:p>
        </p:txBody>
      </p:sp>
      <p:sp>
        <p:nvSpPr>
          <p:cNvPr id="29" name="Rectangle 28"/>
          <p:cNvSpPr/>
          <p:nvPr/>
        </p:nvSpPr>
        <p:spPr>
          <a:xfrm>
            <a:off x="502920" y="3337560"/>
            <a:ext cx="5532120" cy="26517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74720"/>
            <a:ext cx="5166360" cy="320040"/>
          </a:xfrm>
          <a:prstGeom prst="rect">
            <a:avLst/>
          </a:prstGeom>
          <a:noFill/>
        </p:spPr>
        <p:txBody>
          <a:bodyPr wrap="square" lIns="36576" rIns="36576" tIns="18288" bIns="18288"/>
          <a:lstStyle/>
          <a:p>
            <a:pPr algn="l"/>
            <a:r>
              <a:rPr sz="1300" b="1">
                <a:solidFill>
                  <a:srgbClr val="F5A524"/>
                </a:solidFill>
                <a:latin typeface="Arial"/>
                <a:ea typeface="Arial"/>
                <a:cs typeface="Arial"/>
              </a:rPr>
              <a:t>COMMUNICATION  ·  NEXT PHASE</a:t>
            </a:r>
          </a:p>
        </p:txBody>
      </p:sp>
      <p:sp>
        <p:nvSpPr>
          <p:cNvPr id="31" name="TextBox 30"/>
          <p:cNvSpPr txBox="1"/>
          <p:nvPr/>
        </p:nvSpPr>
        <p:spPr>
          <a:xfrm>
            <a:off x="777240" y="3886200"/>
            <a:ext cx="2377440" cy="347472"/>
          </a:xfrm>
          <a:prstGeom prst="rect">
            <a:avLst/>
          </a:prstGeom>
          <a:noFill/>
        </p:spPr>
        <p:txBody>
          <a:bodyPr wrap="square" lIns="36576" rIns="36576" tIns="18288" bIns="18288"/>
          <a:lstStyle/>
          <a:p>
            <a:pPr algn="l"/>
            <a:r>
              <a:rPr sz="1400" b="1">
                <a:solidFill>
                  <a:srgbClr val="F4F0E6"/>
                </a:solidFill>
                <a:latin typeface="Arial"/>
                <a:ea typeface="Arial"/>
                <a:cs typeface="Arial"/>
              </a:rPr>
              <a:t>Dashboard</a:t>
            </a:r>
          </a:p>
        </p:txBody>
      </p:sp>
      <p:sp>
        <p:nvSpPr>
          <p:cNvPr id="32" name="TextBox 31"/>
          <p:cNvSpPr txBox="1"/>
          <p:nvPr/>
        </p:nvSpPr>
        <p:spPr>
          <a:xfrm>
            <a:off x="3291840" y="3886200"/>
            <a:ext cx="2468880" cy="347472"/>
          </a:xfrm>
          <a:prstGeom prst="rect">
            <a:avLst/>
          </a:prstGeom>
          <a:noFill/>
        </p:spPr>
        <p:txBody>
          <a:bodyPr wrap="square" lIns="36576" rIns="36576" tIns="18288" bIns="18288"/>
          <a:lstStyle/>
          <a:p>
            <a:pPr algn="l"/>
            <a:r>
              <a:rPr sz="1300" b="0">
                <a:solidFill>
                  <a:srgbClr val="5CE1E6"/>
                </a:solidFill>
                <a:latin typeface="Arial"/>
                <a:ea typeface="Arial"/>
                <a:cs typeface="Arial"/>
              </a:rPr>
              <a:t>Implemented</a:t>
            </a:r>
          </a:p>
        </p:txBody>
      </p:sp>
      <p:sp>
        <p:nvSpPr>
          <p:cNvPr id="33" name="TextBox 32"/>
          <p:cNvSpPr txBox="1"/>
          <p:nvPr/>
        </p:nvSpPr>
        <p:spPr>
          <a:xfrm>
            <a:off x="777240" y="4270248"/>
            <a:ext cx="2377440" cy="347472"/>
          </a:xfrm>
          <a:prstGeom prst="rect">
            <a:avLst/>
          </a:prstGeom>
          <a:noFill/>
        </p:spPr>
        <p:txBody>
          <a:bodyPr wrap="square" lIns="36576" rIns="36576" tIns="18288" bIns="18288"/>
          <a:lstStyle/>
          <a:p>
            <a:pPr algn="l"/>
            <a:r>
              <a:rPr sz="1400" b="1">
                <a:solidFill>
                  <a:srgbClr val="F4F0E6"/>
                </a:solidFill>
                <a:latin typeface="Arial"/>
                <a:ea typeface="Arial"/>
                <a:cs typeface="Arial"/>
              </a:rPr>
              <a:t>SMS</a:t>
            </a:r>
          </a:p>
        </p:txBody>
      </p:sp>
      <p:sp>
        <p:nvSpPr>
          <p:cNvPr id="34" name="TextBox 33"/>
          <p:cNvSpPr txBox="1"/>
          <p:nvPr/>
        </p:nvSpPr>
        <p:spPr>
          <a:xfrm>
            <a:off x="3291840" y="4270248"/>
            <a:ext cx="2468880" cy="347472"/>
          </a:xfrm>
          <a:prstGeom prst="rect">
            <a:avLst/>
          </a:prstGeom>
          <a:noFill/>
        </p:spPr>
        <p:txBody>
          <a:bodyPr wrap="square" lIns="36576" rIns="36576" tIns="18288" bIns="18288"/>
          <a:lstStyle/>
          <a:p>
            <a:pPr algn="l"/>
            <a:r>
              <a:rPr sz="1300" b="0">
                <a:solidFill>
                  <a:srgbClr val="8BA3B8"/>
                </a:solidFill>
                <a:latin typeface="Arial"/>
                <a:ea typeface="Arial"/>
                <a:cs typeface="Arial"/>
              </a:rPr>
              <a:t>Next phase</a:t>
            </a:r>
          </a:p>
        </p:txBody>
      </p:sp>
      <p:sp>
        <p:nvSpPr>
          <p:cNvPr id="35" name="TextBox 34"/>
          <p:cNvSpPr txBox="1"/>
          <p:nvPr/>
        </p:nvSpPr>
        <p:spPr>
          <a:xfrm>
            <a:off x="777240" y="4654296"/>
            <a:ext cx="2377440" cy="347472"/>
          </a:xfrm>
          <a:prstGeom prst="rect">
            <a:avLst/>
          </a:prstGeom>
          <a:noFill/>
        </p:spPr>
        <p:txBody>
          <a:bodyPr wrap="square" lIns="36576" rIns="36576" tIns="18288" bIns="18288"/>
          <a:lstStyle/>
          <a:p>
            <a:pPr algn="l"/>
            <a:r>
              <a:rPr sz="1400" b="1">
                <a:solidFill>
                  <a:srgbClr val="F4F0E6"/>
                </a:solidFill>
                <a:latin typeface="Arial"/>
                <a:ea typeface="Arial"/>
                <a:cs typeface="Arial"/>
              </a:rPr>
              <a:t>WhatsApp</a:t>
            </a:r>
          </a:p>
        </p:txBody>
      </p:sp>
      <p:sp>
        <p:nvSpPr>
          <p:cNvPr id="36" name="TextBox 35"/>
          <p:cNvSpPr txBox="1"/>
          <p:nvPr/>
        </p:nvSpPr>
        <p:spPr>
          <a:xfrm>
            <a:off x="3291840" y="4654296"/>
            <a:ext cx="2468880" cy="347472"/>
          </a:xfrm>
          <a:prstGeom prst="rect">
            <a:avLst/>
          </a:prstGeom>
          <a:noFill/>
        </p:spPr>
        <p:txBody>
          <a:bodyPr wrap="square" lIns="36576" rIns="36576" tIns="18288" bIns="18288"/>
          <a:lstStyle/>
          <a:p>
            <a:pPr algn="l"/>
            <a:r>
              <a:rPr sz="1300" b="0">
                <a:solidFill>
                  <a:srgbClr val="8BA3B8"/>
                </a:solidFill>
                <a:latin typeface="Arial"/>
                <a:ea typeface="Arial"/>
                <a:cs typeface="Arial"/>
              </a:rPr>
              <a:t>Next phase</a:t>
            </a:r>
          </a:p>
        </p:txBody>
      </p:sp>
      <p:sp>
        <p:nvSpPr>
          <p:cNvPr id="37" name="TextBox 36"/>
          <p:cNvSpPr txBox="1"/>
          <p:nvPr/>
        </p:nvSpPr>
        <p:spPr>
          <a:xfrm>
            <a:off x="777240" y="5038344"/>
            <a:ext cx="2377440" cy="347472"/>
          </a:xfrm>
          <a:prstGeom prst="rect">
            <a:avLst/>
          </a:prstGeom>
          <a:noFill/>
        </p:spPr>
        <p:txBody>
          <a:bodyPr wrap="square" lIns="36576" rIns="36576" tIns="18288" bIns="18288"/>
          <a:lstStyle/>
          <a:p>
            <a:pPr algn="l"/>
            <a:r>
              <a:rPr sz="1400" b="1">
                <a:solidFill>
                  <a:srgbClr val="F4F0E6"/>
                </a:solidFill>
                <a:latin typeface="Arial"/>
                <a:ea typeface="Arial"/>
                <a:cs typeface="Arial"/>
              </a:rPr>
              <a:t>IVR</a:t>
            </a:r>
          </a:p>
        </p:txBody>
      </p:sp>
      <p:sp>
        <p:nvSpPr>
          <p:cNvPr id="38" name="TextBox 37"/>
          <p:cNvSpPr txBox="1"/>
          <p:nvPr/>
        </p:nvSpPr>
        <p:spPr>
          <a:xfrm>
            <a:off x="3291840" y="5038344"/>
            <a:ext cx="2468880" cy="347472"/>
          </a:xfrm>
          <a:prstGeom prst="rect">
            <a:avLst/>
          </a:prstGeom>
          <a:noFill/>
        </p:spPr>
        <p:txBody>
          <a:bodyPr wrap="square" lIns="36576" rIns="36576" tIns="18288" bIns="18288"/>
          <a:lstStyle/>
          <a:p>
            <a:pPr algn="l"/>
            <a:r>
              <a:rPr sz="1300" b="0">
                <a:solidFill>
                  <a:srgbClr val="8BA3B8"/>
                </a:solidFill>
                <a:latin typeface="Arial"/>
                <a:ea typeface="Arial"/>
                <a:cs typeface="Arial"/>
              </a:rPr>
              <a:t>Next phase</a:t>
            </a:r>
          </a:p>
        </p:txBody>
      </p:sp>
      <p:sp>
        <p:nvSpPr>
          <p:cNvPr id="39" name="TextBox 38"/>
          <p:cNvSpPr txBox="1"/>
          <p:nvPr/>
        </p:nvSpPr>
        <p:spPr>
          <a:xfrm>
            <a:off x="777240" y="5422392"/>
            <a:ext cx="2377440" cy="347472"/>
          </a:xfrm>
          <a:prstGeom prst="rect">
            <a:avLst/>
          </a:prstGeom>
          <a:noFill/>
        </p:spPr>
        <p:txBody>
          <a:bodyPr wrap="square" lIns="36576" rIns="36576" tIns="18288" bIns="18288"/>
          <a:lstStyle/>
          <a:p>
            <a:pPr algn="l"/>
            <a:r>
              <a:rPr sz="1400" b="1">
                <a:solidFill>
                  <a:srgbClr val="F4F0E6"/>
                </a:solidFill>
                <a:latin typeface="Arial"/>
                <a:ea typeface="Arial"/>
                <a:cs typeface="Arial"/>
              </a:rPr>
              <a:t>Mobile</a:t>
            </a:r>
          </a:p>
        </p:txBody>
      </p:sp>
      <p:sp>
        <p:nvSpPr>
          <p:cNvPr id="40" name="TextBox 39"/>
          <p:cNvSpPr txBox="1"/>
          <p:nvPr/>
        </p:nvSpPr>
        <p:spPr>
          <a:xfrm>
            <a:off x="3291840" y="5422392"/>
            <a:ext cx="2468880" cy="347472"/>
          </a:xfrm>
          <a:prstGeom prst="rect">
            <a:avLst/>
          </a:prstGeom>
          <a:noFill/>
        </p:spPr>
        <p:txBody>
          <a:bodyPr wrap="square" lIns="36576" rIns="36576" tIns="18288" bIns="18288"/>
          <a:lstStyle/>
          <a:p>
            <a:pPr algn="l"/>
            <a:r>
              <a:rPr sz="1300" b="0">
                <a:solidFill>
                  <a:srgbClr val="8BA3B8"/>
                </a:solidFill>
                <a:latin typeface="Arial"/>
                <a:ea typeface="Arial"/>
                <a:cs typeface="Arial"/>
              </a:rPr>
              <a:t>Next phase</a:t>
            </a:r>
          </a:p>
        </p:txBody>
      </p:sp>
      <p:sp>
        <p:nvSpPr>
          <p:cNvPr id="41" name="Rectangle 40"/>
          <p:cNvSpPr/>
          <p:nvPr/>
        </p:nvSpPr>
        <p:spPr>
          <a:xfrm>
            <a:off x="6217920" y="3337560"/>
            <a:ext cx="5458968" cy="26517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3474720"/>
            <a:ext cx="5074920" cy="320040"/>
          </a:xfrm>
          <a:prstGeom prst="rect">
            <a:avLst/>
          </a:prstGeom>
          <a:noFill/>
        </p:spPr>
        <p:txBody>
          <a:bodyPr wrap="square" lIns="36576" rIns="36576" tIns="18288" bIns="18288"/>
          <a:lstStyle/>
          <a:p>
            <a:pPr algn="l"/>
            <a:r>
              <a:rPr sz="1300" b="1">
                <a:solidFill>
                  <a:srgbClr val="E23B3B"/>
                </a:solidFill>
                <a:latin typeface="Arial"/>
                <a:ea typeface="Arial"/>
                <a:cs typeface="Arial"/>
              </a:rPr>
              <a:t>WHAT THIS IS NOT</a:t>
            </a:r>
          </a:p>
        </p:txBody>
      </p:sp>
      <p:sp>
        <p:nvSpPr>
          <p:cNvPr id="43" name="TextBox 42"/>
          <p:cNvSpPr txBox="1"/>
          <p:nvPr/>
        </p:nvSpPr>
        <p:spPr>
          <a:xfrm>
            <a:off x="6400800" y="3931920"/>
            <a:ext cx="5074920" cy="1828800"/>
          </a:xfrm>
          <a:prstGeom prst="rect">
            <a:avLst/>
          </a:prstGeom>
          <a:noFill/>
        </p:spPr>
        <p:txBody>
          <a:bodyPr wrap="square" lIns="36576" rIns="36576" tIns="18288" bIns="18288"/>
          <a:lstStyle/>
          <a:p>
            <a:pPr algn="l"/>
            <a:r>
              <a:rPr sz="1600" b="0">
                <a:solidFill>
                  <a:srgbClr val="F4F0E6"/>
                </a:solidFill>
                <a:latin typeface="Arial"/>
                <a:ea typeface="Arial"/>
                <a:cs typeface="Arial"/>
              </a:rPr>
              <a:t>Not a national deployment.
Not a government endorsement.
Not a replacement for PMD, FFD, PDMA or NDMA.</a:t>
            </a:r>
          </a:p>
        </p:txBody>
      </p:sp>
      <p:sp>
        <p:nvSpPr>
          <p:cNvPr id="44" name="Rectangle 43"/>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6" name="TextBox 45"/>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99" cy="6858000"/>
          </a:xfrm>
          <a:prstGeom prst="rect">
            <a:avLst/>
          </a:prstGeom>
          <a:solidFill>
            <a:srgbClr val="0409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g_dark.png"/>
          <p:cNvPicPr>
            <a:picLocks noChangeAspect="1"/>
          </p:cNvPicPr>
          <p:nvPr/>
        </p:nvPicPr>
        <p:blipFill>
          <a:blip r:embed="rId2"/>
          <a:stretch>
            <a:fillRect/>
          </a:stretch>
        </p:blipFill>
        <p:spPr>
          <a:xfrm>
            <a:off x="0" y="0"/>
            <a:ext cx="12191999" cy="6858000"/>
          </a:xfrm>
          <a:prstGeom prst="rect">
            <a:avLst/>
          </a:prstGeom>
        </p:spPr>
      </p:pic>
      <p:sp>
        <p:nvSpPr>
          <p:cNvPr id="7" name="Rectangle 6"/>
          <p:cNvSpPr/>
          <p:nvPr/>
        </p:nvSpPr>
        <p:spPr>
          <a:xfrm>
            <a:off x="0" y="0"/>
            <a:ext cx="73152" cy="6858000"/>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234440"/>
            <a:ext cx="10515600" cy="2194560"/>
          </a:xfrm>
          <a:prstGeom prst="rect">
            <a:avLst/>
          </a:prstGeom>
          <a:noFill/>
        </p:spPr>
        <p:txBody>
          <a:bodyPr wrap="square" lIns="36576" rIns="36576" tIns="18288" bIns="18288"/>
          <a:lstStyle/>
          <a:p>
            <a:pPr algn="l"/>
            <a:r>
              <a:rPr sz="2800" b="1">
                <a:solidFill>
                  <a:srgbClr val="F4F0E6"/>
                </a:solidFill>
                <a:latin typeface="Arial"/>
                <a:ea typeface="Arial"/>
                <a:cs typeface="Arial"/>
              </a:rPr>
              <a:t>The goal isn’t to predict the flood perfectly.
The goal is to give people a better chance to act before it arrives.</a:t>
            </a:r>
          </a:p>
        </p:txBody>
      </p:sp>
      <p:sp>
        <p:nvSpPr>
          <p:cNvPr id="9" name="Rectangle 8"/>
          <p:cNvSpPr/>
          <p:nvPr/>
        </p:nvSpPr>
        <p:spPr>
          <a:xfrm>
            <a:off x="822960" y="3703320"/>
            <a:ext cx="2194560" cy="64008"/>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023360"/>
            <a:ext cx="10515600" cy="457200"/>
          </a:xfrm>
          <a:prstGeom prst="rect">
            <a:avLst/>
          </a:prstGeom>
          <a:noFill/>
        </p:spPr>
        <p:txBody>
          <a:bodyPr wrap="square" lIns="36576" rIns="36576" tIns="18288" bIns="18288"/>
          <a:lstStyle/>
          <a:p>
            <a:pPr algn="l"/>
            <a:r>
              <a:rPr sz="2600" b="1">
                <a:solidFill>
                  <a:srgbClr val="5CE1E6"/>
                </a:solidFill>
                <a:latin typeface="Arial"/>
                <a:ea typeface="Arial"/>
                <a:cs typeface="Arial"/>
              </a:rPr>
              <a:t>AI FloodShield PAK</a:t>
            </a:r>
          </a:p>
        </p:txBody>
      </p:sp>
      <p:sp>
        <p:nvSpPr>
          <p:cNvPr id="11" name="TextBox 10"/>
          <p:cNvSpPr txBox="1"/>
          <p:nvPr/>
        </p:nvSpPr>
        <p:spPr>
          <a:xfrm>
            <a:off x="822960" y="4572000"/>
            <a:ext cx="10515600" cy="365760"/>
          </a:xfrm>
          <a:prstGeom prst="rect">
            <a:avLst/>
          </a:prstGeom>
          <a:noFill/>
        </p:spPr>
        <p:txBody>
          <a:bodyPr wrap="square" lIns="36576" rIns="36576" tIns="18288" bIns="18288"/>
          <a:lstStyle/>
          <a:p>
            <a:pPr algn="l"/>
            <a:r>
              <a:rPr sz="1800" b="0">
                <a:solidFill>
                  <a:srgbClr val="8BA3B8"/>
                </a:solidFill>
                <a:latin typeface="Arial"/>
                <a:ea typeface="Arial"/>
                <a:cs typeface="Arial"/>
              </a:rPr>
              <a:t>Chenab River  ·  Marala  ·  Pakistan</a:t>
            </a:r>
          </a:p>
        </p:txBody>
      </p:sp>
      <p:sp>
        <p:nvSpPr>
          <p:cNvPr id="12" name="TextBox 11"/>
          <p:cNvSpPr txBox="1"/>
          <p:nvPr/>
        </p:nvSpPr>
        <p:spPr>
          <a:xfrm>
            <a:off x="822960" y="5120640"/>
            <a:ext cx="10515600" cy="365760"/>
          </a:xfrm>
          <a:prstGeom prst="rect">
            <a:avLst/>
          </a:prstGeom>
          <a:noFill/>
        </p:spPr>
        <p:txBody>
          <a:bodyPr wrap="square" lIns="36576" rIns="36576" tIns="18288" bIns="18288"/>
          <a:lstStyle/>
          <a:p>
            <a:pPr algn="l"/>
            <a:r>
              <a:rPr sz="1600" b="1">
                <a:solidFill>
                  <a:srgbClr val="F5A524"/>
                </a:solidFill>
                <a:latin typeface="Arial"/>
                <a:ea typeface="Arial"/>
                <a:cs typeface="Arial"/>
              </a:rPr>
              <a:t>Official warnings always take precedence.</a:t>
            </a:r>
          </a:p>
        </p:txBody>
      </p:sp>
      <p:sp>
        <p:nvSpPr>
          <p:cNvPr id="13" name="Rectangle 12"/>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15" name="TextBox 14"/>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A1  ·  FEATURE GROUPS</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39 features — resolved. Not 40.</a:t>
            </a:r>
          </a:p>
        </p:txBody>
      </p:sp>
      <p:sp>
        <p:nvSpPr>
          <p:cNvPr id="8" name="Rectangle 7"/>
          <p:cNvSpPr/>
          <p:nvPr/>
        </p:nvSpPr>
        <p:spPr>
          <a:xfrm>
            <a:off x="411480" y="1207008"/>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298448"/>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Current hydro (3)</a:t>
            </a:r>
          </a:p>
        </p:txBody>
      </p:sp>
      <p:sp>
        <p:nvSpPr>
          <p:cNvPr id="10" name="TextBox 9"/>
          <p:cNvSpPr txBox="1"/>
          <p:nvPr/>
        </p:nvSpPr>
        <p:spPr>
          <a:xfrm>
            <a:off x="521208" y="1682496"/>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inflow_current
capacity_utilization
distance_from_low_flood</a:t>
            </a:r>
          </a:p>
        </p:txBody>
      </p:sp>
      <p:sp>
        <p:nvSpPr>
          <p:cNvPr id="11" name="Rectangle 10"/>
          <p:cNvSpPr/>
          <p:nvPr/>
        </p:nvSpPr>
        <p:spPr>
          <a:xfrm>
            <a:off x="3355848" y="1207008"/>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5576" y="1298448"/>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Season / calendar (8)</a:t>
            </a:r>
          </a:p>
        </p:txBody>
      </p:sp>
      <p:sp>
        <p:nvSpPr>
          <p:cNvPr id="13" name="TextBox 12"/>
          <p:cNvSpPr txBox="1"/>
          <p:nvPr/>
        </p:nvSpPr>
        <p:spPr>
          <a:xfrm>
            <a:off x="3465576" y="1682496"/>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month, day_of_year
day_of_week, flood_season
month_sin/cos, doy_sin/cos</a:t>
            </a:r>
          </a:p>
        </p:txBody>
      </p:sp>
      <p:sp>
        <p:nvSpPr>
          <p:cNvPr id="14" name="Rectangle 13"/>
          <p:cNvSpPr/>
          <p:nvPr/>
        </p:nvSpPr>
        <p:spPr>
          <a:xfrm>
            <a:off x="6300216" y="1207008"/>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298448"/>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Lags (4)</a:t>
            </a:r>
          </a:p>
        </p:txBody>
      </p:sp>
      <p:sp>
        <p:nvSpPr>
          <p:cNvPr id="16" name="TextBox 15"/>
          <p:cNvSpPr txBox="1"/>
          <p:nvPr/>
        </p:nvSpPr>
        <p:spPr>
          <a:xfrm>
            <a:off x="6409944" y="1682496"/>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inflow_lag_1
inflow_lag_2
inflow_lag_3
inflow_lag_7</a:t>
            </a:r>
          </a:p>
        </p:txBody>
      </p:sp>
      <p:sp>
        <p:nvSpPr>
          <p:cNvPr id="17" name="Rectangle 16"/>
          <p:cNvSpPr/>
          <p:nvPr/>
        </p:nvSpPr>
        <p:spPr>
          <a:xfrm>
            <a:off x="9244584" y="1207008"/>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54311" y="1298448"/>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Change (5)</a:t>
            </a:r>
          </a:p>
        </p:txBody>
      </p:sp>
      <p:sp>
        <p:nvSpPr>
          <p:cNvPr id="19" name="TextBox 18"/>
          <p:cNvSpPr txBox="1"/>
          <p:nvPr/>
        </p:nvSpPr>
        <p:spPr>
          <a:xfrm>
            <a:off x="9354311" y="1682496"/>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inflow_change_1 / 3 / 7
inflow_pct_change_1
inflow_pct_change_3</a:t>
            </a:r>
          </a:p>
        </p:txBody>
      </p:sp>
      <p:sp>
        <p:nvSpPr>
          <p:cNvPr id="20" name="Rectangle 19"/>
          <p:cNvSpPr/>
          <p:nvPr/>
        </p:nvSpPr>
        <p:spPr>
          <a:xfrm>
            <a:off x="411480" y="3611880"/>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3703320"/>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Rolling (8)</a:t>
            </a:r>
          </a:p>
        </p:txBody>
      </p:sp>
      <p:sp>
        <p:nvSpPr>
          <p:cNvPr id="22" name="TextBox 21"/>
          <p:cNvSpPr txBox="1"/>
          <p:nvPr/>
        </p:nvSpPr>
        <p:spPr>
          <a:xfrm>
            <a:off x="521208" y="4087368"/>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mean/max/std 3d &amp; 7d
inflow_vs_3d_mean
inflow_vs_7d_mean</a:t>
            </a:r>
          </a:p>
        </p:txBody>
      </p:sp>
      <p:sp>
        <p:nvSpPr>
          <p:cNvPr id="23" name="Rectangle 22"/>
          <p:cNvSpPr/>
          <p:nvPr/>
        </p:nvSpPr>
        <p:spPr>
          <a:xfrm>
            <a:off x="3355848" y="3611880"/>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65576" y="3703320"/>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Outflow (5)</a:t>
            </a:r>
          </a:p>
        </p:txBody>
      </p:sp>
      <p:sp>
        <p:nvSpPr>
          <p:cNvPr id="25" name="TextBox 24"/>
          <p:cNvSpPr txBox="1"/>
          <p:nvPr/>
        </p:nvSpPr>
        <p:spPr>
          <a:xfrm>
            <a:off x="3465576" y="4087368"/>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outflow_current
outflow_lag_1 / 3
inflow−outflow
inflow/outflow ratio</a:t>
            </a:r>
          </a:p>
        </p:txBody>
      </p:sp>
      <p:sp>
        <p:nvSpPr>
          <p:cNvPr id="26" name="Rectangle 25"/>
          <p:cNvSpPr/>
          <p:nvPr/>
        </p:nvSpPr>
        <p:spPr>
          <a:xfrm>
            <a:off x="6300216" y="3611880"/>
            <a:ext cx="2816352" cy="2212848"/>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3703320"/>
            <a:ext cx="2596896" cy="384048"/>
          </a:xfrm>
          <a:prstGeom prst="rect">
            <a:avLst/>
          </a:prstGeom>
          <a:noFill/>
        </p:spPr>
        <p:txBody>
          <a:bodyPr wrap="square" lIns="36576" rIns="36576" tIns="18288" bIns="18288"/>
          <a:lstStyle/>
          <a:p>
            <a:pPr algn="l"/>
            <a:r>
              <a:rPr sz="1300" b="1">
                <a:solidFill>
                  <a:srgbClr val="5CE1E6"/>
                </a:solidFill>
                <a:latin typeface="Arial"/>
                <a:ea typeface="Arial"/>
                <a:cs typeface="Arial"/>
              </a:rPr>
              <a:t>FFD forecast (6)</a:t>
            </a:r>
          </a:p>
        </p:txBody>
      </p:sp>
      <p:sp>
        <p:nvSpPr>
          <p:cNvPr id="28" name="TextBox 27"/>
          <p:cNvSpPr txBox="1"/>
          <p:nvPr/>
        </p:nvSpPr>
        <p:spPr>
          <a:xfrm>
            <a:off x="6409944" y="4087368"/>
            <a:ext cx="2596896" cy="1600200"/>
          </a:xfrm>
          <a:prstGeom prst="rect">
            <a:avLst/>
          </a:prstGeom>
          <a:noFill/>
        </p:spPr>
        <p:txBody>
          <a:bodyPr wrap="square" lIns="36576" rIns="36576" tIns="18288" bIns="18288"/>
          <a:lstStyle/>
          <a:p>
            <a:pPr algn="l"/>
            <a:r>
              <a:rPr sz="1200" b="0">
                <a:solidFill>
                  <a:srgbClr val="F4F0E6"/>
                </a:solidFill>
                <a:latin typeface="Arial"/>
                <a:ea typeface="Arial"/>
                <a:cs typeface="Arial"/>
              </a:rPr>
              <a:t>forecast_24h
forecast_change / %
low &amp; high margins
forecast_risk_numeric</a:t>
            </a:r>
          </a:p>
        </p:txBody>
      </p:sp>
      <p:sp>
        <p:nvSpPr>
          <p:cNvPr id="29" name="TextBox 28"/>
          <p:cNvSpPr txBox="1"/>
          <p:nvPr/>
        </p:nvSpPr>
        <p:spPr>
          <a:xfrm>
            <a:off x="502920" y="5943600"/>
            <a:ext cx="11155680" cy="320040"/>
          </a:xfrm>
          <a:prstGeom prst="rect">
            <a:avLst/>
          </a:prstGeom>
          <a:noFill/>
        </p:spPr>
        <p:txBody>
          <a:bodyPr wrap="square" lIns="36576" rIns="36576" tIns="18288" bIns="18288"/>
          <a:lstStyle/>
          <a:p>
            <a:pPr algn="l"/>
            <a:r>
              <a:rPr sz="1300" b="0">
                <a:solidFill>
                  <a:srgbClr val="8BA3B8"/>
                </a:solidFill>
                <a:latin typeface="Arial"/>
                <a:ea typeface="Arial"/>
                <a:cs typeface="Arial"/>
              </a:rPr>
              <a:t>Count confirmed from model package features[] and n_features_in_ = 39.  Rainfall is not among them.</a:t>
            </a:r>
          </a:p>
        </p:txBody>
      </p:sp>
      <p:sp>
        <p:nvSpPr>
          <p:cNvPr id="30" name="Rectangle 29"/>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2" name="TextBox 31"/>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A2  ·  HYPERPARAMETERS</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Selected model: Random Forest</a:t>
            </a:r>
          </a:p>
        </p:txBody>
      </p:sp>
      <p:sp>
        <p:nvSpPr>
          <p:cNvPr id="8" name="TextBox 7"/>
          <p:cNvSpPr txBox="1"/>
          <p:nvPr/>
        </p:nvSpPr>
        <p:spPr>
          <a:xfrm>
            <a:off x="502920" y="1097280"/>
            <a:ext cx="11155680" cy="320040"/>
          </a:xfrm>
          <a:prstGeom prst="rect">
            <a:avLst/>
          </a:prstGeom>
          <a:noFill/>
        </p:spPr>
        <p:txBody>
          <a:bodyPr wrap="square" lIns="36576" rIns="36576" tIns="18288" bIns="18288"/>
          <a:lstStyle/>
          <a:p>
            <a:pPr algn="l"/>
            <a:r>
              <a:rPr sz="1400" b="0">
                <a:solidFill>
                  <a:srgbClr val="8BA3B8"/>
                </a:solidFill>
                <a:latin typeface="Arial"/>
                <a:ea typeface="Arial"/>
                <a:cs typeface="Arial"/>
              </a:rPr>
              <a:t>Chosen over Extra Trees by TimeSeriesSplit macro F1 on 2024–2025 only.</a:t>
            </a:r>
          </a:p>
        </p:txBody>
      </p:sp>
      <p:sp>
        <p:nvSpPr>
          <p:cNvPr id="9" name="Rectangle 8"/>
          <p:cNvSpPr/>
          <p:nvPr/>
        </p:nvSpPr>
        <p:spPr>
          <a:xfrm>
            <a:off x="502920" y="155448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1907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n_estimators</a:t>
            </a:r>
          </a:p>
        </p:txBody>
      </p:sp>
      <p:sp>
        <p:nvSpPr>
          <p:cNvPr id="11" name="TextBox 10"/>
          <p:cNvSpPr txBox="1"/>
          <p:nvPr/>
        </p:nvSpPr>
        <p:spPr>
          <a:xfrm>
            <a:off x="640080" y="205740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400</a:t>
            </a:r>
          </a:p>
        </p:txBody>
      </p:sp>
      <p:sp>
        <p:nvSpPr>
          <p:cNvPr id="12" name="Rectangle 11"/>
          <p:cNvSpPr/>
          <p:nvPr/>
        </p:nvSpPr>
        <p:spPr>
          <a:xfrm>
            <a:off x="3410712" y="155448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71907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max_depth</a:t>
            </a:r>
          </a:p>
        </p:txBody>
      </p:sp>
      <p:sp>
        <p:nvSpPr>
          <p:cNvPr id="14" name="TextBox 13"/>
          <p:cNvSpPr txBox="1"/>
          <p:nvPr/>
        </p:nvSpPr>
        <p:spPr>
          <a:xfrm>
            <a:off x="3547872" y="205740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None</a:t>
            </a:r>
          </a:p>
        </p:txBody>
      </p:sp>
      <p:sp>
        <p:nvSpPr>
          <p:cNvPr id="15" name="Rectangle 14"/>
          <p:cNvSpPr/>
          <p:nvPr/>
        </p:nvSpPr>
        <p:spPr>
          <a:xfrm>
            <a:off x="6318504" y="155448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171907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min_samples_split</a:t>
            </a:r>
          </a:p>
        </p:txBody>
      </p:sp>
      <p:sp>
        <p:nvSpPr>
          <p:cNvPr id="17" name="TextBox 16"/>
          <p:cNvSpPr txBox="1"/>
          <p:nvPr/>
        </p:nvSpPr>
        <p:spPr>
          <a:xfrm>
            <a:off x="6455664" y="205740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4</a:t>
            </a:r>
          </a:p>
        </p:txBody>
      </p:sp>
      <p:sp>
        <p:nvSpPr>
          <p:cNvPr id="18" name="Rectangle 17"/>
          <p:cNvSpPr/>
          <p:nvPr/>
        </p:nvSpPr>
        <p:spPr>
          <a:xfrm>
            <a:off x="9226296" y="155448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6" y="171907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min_samples_leaf</a:t>
            </a:r>
          </a:p>
        </p:txBody>
      </p:sp>
      <p:sp>
        <p:nvSpPr>
          <p:cNvPr id="20" name="TextBox 19"/>
          <p:cNvSpPr txBox="1"/>
          <p:nvPr/>
        </p:nvSpPr>
        <p:spPr>
          <a:xfrm>
            <a:off x="9363456" y="205740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2</a:t>
            </a:r>
          </a:p>
        </p:txBody>
      </p:sp>
      <p:sp>
        <p:nvSpPr>
          <p:cNvPr id="21" name="Rectangle 20"/>
          <p:cNvSpPr/>
          <p:nvPr/>
        </p:nvSpPr>
        <p:spPr>
          <a:xfrm>
            <a:off x="502920" y="297180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3639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max_features</a:t>
            </a:r>
          </a:p>
        </p:txBody>
      </p:sp>
      <p:sp>
        <p:nvSpPr>
          <p:cNvPr id="23" name="TextBox 22"/>
          <p:cNvSpPr txBox="1"/>
          <p:nvPr/>
        </p:nvSpPr>
        <p:spPr>
          <a:xfrm>
            <a:off x="640080" y="347472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sqrt</a:t>
            </a:r>
          </a:p>
        </p:txBody>
      </p:sp>
      <p:sp>
        <p:nvSpPr>
          <p:cNvPr id="24" name="Rectangle 23"/>
          <p:cNvSpPr/>
          <p:nvPr/>
        </p:nvSpPr>
        <p:spPr>
          <a:xfrm>
            <a:off x="3410712" y="297180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313639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class_weight</a:t>
            </a:r>
          </a:p>
        </p:txBody>
      </p:sp>
      <p:sp>
        <p:nvSpPr>
          <p:cNvPr id="26" name="TextBox 25"/>
          <p:cNvSpPr txBox="1"/>
          <p:nvPr/>
        </p:nvSpPr>
        <p:spPr>
          <a:xfrm>
            <a:off x="3547872" y="347472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balanced_subsample</a:t>
            </a:r>
          </a:p>
        </p:txBody>
      </p:sp>
      <p:sp>
        <p:nvSpPr>
          <p:cNvPr id="27" name="Rectangle 26"/>
          <p:cNvSpPr/>
          <p:nvPr/>
        </p:nvSpPr>
        <p:spPr>
          <a:xfrm>
            <a:off x="6318504" y="297180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313639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random_state</a:t>
            </a:r>
          </a:p>
        </p:txBody>
      </p:sp>
      <p:sp>
        <p:nvSpPr>
          <p:cNvPr id="29" name="TextBox 28"/>
          <p:cNvSpPr txBox="1"/>
          <p:nvPr/>
        </p:nvSpPr>
        <p:spPr>
          <a:xfrm>
            <a:off x="6455664" y="347472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42</a:t>
            </a:r>
          </a:p>
        </p:txBody>
      </p:sp>
      <p:sp>
        <p:nvSpPr>
          <p:cNvPr id="30" name="Rectangle 29"/>
          <p:cNvSpPr/>
          <p:nvPr/>
        </p:nvSpPr>
        <p:spPr>
          <a:xfrm>
            <a:off x="9226296" y="2971800"/>
            <a:ext cx="2788920" cy="1280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63456" y="3136392"/>
            <a:ext cx="2514600" cy="320040"/>
          </a:xfrm>
          <a:prstGeom prst="rect">
            <a:avLst/>
          </a:prstGeom>
          <a:noFill/>
        </p:spPr>
        <p:txBody>
          <a:bodyPr wrap="square" lIns="36576" rIns="36576" tIns="18288" bIns="18288"/>
          <a:lstStyle/>
          <a:p>
            <a:pPr algn="l"/>
            <a:r>
              <a:rPr sz="1200" b="0">
                <a:solidFill>
                  <a:srgbClr val="8BA3B8"/>
                </a:solidFill>
                <a:latin typeface="Arial"/>
                <a:ea typeface="Arial"/>
                <a:cs typeface="Arial"/>
              </a:rPr>
              <a:t>imputer</a:t>
            </a:r>
          </a:p>
        </p:txBody>
      </p:sp>
      <p:sp>
        <p:nvSpPr>
          <p:cNvPr id="32" name="TextBox 31"/>
          <p:cNvSpPr txBox="1"/>
          <p:nvPr/>
        </p:nvSpPr>
        <p:spPr>
          <a:xfrm>
            <a:off x="9363456" y="3474720"/>
            <a:ext cx="2514600" cy="548640"/>
          </a:xfrm>
          <a:prstGeom prst="rect">
            <a:avLst/>
          </a:prstGeom>
          <a:noFill/>
        </p:spPr>
        <p:txBody>
          <a:bodyPr wrap="square" lIns="36576" rIns="36576" tIns="18288" bIns="18288"/>
          <a:lstStyle/>
          <a:p>
            <a:pPr algn="l"/>
            <a:r>
              <a:rPr sz="2000" b="1">
                <a:solidFill>
                  <a:srgbClr val="F4F0E6"/>
                </a:solidFill>
                <a:latin typeface="Arial"/>
                <a:ea typeface="Arial"/>
                <a:cs typeface="Arial"/>
              </a:rPr>
              <a:t>median</a:t>
            </a:r>
          </a:p>
        </p:txBody>
      </p:sp>
      <p:sp>
        <p:nvSpPr>
          <p:cNvPr id="33" name="Rectangle 32"/>
          <p:cNvSpPr/>
          <p:nvPr/>
        </p:nvSpPr>
        <p:spPr>
          <a:xfrm>
            <a:off x="502920" y="4572000"/>
            <a:ext cx="11173968" cy="155448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709160"/>
            <a:ext cx="10789920" cy="320040"/>
          </a:xfrm>
          <a:prstGeom prst="rect">
            <a:avLst/>
          </a:prstGeom>
          <a:noFill/>
        </p:spPr>
        <p:txBody>
          <a:bodyPr wrap="square" lIns="36576" rIns="36576" tIns="18288" bIns="18288"/>
          <a:lstStyle/>
          <a:p>
            <a:pPr algn="l"/>
            <a:r>
              <a:rPr sz="1300" b="1">
                <a:solidFill>
                  <a:srgbClr val="F5A524"/>
                </a:solidFill>
                <a:latin typeface="Arial"/>
                <a:ea typeface="Arial"/>
                <a:cs typeface="Arial"/>
              </a:rPr>
              <a:t>EXTRA TREES CANDIDATE  ·  not selected</a:t>
            </a:r>
          </a:p>
        </p:txBody>
      </p:sp>
      <p:sp>
        <p:nvSpPr>
          <p:cNvPr id="35" name="TextBox 34"/>
          <p:cNvSpPr txBox="1"/>
          <p:nvPr/>
        </p:nvSpPr>
        <p:spPr>
          <a:xfrm>
            <a:off x="685800" y="5074920"/>
            <a:ext cx="10789920" cy="822960"/>
          </a:xfrm>
          <a:prstGeom prst="rect">
            <a:avLst/>
          </a:prstGeom>
          <a:noFill/>
        </p:spPr>
        <p:txBody>
          <a:bodyPr wrap="square" lIns="36576" rIns="36576" tIns="18288" bIns="18288"/>
          <a:lstStyle/>
          <a:p>
            <a:pPr algn="l"/>
            <a:r>
              <a:rPr sz="1400" b="0">
                <a:solidFill>
                  <a:srgbClr val="F4F0E6"/>
                </a:solidFill>
                <a:latin typeface="Arial"/>
                <a:ea typeface="Arial"/>
                <a:cs typeface="Arial"/>
              </a:rPr>
              <a:t>Same 400 trees, same splits, class_weight = balanced instead of balanced_subsample.
StandardScaler is not used — tree models do not require it.</a:t>
            </a:r>
          </a:p>
        </p:txBody>
      </p:sp>
      <p:sp>
        <p:nvSpPr>
          <p:cNvPr id="36" name="Rectangle 35"/>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8" name="TextBox 37"/>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A3  ·  CLASSIFICATION DETAIL</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2026 test: almost a single-class year.</a:t>
            </a:r>
          </a:p>
        </p:txBody>
      </p:sp>
      <p:sp>
        <p:nvSpPr>
          <p:cNvPr id="8" name="Rectangle 7"/>
          <p:cNvSpPr/>
          <p:nvPr/>
        </p:nvSpPr>
        <p:spPr>
          <a:xfrm>
            <a:off x="502920" y="1280160"/>
            <a:ext cx="5623560" cy="4709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257800" cy="320040"/>
          </a:xfrm>
          <a:prstGeom prst="rect">
            <a:avLst/>
          </a:prstGeom>
          <a:noFill/>
        </p:spPr>
        <p:txBody>
          <a:bodyPr wrap="square" lIns="36576" rIns="36576" tIns="18288" bIns="18288"/>
          <a:lstStyle/>
          <a:p>
            <a:pPr algn="l"/>
            <a:r>
              <a:rPr sz="1200" b="1">
                <a:solidFill>
                  <a:srgbClr val="5CE1E6"/>
                </a:solidFill>
                <a:latin typeface="Arial"/>
                <a:ea typeface="Arial"/>
                <a:cs typeface="Arial"/>
              </a:rPr>
              <a:t>FROM floodshield_2026_predictions.csv</a:t>
            </a:r>
          </a:p>
        </p:txBody>
      </p:sp>
      <p:sp>
        <p:nvSpPr>
          <p:cNvPr id="10" name="Rectangle 9"/>
          <p:cNvSpPr/>
          <p:nvPr/>
        </p:nvSpPr>
        <p:spPr>
          <a:xfrm>
            <a:off x="685800" y="1874519"/>
            <a:ext cx="5257800" cy="54864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874519"/>
            <a:ext cx="1371600" cy="548640"/>
          </a:xfrm>
          <a:prstGeom prst="rect">
            <a:avLst/>
          </a:prstGeom>
          <a:noFill/>
        </p:spPr>
        <p:txBody>
          <a:bodyPr wrap="square" lIns="36576" rIns="36576" tIns="18288" bIns="18288"/>
          <a:lstStyle/>
          <a:p>
            <a:pPr algn="l"/>
            <a:r>
              <a:rPr sz="1300" b="1">
                <a:solidFill>
                  <a:srgbClr val="F4F0E6"/>
                </a:solidFill>
                <a:latin typeface="Arial"/>
                <a:ea typeface="Arial"/>
                <a:cs typeface="Arial"/>
              </a:rPr>
              <a:t>Normal</a:t>
            </a:r>
          </a:p>
        </p:txBody>
      </p:sp>
      <p:sp>
        <p:nvSpPr>
          <p:cNvPr id="12" name="TextBox 11"/>
          <p:cNvSpPr txBox="1"/>
          <p:nvPr/>
        </p:nvSpPr>
        <p:spPr>
          <a:xfrm>
            <a:off x="2240280" y="1874519"/>
            <a:ext cx="137160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51 actual</a:t>
            </a:r>
          </a:p>
        </p:txBody>
      </p:sp>
      <p:sp>
        <p:nvSpPr>
          <p:cNvPr id="13" name="TextBox 12"/>
          <p:cNvSpPr txBox="1"/>
          <p:nvPr/>
        </p:nvSpPr>
        <p:spPr>
          <a:xfrm>
            <a:off x="3657600" y="1874519"/>
            <a:ext cx="210312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51 predicted correctly</a:t>
            </a:r>
          </a:p>
        </p:txBody>
      </p:sp>
      <p:sp>
        <p:nvSpPr>
          <p:cNvPr id="14" name="Rectangle 13"/>
          <p:cNvSpPr/>
          <p:nvPr/>
        </p:nvSpPr>
        <p:spPr>
          <a:xfrm>
            <a:off x="685800" y="2496312"/>
            <a:ext cx="5257800" cy="54864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1371600" cy="548640"/>
          </a:xfrm>
          <a:prstGeom prst="rect">
            <a:avLst/>
          </a:prstGeom>
          <a:noFill/>
        </p:spPr>
        <p:txBody>
          <a:bodyPr wrap="square" lIns="36576" rIns="36576" tIns="18288" bIns="18288"/>
          <a:lstStyle/>
          <a:p>
            <a:pPr algn="l"/>
            <a:r>
              <a:rPr sz="1300" b="1">
                <a:solidFill>
                  <a:srgbClr val="F4F0E6"/>
                </a:solidFill>
                <a:latin typeface="Arial"/>
                <a:ea typeface="Arial"/>
                <a:cs typeface="Arial"/>
              </a:rPr>
              <a:t>Low</a:t>
            </a:r>
          </a:p>
        </p:txBody>
      </p:sp>
      <p:sp>
        <p:nvSpPr>
          <p:cNvPr id="16" name="TextBox 15"/>
          <p:cNvSpPr txBox="1"/>
          <p:nvPr/>
        </p:nvSpPr>
        <p:spPr>
          <a:xfrm>
            <a:off x="2240280" y="2496312"/>
            <a:ext cx="137160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1 actual</a:t>
            </a:r>
          </a:p>
        </p:txBody>
      </p:sp>
      <p:sp>
        <p:nvSpPr>
          <p:cNvPr id="17" name="TextBox 16"/>
          <p:cNvSpPr txBox="1"/>
          <p:nvPr/>
        </p:nvSpPr>
        <p:spPr>
          <a:xfrm>
            <a:off x="3657600" y="2496312"/>
            <a:ext cx="210312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0 predicted correctly</a:t>
            </a:r>
          </a:p>
        </p:txBody>
      </p:sp>
      <p:sp>
        <p:nvSpPr>
          <p:cNvPr id="18" name="Rectangle 17"/>
          <p:cNvSpPr/>
          <p:nvPr/>
        </p:nvSpPr>
        <p:spPr>
          <a:xfrm>
            <a:off x="685800" y="3118104"/>
            <a:ext cx="5257800" cy="54864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118104"/>
            <a:ext cx="1371600" cy="548640"/>
          </a:xfrm>
          <a:prstGeom prst="rect">
            <a:avLst/>
          </a:prstGeom>
          <a:noFill/>
        </p:spPr>
        <p:txBody>
          <a:bodyPr wrap="square" lIns="36576" rIns="36576" tIns="18288" bIns="18288"/>
          <a:lstStyle/>
          <a:p>
            <a:pPr algn="l"/>
            <a:r>
              <a:rPr sz="1300" b="1">
                <a:solidFill>
                  <a:srgbClr val="F4F0E6"/>
                </a:solidFill>
                <a:latin typeface="Arial"/>
                <a:ea typeface="Arial"/>
                <a:cs typeface="Arial"/>
              </a:rPr>
              <a:t>Medium</a:t>
            </a:r>
          </a:p>
        </p:txBody>
      </p:sp>
      <p:sp>
        <p:nvSpPr>
          <p:cNvPr id="20" name="TextBox 19"/>
          <p:cNvSpPr txBox="1"/>
          <p:nvPr/>
        </p:nvSpPr>
        <p:spPr>
          <a:xfrm>
            <a:off x="2240280" y="3118104"/>
            <a:ext cx="137160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0 actual</a:t>
            </a:r>
          </a:p>
        </p:txBody>
      </p:sp>
      <p:sp>
        <p:nvSpPr>
          <p:cNvPr id="21" name="TextBox 20"/>
          <p:cNvSpPr txBox="1"/>
          <p:nvPr/>
        </p:nvSpPr>
        <p:spPr>
          <a:xfrm>
            <a:off x="3657600" y="3118104"/>
            <a:ext cx="210312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a:t>
            </a:r>
          </a:p>
        </p:txBody>
      </p:sp>
      <p:sp>
        <p:nvSpPr>
          <p:cNvPr id="22" name="Rectangle 21"/>
          <p:cNvSpPr/>
          <p:nvPr/>
        </p:nvSpPr>
        <p:spPr>
          <a:xfrm>
            <a:off x="685800" y="3739896"/>
            <a:ext cx="5257800" cy="54864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39896"/>
            <a:ext cx="1371600" cy="548640"/>
          </a:xfrm>
          <a:prstGeom prst="rect">
            <a:avLst/>
          </a:prstGeom>
          <a:noFill/>
        </p:spPr>
        <p:txBody>
          <a:bodyPr wrap="square" lIns="36576" rIns="36576" tIns="18288" bIns="18288"/>
          <a:lstStyle/>
          <a:p>
            <a:pPr algn="l"/>
            <a:r>
              <a:rPr sz="1300" b="1">
                <a:solidFill>
                  <a:srgbClr val="F4F0E6"/>
                </a:solidFill>
                <a:latin typeface="Arial"/>
                <a:ea typeface="Arial"/>
                <a:cs typeface="Arial"/>
              </a:rPr>
              <a:t>High</a:t>
            </a:r>
          </a:p>
        </p:txBody>
      </p:sp>
      <p:sp>
        <p:nvSpPr>
          <p:cNvPr id="24" name="TextBox 23"/>
          <p:cNvSpPr txBox="1"/>
          <p:nvPr/>
        </p:nvSpPr>
        <p:spPr>
          <a:xfrm>
            <a:off x="2240280" y="3739896"/>
            <a:ext cx="137160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0 actual</a:t>
            </a:r>
          </a:p>
        </p:txBody>
      </p:sp>
      <p:sp>
        <p:nvSpPr>
          <p:cNvPr id="25" name="TextBox 24"/>
          <p:cNvSpPr txBox="1"/>
          <p:nvPr/>
        </p:nvSpPr>
        <p:spPr>
          <a:xfrm>
            <a:off x="3657600" y="3739896"/>
            <a:ext cx="210312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a:t>
            </a:r>
          </a:p>
        </p:txBody>
      </p:sp>
      <p:sp>
        <p:nvSpPr>
          <p:cNvPr id="26" name="Rectangle 25"/>
          <p:cNvSpPr/>
          <p:nvPr/>
        </p:nvSpPr>
        <p:spPr>
          <a:xfrm>
            <a:off x="685800" y="4361688"/>
            <a:ext cx="5257800" cy="54864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361688"/>
            <a:ext cx="1371600" cy="548640"/>
          </a:xfrm>
          <a:prstGeom prst="rect">
            <a:avLst/>
          </a:prstGeom>
          <a:noFill/>
        </p:spPr>
        <p:txBody>
          <a:bodyPr wrap="square" lIns="36576" rIns="36576" tIns="18288" bIns="18288"/>
          <a:lstStyle/>
          <a:p>
            <a:pPr algn="l"/>
            <a:r>
              <a:rPr sz="1300" b="1">
                <a:solidFill>
                  <a:srgbClr val="F4F0E6"/>
                </a:solidFill>
                <a:latin typeface="Arial"/>
                <a:ea typeface="Arial"/>
                <a:cs typeface="Arial"/>
              </a:rPr>
              <a:t>Very High</a:t>
            </a:r>
          </a:p>
        </p:txBody>
      </p:sp>
      <p:sp>
        <p:nvSpPr>
          <p:cNvPr id="28" name="TextBox 27"/>
          <p:cNvSpPr txBox="1"/>
          <p:nvPr/>
        </p:nvSpPr>
        <p:spPr>
          <a:xfrm>
            <a:off x="2240280" y="4361688"/>
            <a:ext cx="137160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0 actual</a:t>
            </a:r>
          </a:p>
        </p:txBody>
      </p:sp>
      <p:sp>
        <p:nvSpPr>
          <p:cNvPr id="29" name="TextBox 28"/>
          <p:cNvSpPr txBox="1"/>
          <p:nvPr/>
        </p:nvSpPr>
        <p:spPr>
          <a:xfrm>
            <a:off x="3657600" y="4361688"/>
            <a:ext cx="210312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unseen in training</a:t>
            </a:r>
          </a:p>
        </p:txBody>
      </p:sp>
      <p:sp>
        <p:nvSpPr>
          <p:cNvPr id="30" name="Rectangle 29"/>
          <p:cNvSpPr/>
          <p:nvPr/>
        </p:nvSpPr>
        <p:spPr>
          <a:xfrm>
            <a:off x="685800" y="4983480"/>
            <a:ext cx="5257800" cy="548640"/>
          </a:xfrm>
          <a:prstGeom prst="rect">
            <a:avLst/>
          </a:prstGeom>
          <a:solidFill>
            <a:srgbClr val="14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983480"/>
            <a:ext cx="1371600" cy="548640"/>
          </a:xfrm>
          <a:prstGeom prst="rect">
            <a:avLst/>
          </a:prstGeom>
          <a:noFill/>
        </p:spPr>
        <p:txBody>
          <a:bodyPr wrap="square" lIns="36576" rIns="36576" tIns="18288" bIns="18288"/>
          <a:lstStyle/>
          <a:p>
            <a:pPr algn="l"/>
            <a:r>
              <a:rPr sz="1300" b="1">
                <a:solidFill>
                  <a:srgbClr val="F4F0E6"/>
                </a:solidFill>
                <a:latin typeface="Arial"/>
                <a:ea typeface="Arial"/>
                <a:cs typeface="Arial"/>
              </a:rPr>
              <a:t>Exceptional</a:t>
            </a:r>
          </a:p>
        </p:txBody>
      </p:sp>
      <p:sp>
        <p:nvSpPr>
          <p:cNvPr id="32" name="TextBox 31"/>
          <p:cNvSpPr txBox="1"/>
          <p:nvPr/>
        </p:nvSpPr>
        <p:spPr>
          <a:xfrm>
            <a:off x="2240280" y="4983480"/>
            <a:ext cx="137160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0 actual</a:t>
            </a:r>
          </a:p>
        </p:txBody>
      </p:sp>
      <p:sp>
        <p:nvSpPr>
          <p:cNvPr id="33" name="TextBox 32"/>
          <p:cNvSpPr txBox="1"/>
          <p:nvPr/>
        </p:nvSpPr>
        <p:spPr>
          <a:xfrm>
            <a:off x="3657600" y="4983480"/>
            <a:ext cx="2103120" cy="548640"/>
          </a:xfrm>
          <a:prstGeom prst="rect">
            <a:avLst/>
          </a:prstGeom>
          <a:noFill/>
        </p:spPr>
        <p:txBody>
          <a:bodyPr wrap="square" lIns="36576" rIns="36576" tIns="18288" bIns="18288"/>
          <a:lstStyle/>
          <a:p>
            <a:pPr algn="l"/>
            <a:r>
              <a:rPr sz="1200" b="0">
                <a:solidFill>
                  <a:srgbClr val="8BA3B8"/>
                </a:solidFill>
                <a:latin typeface="Arial"/>
                <a:ea typeface="Arial"/>
                <a:cs typeface="Arial"/>
              </a:rPr>
              <a:t>1 train example only*</a:t>
            </a:r>
          </a:p>
        </p:txBody>
      </p:sp>
      <p:sp>
        <p:nvSpPr>
          <p:cNvPr id="34" name="Rectangle 33"/>
          <p:cNvSpPr/>
          <p:nvPr/>
        </p:nvSpPr>
        <p:spPr>
          <a:xfrm>
            <a:off x="6355080" y="1280160"/>
            <a:ext cx="5321808" cy="4709160"/>
          </a:xfrm>
          <a:prstGeom prst="rect">
            <a:avLst/>
          </a:prstGeom>
          <a:solidFill>
            <a:srgbClr val="102238"/>
          </a:solidFill>
          <a:ln w="1524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1417320"/>
            <a:ext cx="4983480" cy="365760"/>
          </a:xfrm>
          <a:prstGeom prst="rect">
            <a:avLst/>
          </a:prstGeom>
          <a:noFill/>
        </p:spPr>
        <p:txBody>
          <a:bodyPr wrap="square" lIns="36576" rIns="36576" tIns="18288" bIns="18288"/>
          <a:lstStyle/>
          <a:p>
            <a:pPr algn="l"/>
            <a:r>
              <a:rPr sz="1300" b="1">
                <a:solidFill>
                  <a:srgbClr val="F5A524"/>
                </a:solidFill>
                <a:latin typeface="Arial"/>
                <a:ea typeface="Arial"/>
                <a:cs typeface="Arial"/>
              </a:rPr>
              <a:t>HOW TO READ THE METRICS</a:t>
            </a:r>
          </a:p>
        </p:txBody>
      </p:sp>
      <p:sp>
        <p:nvSpPr>
          <p:cNvPr id="36" name="TextBox 35"/>
          <p:cNvSpPr txBox="1"/>
          <p:nvPr/>
        </p:nvSpPr>
        <p:spPr>
          <a:xfrm>
            <a:off x="6537960" y="1920240"/>
            <a:ext cx="4983480" cy="3749039"/>
          </a:xfrm>
          <a:prstGeom prst="rect">
            <a:avLst/>
          </a:prstGeom>
          <a:noFill/>
        </p:spPr>
        <p:txBody>
          <a:bodyPr wrap="square" lIns="36576" rIns="36576" tIns="18288" bIns="18288"/>
          <a:lstStyle/>
          <a:p>
            <a:pPr algn="l"/>
            <a:r>
              <a:rPr sz="1400" b="0">
                <a:solidFill>
                  <a:srgbClr val="F4F0E6"/>
                </a:solidFill>
                <a:latin typeface="Arial"/>
                <a:ea typeface="Arial"/>
                <a:cs typeface="Arial"/>
              </a:rPr>
              <a:t>Accuracy 98.1% and weighted F1 97.1% are majority-class numbers.
Balanced accuracy 50.0% and macro F1 49.5% are the rare-class numbers.
Trained classes_ : Exceptional, High, Low, Medium, Normal. Very High is absent.
*Train-class counts are reconstructed from the current CSV with the training script’s next-day filter — not stored inside the pickle.</a:t>
            </a:r>
          </a:p>
        </p:txBody>
      </p:sp>
      <p:sp>
        <p:nvSpPr>
          <p:cNvPr id="37" name="Rectangle 36"/>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9" name="TextBox 38"/>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A4  ·  API</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Four dashboard endpoints. Two run modes.</a:t>
            </a:r>
          </a:p>
        </p:txBody>
      </p:sp>
      <p:sp>
        <p:nvSpPr>
          <p:cNvPr id="8" name="Rectangle 7"/>
          <p:cNvSpPr/>
          <p:nvPr/>
        </p:nvSpPr>
        <p:spPr>
          <a:xfrm>
            <a:off x="502920" y="1280160"/>
            <a:ext cx="6766560" cy="585216"/>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80160"/>
            <a:ext cx="3200400" cy="585216"/>
          </a:xfrm>
          <a:prstGeom prst="rect">
            <a:avLst/>
          </a:prstGeom>
          <a:noFill/>
        </p:spPr>
        <p:txBody>
          <a:bodyPr wrap="square" lIns="36576" rIns="36576" tIns="18288" bIns="18288"/>
          <a:lstStyle/>
          <a:p>
            <a:pPr algn="l"/>
            <a:r>
              <a:rPr sz="1400" b="1">
                <a:solidFill>
                  <a:srgbClr val="5CE1E6"/>
                </a:solidFill>
                <a:latin typeface="Arial"/>
                <a:ea typeface="Arial"/>
                <a:cs typeface="Arial"/>
              </a:rPr>
              <a:t>GET /</a:t>
            </a:r>
          </a:p>
        </p:txBody>
      </p:sp>
      <p:sp>
        <p:nvSpPr>
          <p:cNvPr id="10" name="TextBox 9"/>
          <p:cNvSpPr txBox="1"/>
          <p:nvPr/>
        </p:nvSpPr>
        <p:spPr>
          <a:xfrm>
            <a:off x="3931920" y="1280160"/>
            <a:ext cx="3154680" cy="585216"/>
          </a:xfrm>
          <a:prstGeom prst="rect">
            <a:avLst/>
          </a:prstGeom>
          <a:noFill/>
        </p:spPr>
        <p:txBody>
          <a:bodyPr wrap="square" lIns="36576" rIns="36576" tIns="18288" bIns="18288"/>
          <a:lstStyle/>
          <a:p>
            <a:pPr algn="l"/>
            <a:r>
              <a:rPr sz="1400" b="0">
                <a:solidFill>
                  <a:srgbClr val="F4F0E6"/>
                </a:solidFill>
                <a:latin typeface="Arial"/>
                <a:ea typeface="Arial"/>
                <a:cs typeface="Arial"/>
              </a:rPr>
              <a:t>Health message</a:t>
            </a:r>
          </a:p>
        </p:txBody>
      </p:sp>
      <p:sp>
        <p:nvSpPr>
          <p:cNvPr id="11" name="Rectangle 10"/>
          <p:cNvSpPr/>
          <p:nvPr/>
        </p:nvSpPr>
        <p:spPr>
          <a:xfrm>
            <a:off x="502920" y="1938528"/>
            <a:ext cx="6766560" cy="585216"/>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38528"/>
            <a:ext cx="3200400" cy="585216"/>
          </a:xfrm>
          <a:prstGeom prst="rect">
            <a:avLst/>
          </a:prstGeom>
          <a:noFill/>
        </p:spPr>
        <p:txBody>
          <a:bodyPr wrap="square" lIns="36576" rIns="36576" tIns="18288" bIns="18288"/>
          <a:lstStyle/>
          <a:p>
            <a:pPr algn="l"/>
            <a:r>
              <a:rPr sz="1400" b="1">
                <a:solidFill>
                  <a:srgbClr val="5CE1E6"/>
                </a:solidFill>
                <a:latin typeface="Arial"/>
                <a:ea typeface="Arial"/>
                <a:cs typeface="Arial"/>
              </a:rPr>
              <a:t>GET /api/health</a:t>
            </a:r>
          </a:p>
        </p:txBody>
      </p:sp>
      <p:sp>
        <p:nvSpPr>
          <p:cNvPr id="13" name="TextBox 12"/>
          <p:cNvSpPr txBox="1"/>
          <p:nvPr/>
        </p:nvSpPr>
        <p:spPr>
          <a:xfrm>
            <a:off x="3931920" y="1938528"/>
            <a:ext cx="3154680" cy="585216"/>
          </a:xfrm>
          <a:prstGeom prst="rect">
            <a:avLst/>
          </a:prstGeom>
          <a:noFill/>
        </p:spPr>
        <p:txBody>
          <a:bodyPr wrap="square" lIns="36576" rIns="36576" tIns="18288" bIns="18288"/>
          <a:lstStyle/>
          <a:p>
            <a:pPr algn="l"/>
            <a:r>
              <a:rPr sz="1400" b="0">
                <a:solidFill>
                  <a:srgbClr val="F4F0E6"/>
                </a:solidFill>
                <a:latin typeface="Arial"/>
                <a:ea typeface="Arial"/>
                <a:cs typeface="Arial"/>
              </a:rPr>
              <a:t>CSV + model present</a:t>
            </a:r>
          </a:p>
        </p:txBody>
      </p:sp>
      <p:sp>
        <p:nvSpPr>
          <p:cNvPr id="14" name="Rectangle 13"/>
          <p:cNvSpPr/>
          <p:nvPr/>
        </p:nvSpPr>
        <p:spPr>
          <a:xfrm>
            <a:off x="502920" y="2596896"/>
            <a:ext cx="6766560" cy="585216"/>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596896"/>
            <a:ext cx="3200400" cy="585216"/>
          </a:xfrm>
          <a:prstGeom prst="rect">
            <a:avLst/>
          </a:prstGeom>
          <a:noFill/>
        </p:spPr>
        <p:txBody>
          <a:bodyPr wrap="square" lIns="36576" rIns="36576" tIns="18288" bIns="18288"/>
          <a:lstStyle/>
          <a:p>
            <a:pPr algn="l"/>
            <a:r>
              <a:rPr sz="1400" b="1">
                <a:solidFill>
                  <a:srgbClr val="5CE1E6"/>
                </a:solidFill>
                <a:latin typeface="Arial"/>
                <a:ea typeface="Arial"/>
                <a:cs typeface="Arial"/>
              </a:rPr>
              <a:t>GET /api/status</a:t>
            </a:r>
          </a:p>
        </p:txBody>
      </p:sp>
      <p:sp>
        <p:nvSpPr>
          <p:cNvPr id="16" name="TextBox 15"/>
          <p:cNvSpPr txBox="1"/>
          <p:nvPr/>
        </p:nvSpPr>
        <p:spPr>
          <a:xfrm>
            <a:off x="3931920" y="2596896"/>
            <a:ext cx="3154680" cy="585216"/>
          </a:xfrm>
          <a:prstGeom prst="rect">
            <a:avLst/>
          </a:prstGeom>
          <a:noFill/>
        </p:spPr>
        <p:txBody>
          <a:bodyPr wrap="square" lIns="36576" rIns="36576" tIns="18288" bIns="18288"/>
          <a:lstStyle/>
          <a:p>
            <a:pPr algn="l"/>
            <a:r>
              <a:rPr sz="1400" b="0">
                <a:solidFill>
                  <a:srgbClr val="F4F0E6"/>
                </a:solidFill>
                <a:latin typeface="Arial"/>
                <a:ea typeface="Arial"/>
                <a:cs typeface="Arial"/>
              </a:rPr>
              <a:t>Fused alert + ML + bilingual text</a:t>
            </a:r>
          </a:p>
        </p:txBody>
      </p:sp>
      <p:sp>
        <p:nvSpPr>
          <p:cNvPr id="17" name="Rectangle 16"/>
          <p:cNvSpPr/>
          <p:nvPr/>
        </p:nvSpPr>
        <p:spPr>
          <a:xfrm>
            <a:off x="502920" y="3255264"/>
            <a:ext cx="6766560" cy="585216"/>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55264"/>
            <a:ext cx="3200400" cy="585216"/>
          </a:xfrm>
          <a:prstGeom prst="rect">
            <a:avLst/>
          </a:prstGeom>
          <a:noFill/>
        </p:spPr>
        <p:txBody>
          <a:bodyPr wrap="square" lIns="36576" rIns="36576" tIns="18288" bIns="18288"/>
          <a:lstStyle/>
          <a:p>
            <a:pPr algn="l"/>
            <a:r>
              <a:rPr sz="1400" b="1">
                <a:solidFill>
                  <a:srgbClr val="5CE1E6"/>
                </a:solidFill>
                <a:latin typeface="Arial"/>
                <a:ea typeface="Arial"/>
                <a:cs typeface="Arial"/>
              </a:rPr>
              <a:t>GET /api/history</a:t>
            </a:r>
          </a:p>
        </p:txBody>
      </p:sp>
      <p:sp>
        <p:nvSpPr>
          <p:cNvPr id="19" name="TextBox 18"/>
          <p:cNvSpPr txBox="1"/>
          <p:nvPr/>
        </p:nvSpPr>
        <p:spPr>
          <a:xfrm>
            <a:off x="3931920" y="3255264"/>
            <a:ext cx="3154680" cy="585216"/>
          </a:xfrm>
          <a:prstGeom prst="rect">
            <a:avLst/>
          </a:prstGeom>
          <a:noFill/>
        </p:spPr>
        <p:txBody>
          <a:bodyPr wrap="square" lIns="36576" rIns="36576" tIns="18288" bIns="18288"/>
          <a:lstStyle/>
          <a:p>
            <a:pPr algn="l"/>
            <a:r>
              <a:rPr sz="1400" b="0">
                <a:solidFill>
                  <a:srgbClr val="F4F0E6"/>
                </a:solidFill>
                <a:latin typeface="Arial"/>
                <a:ea typeface="Arial"/>
                <a:cs typeface="Arial"/>
              </a:rPr>
              <a:t>Recent Marala observations</a:t>
            </a:r>
          </a:p>
        </p:txBody>
      </p:sp>
      <p:sp>
        <p:nvSpPr>
          <p:cNvPr id="20" name="Rectangle 19"/>
          <p:cNvSpPr/>
          <p:nvPr/>
        </p:nvSpPr>
        <p:spPr>
          <a:xfrm>
            <a:off x="502920" y="3913631"/>
            <a:ext cx="6766560" cy="585216"/>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913631"/>
            <a:ext cx="3200400" cy="585216"/>
          </a:xfrm>
          <a:prstGeom prst="rect">
            <a:avLst/>
          </a:prstGeom>
          <a:noFill/>
        </p:spPr>
        <p:txBody>
          <a:bodyPr wrap="square" lIns="36576" rIns="36576" tIns="18288" bIns="18288"/>
          <a:lstStyle/>
          <a:p>
            <a:pPr algn="l"/>
            <a:r>
              <a:rPr sz="1400" b="1">
                <a:solidFill>
                  <a:srgbClr val="5CE1E6"/>
                </a:solidFill>
                <a:latin typeface="Arial"/>
                <a:ea typeface="Arial"/>
                <a:cs typeface="Arial"/>
              </a:rPr>
              <a:t>GET /api/model-info</a:t>
            </a:r>
          </a:p>
        </p:txBody>
      </p:sp>
      <p:sp>
        <p:nvSpPr>
          <p:cNvPr id="22" name="TextBox 21"/>
          <p:cNvSpPr txBox="1"/>
          <p:nvPr/>
        </p:nvSpPr>
        <p:spPr>
          <a:xfrm>
            <a:off x="3931920" y="3913631"/>
            <a:ext cx="3154680" cy="585216"/>
          </a:xfrm>
          <a:prstGeom prst="rect">
            <a:avLst/>
          </a:prstGeom>
          <a:noFill/>
        </p:spPr>
        <p:txBody>
          <a:bodyPr wrap="square" lIns="36576" rIns="36576" tIns="18288" bIns="18288"/>
          <a:lstStyle/>
          <a:p>
            <a:pPr algn="l"/>
            <a:r>
              <a:rPr sz="1400" b="0">
                <a:solidFill>
                  <a:srgbClr val="F4F0E6"/>
                </a:solidFill>
                <a:latin typeface="Arial"/>
                <a:ea typeface="Arial"/>
                <a:cs typeface="Arial"/>
              </a:rPr>
              <a:t>Metadata + stored 2026 metrics</a:t>
            </a:r>
          </a:p>
        </p:txBody>
      </p:sp>
      <p:sp>
        <p:nvSpPr>
          <p:cNvPr id="23" name="Rectangle 22"/>
          <p:cNvSpPr/>
          <p:nvPr/>
        </p:nvSpPr>
        <p:spPr>
          <a:xfrm>
            <a:off x="7452360" y="1280160"/>
            <a:ext cx="4224528" cy="3291840"/>
          </a:xfrm>
          <a:prstGeom prst="rect">
            <a:avLst/>
          </a:prstGeom>
          <a:solidFill>
            <a:srgbClr val="102238"/>
          </a:solidFill>
          <a:ln w="15240">
            <a:solidFill>
              <a:srgbClr val="5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35240" y="1417320"/>
            <a:ext cx="3886200" cy="365760"/>
          </a:xfrm>
          <a:prstGeom prst="rect">
            <a:avLst/>
          </a:prstGeom>
          <a:noFill/>
        </p:spPr>
        <p:txBody>
          <a:bodyPr wrap="square" lIns="36576" rIns="36576" tIns="18288" bIns="18288"/>
          <a:lstStyle/>
          <a:p>
            <a:pPr algn="l"/>
            <a:r>
              <a:rPr sz="1300" b="1">
                <a:solidFill>
                  <a:srgbClr val="5CE1E6"/>
                </a:solidFill>
                <a:latin typeface="Arial"/>
                <a:ea typeface="Arial"/>
                <a:cs typeface="Arial"/>
              </a:rPr>
              <a:t>FLOODSHIELD_MODE</a:t>
            </a:r>
          </a:p>
        </p:txBody>
      </p:sp>
      <p:sp>
        <p:nvSpPr>
          <p:cNvPr id="25" name="TextBox 24"/>
          <p:cNvSpPr txBox="1"/>
          <p:nvPr/>
        </p:nvSpPr>
        <p:spPr>
          <a:xfrm>
            <a:off x="7635240" y="1920240"/>
            <a:ext cx="3886200" cy="2377440"/>
          </a:xfrm>
          <a:prstGeom prst="rect">
            <a:avLst/>
          </a:prstGeom>
          <a:noFill/>
        </p:spPr>
        <p:txBody>
          <a:bodyPr wrap="square" lIns="36576" rIns="36576" tIns="18288" bIns="18288"/>
          <a:lstStyle/>
          <a:p>
            <a:pPr algn="l"/>
            <a:r>
              <a:rPr sz="1600" b="0">
                <a:solidFill>
                  <a:srgbClr val="F4F0E6"/>
                </a:solidFill>
                <a:latin typeface="Arial"/>
                <a:ea typeface="Arial"/>
                <a:cs typeface="Arial"/>
              </a:rPr>
              <a:t>local  (default)
CSV + trained model
live
FFD scrape, fallback to local</a:t>
            </a:r>
          </a:p>
        </p:txBody>
      </p:sp>
      <p:sp>
        <p:nvSpPr>
          <p:cNvPr id="26" name="Rectangle 25"/>
          <p:cNvSpPr/>
          <p:nvPr/>
        </p:nvSpPr>
        <p:spPr>
          <a:xfrm>
            <a:off x="7452360" y="4709160"/>
            <a:ext cx="4224528" cy="128016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35240" y="4846320"/>
            <a:ext cx="3886200" cy="1005840"/>
          </a:xfrm>
          <a:prstGeom prst="rect">
            <a:avLst/>
          </a:prstGeom>
          <a:noFill/>
        </p:spPr>
        <p:txBody>
          <a:bodyPr wrap="square" lIns="36576" rIns="36576" tIns="18288" bIns="18288"/>
          <a:lstStyle/>
          <a:p>
            <a:pPr algn="l"/>
            <a:r>
              <a:rPr sz="1300" b="0">
                <a:solidFill>
                  <a:srgbClr val="8BA3B8"/>
                </a:solidFill>
                <a:latin typeface="Arial"/>
                <a:ea typeface="Arial"/>
                <a:cs typeface="Arial"/>
              </a:rPr>
              <a:t>Deployed API:
sardar19-floodshield-api.hf.space</a:t>
            </a:r>
          </a:p>
        </p:txBody>
      </p:sp>
      <p:sp>
        <p:nvSpPr>
          <p:cNvPr id="28" name="Rectangle 27"/>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30" name="TextBox 29"/>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A5  ·  LANGUAGE MODEL CONSTRAINTS</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Qwen writes. It does not decide.</a:t>
            </a:r>
          </a:p>
        </p:txBody>
      </p:sp>
      <p:sp>
        <p:nvSpPr>
          <p:cNvPr id="8" name="Rectangle 7"/>
          <p:cNvSpPr/>
          <p:nvPr/>
        </p:nvSpPr>
        <p:spPr>
          <a:xfrm>
            <a:off x="502920" y="1280160"/>
            <a:ext cx="5669280" cy="470916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20040"/>
          </a:xfrm>
          <a:prstGeom prst="rect">
            <a:avLst/>
          </a:prstGeom>
          <a:noFill/>
        </p:spPr>
        <p:txBody>
          <a:bodyPr wrap="square" lIns="36576" rIns="36576" tIns="18288" bIns="18288"/>
          <a:lstStyle/>
          <a:p>
            <a:pPr algn="l"/>
            <a:r>
              <a:rPr sz="1200" b="1">
                <a:solidFill>
                  <a:srgbClr val="5CE1E6"/>
                </a:solidFill>
                <a:latin typeface="Arial"/>
                <a:ea typeface="Arial"/>
                <a:cs typeface="Arial"/>
              </a:rPr>
              <a:t>PROMPT CONSTRAINTS  ·  qwen-flash, temperature 0.2</a:t>
            </a:r>
          </a:p>
        </p:txBody>
      </p:sp>
      <p:sp>
        <p:nvSpPr>
          <p:cNvPr id="10" name="TextBox 9"/>
          <p:cNvSpPr txBox="1"/>
          <p:nvPr/>
        </p:nvSpPr>
        <p:spPr>
          <a:xfrm>
            <a:off x="777240" y="1874519"/>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Keep FINAL ALERT LEVEL exactly as provided</a:t>
            </a:r>
          </a:p>
        </p:txBody>
      </p:sp>
      <p:sp>
        <p:nvSpPr>
          <p:cNvPr id="11" name="TextBox 10"/>
          <p:cNvSpPr txBox="1"/>
          <p:nvPr/>
        </p:nvSpPr>
        <p:spPr>
          <a:xfrm>
            <a:off x="777240" y="2404872"/>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Do not recalculate or change the category</a:t>
            </a:r>
          </a:p>
        </p:txBody>
      </p:sp>
      <p:sp>
        <p:nvSpPr>
          <p:cNvPr id="12" name="TextBox 11"/>
          <p:cNvSpPr txBox="1"/>
          <p:nvPr/>
        </p:nvSpPr>
        <p:spPr>
          <a:xfrm>
            <a:off x="777240" y="2935224"/>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Do not invent weather, locations, or measurements</a:t>
            </a:r>
          </a:p>
        </p:txBody>
      </p:sp>
      <p:sp>
        <p:nvSpPr>
          <p:cNvPr id="13" name="TextBox 12"/>
          <p:cNvSpPr txBox="1"/>
          <p:nvPr/>
        </p:nvSpPr>
        <p:spPr>
          <a:xfrm>
            <a:off x="777240" y="3465575"/>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Do not invent evacuation orders</a:t>
            </a:r>
          </a:p>
        </p:txBody>
      </p:sp>
      <p:sp>
        <p:nvSpPr>
          <p:cNvPr id="14" name="TextBox 13"/>
          <p:cNvSpPr txBox="1"/>
          <p:nvPr/>
        </p:nvSpPr>
        <p:spPr>
          <a:xfrm>
            <a:off x="777240" y="3995927"/>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State that official instructions take priority</a:t>
            </a:r>
          </a:p>
        </p:txBody>
      </p:sp>
      <p:sp>
        <p:nvSpPr>
          <p:cNvPr id="15" name="TextBox 14"/>
          <p:cNvSpPr txBox="1"/>
          <p:nvPr/>
        </p:nvSpPr>
        <p:spPr>
          <a:xfrm>
            <a:off x="777240" y="4526279"/>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Do not claim the ML prediction is certain</a:t>
            </a:r>
          </a:p>
        </p:txBody>
      </p:sp>
      <p:sp>
        <p:nvSpPr>
          <p:cNvPr id="16" name="TextBox 15"/>
          <p:cNvSpPr txBox="1"/>
          <p:nvPr/>
        </p:nvSpPr>
        <p:spPr>
          <a:xfrm>
            <a:off x="777240" y="5056631"/>
            <a:ext cx="5120640" cy="475488"/>
          </a:xfrm>
          <a:prstGeom prst="rect">
            <a:avLst/>
          </a:prstGeom>
          <a:noFill/>
        </p:spPr>
        <p:txBody>
          <a:bodyPr wrap="square" lIns="36576" rIns="36576" tIns="18288" bIns="18288"/>
          <a:lstStyle/>
          <a:p>
            <a:pPr algn="l"/>
            <a:r>
              <a:rPr sz="1400" b="0">
                <a:solidFill>
                  <a:srgbClr val="F4F0E6"/>
                </a:solidFill>
                <a:latin typeface="Arial"/>
                <a:ea typeface="Arial"/>
                <a:cs typeface="Arial"/>
              </a:rPr>
              <a:t>▸  Return JSON only: english + urdu</a:t>
            </a:r>
          </a:p>
        </p:txBody>
      </p:sp>
      <p:sp>
        <p:nvSpPr>
          <p:cNvPr id="17" name="Rectangle 16"/>
          <p:cNvSpPr/>
          <p:nvPr/>
        </p:nvSpPr>
        <p:spPr>
          <a:xfrm>
            <a:off x="6400800" y="1280160"/>
            <a:ext cx="5276088" cy="4709160"/>
          </a:xfrm>
          <a:prstGeom prst="rect">
            <a:avLst/>
          </a:prstGeom>
          <a:solidFill>
            <a:srgbClr val="102238"/>
          </a:solidFill>
          <a:ln w="1524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1417320"/>
            <a:ext cx="4937760" cy="365760"/>
          </a:xfrm>
          <a:prstGeom prst="rect">
            <a:avLst/>
          </a:prstGeom>
          <a:noFill/>
        </p:spPr>
        <p:txBody>
          <a:bodyPr wrap="square" lIns="36576" rIns="36576" tIns="18288" bIns="18288"/>
          <a:lstStyle/>
          <a:p>
            <a:pPr algn="l"/>
            <a:r>
              <a:rPr sz="1400" b="1">
                <a:solidFill>
                  <a:srgbClr val="F5A524"/>
                </a:solidFill>
                <a:latin typeface="Arial"/>
                <a:ea typeface="Arial"/>
                <a:cs typeface="Arial"/>
              </a:rPr>
              <a:t>DETERMINISTIC FALLBACK</a:t>
            </a:r>
          </a:p>
        </p:txBody>
      </p:sp>
      <p:sp>
        <p:nvSpPr>
          <p:cNvPr id="19" name="TextBox 18"/>
          <p:cNvSpPr txBox="1"/>
          <p:nvPr/>
        </p:nvSpPr>
        <p:spPr>
          <a:xfrm>
            <a:off x="6583680" y="1965960"/>
            <a:ext cx="4937760" cy="3657600"/>
          </a:xfrm>
          <a:prstGeom prst="rect">
            <a:avLst/>
          </a:prstGeom>
          <a:noFill/>
        </p:spPr>
        <p:txBody>
          <a:bodyPr wrap="square" lIns="36576" rIns="36576" tIns="18288" bIns="18288"/>
          <a:lstStyle/>
          <a:p>
            <a:pPr algn="l"/>
            <a:r>
              <a:rPr sz="1600" b="0">
                <a:solidFill>
                  <a:srgbClr val="F4F0E6"/>
                </a:solidFill>
                <a:latin typeface="Arial"/>
                <a:ea typeface="Arial"/>
                <a:cs typeface="Arial"/>
              </a:rPr>
              <a:t>If DASHSCOPE_API_KEY is missing, the quota fails, or JSON parsing fails, create_template_alert() still emits English + Urdu from locked risk + numbers.
The engine continues. Wording degrades. The risk level does not.</a:t>
            </a:r>
          </a:p>
        </p:txBody>
      </p:sp>
      <p:sp>
        <p:nvSpPr>
          <p:cNvPr id="20" name="Rectangle 19"/>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22" name="TextBox 21"/>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A6  ·  REPOSITORY</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Three folders. One decision engine.</a:t>
            </a:r>
          </a:p>
        </p:txBody>
      </p:sp>
      <p:sp>
        <p:nvSpPr>
          <p:cNvPr id="8" name="Rectangle 7"/>
          <p:cNvSpPr/>
          <p:nvPr/>
        </p:nvSpPr>
        <p:spPr>
          <a:xfrm>
            <a:off x="502920" y="1325880"/>
            <a:ext cx="3703320" cy="32461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3337560" cy="502920"/>
          </a:xfrm>
          <a:prstGeom prst="rect">
            <a:avLst/>
          </a:prstGeom>
          <a:noFill/>
        </p:spPr>
        <p:txBody>
          <a:bodyPr wrap="square" lIns="36576" rIns="36576" tIns="18288" bIns="18288"/>
          <a:lstStyle/>
          <a:p>
            <a:pPr algn="l"/>
            <a:r>
              <a:rPr sz="2200" b="1">
                <a:solidFill>
                  <a:srgbClr val="5CE1E6"/>
                </a:solidFill>
                <a:latin typeface="Arial"/>
                <a:ea typeface="Arial"/>
                <a:cs typeface="Arial"/>
              </a:rPr>
              <a:t>frontend/</a:t>
            </a:r>
          </a:p>
        </p:txBody>
      </p:sp>
      <p:sp>
        <p:nvSpPr>
          <p:cNvPr id="10" name="TextBox 9"/>
          <p:cNvSpPr txBox="1"/>
          <p:nvPr/>
        </p:nvSpPr>
        <p:spPr>
          <a:xfrm>
            <a:off x="685800" y="2148840"/>
            <a:ext cx="3337560" cy="2148840"/>
          </a:xfrm>
          <a:prstGeom prst="rect">
            <a:avLst/>
          </a:prstGeom>
          <a:noFill/>
        </p:spPr>
        <p:txBody>
          <a:bodyPr wrap="square" lIns="36576" rIns="36576" tIns="18288" bIns="18288"/>
          <a:lstStyle/>
          <a:p>
            <a:pPr algn="l"/>
            <a:r>
              <a:rPr sz="1500" b="0">
                <a:solidFill>
                  <a:srgbClr val="F4F0E6"/>
                </a:solidFill>
                <a:latin typeface="Arial"/>
                <a:ea typeface="Arial"/>
                <a:cs typeface="Arial"/>
              </a:rPr>
              <a:t>Next.js dashboard
FloodAlertHero, fusion, bilingual alerts
Reads FastAPI or HF Space</a:t>
            </a:r>
          </a:p>
        </p:txBody>
      </p:sp>
      <p:sp>
        <p:nvSpPr>
          <p:cNvPr id="11" name="Rectangle 10"/>
          <p:cNvSpPr/>
          <p:nvPr/>
        </p:nvSpPr>
        <p:spPr>
          <a:xfrm>
            <a:off x="4361688" y="1325880"/>
            <a:ext cx="3703320" cy="32461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508760"/>
            <a:ext cx="3337560" cy="502920"/>
          </a:xfrm>
          <a:prstGeom prst="rect">
            <a:avLst/>
          </a:prstGeom>
          <a:noFill/>
        </p:spPr>
        <p:txBody>
          <a:bodyPr wrap="square" lIns="36576" rIns="36576" tIns="18288" bIns="18288"/>
          <a:lstStyle/>
          <a:p>
            <a:pPr algn="l"/>
            <a:r>
              <a:rPr sz="2200" b="1">
                <a:solidFill>
                  <a:srgbClr val="5CE1E6"/>
                </a:solidFill>
                <a:latin typeface="Arial"/>
                <a:ea typeface="Arial"/>
                <a:cs typeface="Arial"/>
              </a:rPr>
              <a:t>backend/</a:t>
            </a:r>
          </a:p>
        </p:txBody>
      </p:sp>
      <p:sp>
        <p:nvSpPr>
          <p:cNvPr id="13" name="TextBox 12"/>
          <p:cNvSpPr txBox="1"/>
          <p:nvPr/>
        </p:nvSpPr>
        <p:spPr>
          <a:xfrm>
            <a:off x="4544568" y="2148840"/>
            <a:ext cx="3337560" cy="2148840"/>
          </a:xfrm>
          <a:prstGeom prst="rect">
            <a:avLst/>
          </a:prstGeom>
          <a:noFill/>
        </p:spPr>
        <p:txBody>
          <a:bodyPr wrap="square" lIns="36576" rIns="36576" tIns="18288" bIns="18288"/>
          <a:lstStyle/>
          <a:p>
            <a:pPr algn="l"/>
            <a:r>
              <a:rPr sz="1500" b="0">
                <a:solidFill>
                  <a:srgbClr val="F4F0E6"/>
                </a:solidFill>
                <a:latin typeface="Arial"/>
                <a:ea typeface="Arial"/>
                <a:cs typeface="Arial"/>
              </a:rPr>
              <a:t>FastAPI + floodshield_engine.py
Live FFD scrape or local CSV
Qwen phrasing + templates</a:t>
            </a:r>
          </a:p>
        </p:txBody>
      </p:sp>
      <p:sp>
        <p:nvSpPr>
          <p:cNvPr id="14" name="Rectangle 13"/>
          <p:cNvSpPr/>
          <p:nvPr/>
        </p:nvSpPr>
        <p:spPr>
          <a:xfrm>
            <a:off x="8220456" y="1325880"/>
            <a:ext cx="3703320" cy="3246120"/>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1508760"/>
            <a:ext cx="3337560" cy="502920"/>
          </a:xfrm>
          <a:prstGeom prst="rect">
            <a:avLst/>
          </a:prstGeom>
          <a:noFill/>
        </p:spPr>
        <p:txBody>
          <a:bodyPr wrap="square" lIns="36576" rIns="36576" tIns="18288" bIns="18288"/>
          <a:lstStyle/>
          <a:p>
            <a:pPr algn="l"/>
            <a:r>
              <a:rPr sz="2200" b="1">
                <a:solidFill>
                  <a:srgbClr val="5CE1E6"/>
                </a:solidFill>
                <a:latin typeface="Arial"/>
                <a:ea typeface="Arial"/>
                <a:cs typeface="Arial"/>
              </a:rPr>
              <a:t>ml/</a:t>
            </a:r>
          </a:p>
        </p:txBody>
      </p:sp>
      <p:sp>
        <p:nvSpPr>
          <p:cNvPr id="16" name="TextBox 15"/>
          <p:cNvSpPr txBox="1"/>
          <p:nvPr/>
        </p:nvSpPr>
        <p:spPr>
          <a:xfrm>
            <a:off x="8403336" y="2148840"/>
            <a:ext cx="3337560" cy="2148840"/>
          </a:xfrm>
          <a:prstGeom prst="rect">
            <a:avLst/>
          </a:prstGeom>
          <a:noFill/>
        </p:spPr>
        <p:txBody>
          <a:bodyPr wrap="square" lIns="36576" rIns="36576" tIns="18288" bIns="18288"/>
          <a:lstStyle/>
          <a:p>
            <a:pPr algn="l"/>
            <a:r>
              <a:rPr sz="1500" b="0">
                <a:solidFill>
                  <a:srgbClr val="F4F0E6"/>
                </a:solidFill>
                <a:latin typeface="Arial"/>
                <a:ea typeface="Arial"/>
                <a:cs typeface="Arial"/>
              </a:rPr>
              <a:t>extract / final / build / train
processed CSVs
floodshield_marala_model.pkl</a:t>
            </a:r>
          </a:p>
        </p:txBody>
      </p:sp>
      <p:sp>
        <p:nvSpPr>
          <p:cNvPr id="17" name="Rectangle 16"/>
          <p:cNvSpPr/>
          <p:nvPr/>
        </p:nvSpPr>
        <p:spPr>
          <a:xfrm>
            <a:off x="502920" y="4754880"/>
            <a:ext cx="11173968" cy="1325880"/>
          </a:xfrm>
          <a:prstGeom prst="rect">
            <a:avLst/>
          </a:prstGeom>
          <a:solidFill>
            <a:srgbClr val="142C45"/>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937760"/>
            <a:ext cx="10789920" cy="960120"/>
          </a:xfrm>
          <a:prstGeom prst="rect">
            <a:avLst/>
          </a:prstGeom>
          <a:noFill/>
        </p:spPr>
        <p:txBody>
          <a:bodyPr wrap="square" lIns="36576" rIns="36576" tIns="18288" bIns="18288"/>
          <a:lstStyle/>
          <a:p>
            <a:pPr algn="l"/>
            <a:r>
              <a:rPr sz="1500" b="0">
                <a:solidFill>
                  <a:srgbClr val="F4F0E6"/>
                </a:solidFill>
                <a:latin typeface="Arial"/>
                <a:ea typeface="Arial"/>
                <a:cs typeface="Arial"/>
              </a:rPr>
              <a:t>Root app.py wraps the same service for Hugging Face Spaces (Gradio).  Raw bulletin PDFs are not in git (too large).  Processed CSVs and the trained model are.</a:t>
            </a:r>
          </a:p>
        </p:txBody>
      </p:sp>
      <p:sp>
        <p:nvSpPr>
          <p:cNvPr id="19" name="Rectangle 18"/>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21" name="TextBox 20"/>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60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dark.png"/>
          <p:cNvPicPr>
            <a:picLocks noChangeAspect="1"/>
          </p:cNvPicPr>
          <p:nvPr/>
        </p:nvPicPr>
        <p:blipFill>
          <a:blip r:embed="rId2"/>
          <a:stretch>
            <a:fillRect/>
          </a:stretch>
        </p:blipFill>
        <p:spPr>
          <a:xfrm>
            <a:off x="0" y="0"/>
            <a:ext cx="12191999" cy="6858000"/>
          </a:xfrm>
          <a:prstGeom prst="rect">
            <a:avLst/>
          </a:prstGeom>
        </p:spPr>
      </p:pic>
      <p:sp>
        <p:nvSpPr>
          <p:cNvPr id="4" name="Rectangle 3"/>
          <p:cNvSpPr/>
          <p:nvPr/>
        </p:nvSpPr>
        <p:spPr>
          <a:xfrm>
            <a:off x="0" y="0"/>
            <a:ext cx="73152" cy="6858000"/>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56032"/>
            <a:ext cx="256032" cy="73152"/>
          </a:xfrm>
          <a:prstGeom prst="rect">
            <a:avLst/>
          </a:prstGeom>
          <a:solidFill>
            <a:srgbClr val="5C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2880"/>
            <a:ext cx="9601200" cy="219456"/>
          </a:xfrm>
          <a:prstGeom prst="rect">
            <a:avLst/>
          </a:prstGeom>
          <a:noFill/>
        </p:spPr>
        <p:txBody>
          <a:bodyPr wrap="square" lIns="36576" rIns="36576" tIns="18288" bIns="18288"/>
          <a:lstStyle/>
          <a:p>
            <a:pPr algn="l"/>
            <a:r>
              <a:rPr sz="1100" b="1">
                <a:solidFill>
                  <a:srgbClr val="5CE1E6"/>
                </a:solidFill>
                <a:latin typeface="Arial"/>
                <a:ea typeface="Arial"/>
                <a:cs typeface="Arial"/>
              </a:rPr>
              <a:t>APPENDIX A7  ·  LIMITS AND NEXT WORK</a:t>
            </a:r>
          </a:p>
        </p:txBody>
      </p:sp>
      <p:sp>
        <p:nvSpPr>
          <p:cNvPr id="7" name="TextBox 6"/>
          <p:cNvSpPr txBox="1"/>
          <p:nvPr/>
        </p:nvSpPr>
        <p:spPr>
          <a:xfrm>
            <a:off x="502920" y="420624"/>
            <a:ext cx="11173968" cy="457200"/>
          </a:xfrm>
          <a:prstGeom prst="rect">
            <a:avLst/>
          </a:prstGeom>
          <a:noFill/>
        </p:spPr>
        <p:txBody>
          <a:bodyPr wrap="square" lIns="36576" rIns="36576" tIns="18288" bIns="18288"/>
          <a:lstStyle/>
          <a:p>
            <a:pPr algn="l"/>
            <a:r>
              <a:rPr sz="2800" b="1">
                <a:solidFill>
                  <a:srgbClr val="F4F0E6"/>
                </a:solidFill>
                <a:latin typeface="Arial"/>
                <a:ea typeface="Arial"/>
                <a:cs typeface="Arial"/>
              </a:rPr>
              <a:t>What we will not over-claim.</a:t>
            </a:r>
          </a:p>
        </p:txBody>
      </p:sp>
      <p:sp>
        <p:nvSpPr>
          <p:cNvPr id="8" name="Rectangle 7"/>
          <p:cNvSpPr/>
          <p:nvPr/>
        </p:nvSpPr>
        <p:spPr>
          <a:xfrm>
            <a:off x="502920" y="118872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8872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2026 test year is class-imbalanced (51 Normal / 1 Low)</a:t>
            </a:r>
          </a:p>
        </p:txBody>
      </p:sp>
      <p:sp>
        <p:nvSpPr>
          <p:cNvPr id="10" name="Rectangle 9"/>
          <p:cNvSpPr/>
          <p:nvPr/>
        </p:nvSpPr>
        <p:spPr>
          <a:xfrm>
            <a:off x="502920" y="169164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9164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Very High never appears in training classes_</a:t>
            </a:r>
          </a:p>
        </p:txBody>
      </p:sp>
      <p:sp>
        <p:nvSpPr>
          <p:cNvPr id="12" name="Rectangle 11"/>
          <p:cNvSpPr/>
          <p:nvPr/>
        </p:nvSpPr>
        <p:spPr>
          <a:xfrm>
            <a:off x="502920" y="219456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9456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High and Exceptional are extremely rare</a:t>
            </a:r>
          </a:p>
        </p:txBody>
      </p:sp>
      <p:sp>
        <p:nvSpPr>
          <p:cNvPr id="14" name="Rectangle 13"/>
          <p:cNvSpPr/>
          <p:nvPr/>
        </p:nvSpPr>
        <p:spPr>
          <a:xfrm>
            <a:off x="502920" y="269748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9748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Observation gaps: next-day pairs need consecutive dates</a:t>
            </a:r>
          </a:p>
        </p:txBody>
      </p:sp>
      <p:sp>
        <p:nvSpPr>
          <p:cNvPr id="16" name="Rectangle 15"/>
          <p:cNvSpPr/>
          <p:nvPr/>
        </p:nvSpPr>
        <p:spPr>
          <a:xfrm>
            <a:off x="502920" y="320040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0040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PDF extraction is noisy (garbled flood-level text)</a:t>
            </a:r>
          </a:p>
        </p:txBody>
      </p:sp>
      <p:sp>
        <p:nvSpPr>
          <p:cNvPr id="18" name="Rectangle 17"/>
          <p:cNvSpPr/>
          <p:nvPr/>
        </p:nvSpPr>
        <p:spPr>
          <a:xfrm>
            <a:off x="502920" y="370332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70332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Classifier confidence ≠ calibrated flood probability</a:t>
            </a:r>
          </a:p>
        </p:txBody>
      </p:sp>
      <p:sp>
        <p:nvSpPr>
          <p:cNvPr id="20" name="Rectangle 19"/>
          <p:cNvSpPr/>
          <p:nvPr/>
        </p:nvSpPr>
        <p:spPr>
          <a:xfrm>
            <a:off x="502920" y="420624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20624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Rainfall is not a deployed ML feature</a:t>
            </a:r>
          </a:p>
        </p:txBody>
      </p:sp>
      <p:sp>
        <p:nvSpPr>
          <p:cNvPr id="22" name="Rectangle 21"/>
          <p:cNvSpPr/>
          <p:nvPr/>
        </p:nvSpPr>
        <p:spPr>
          <a:xfrm>
            <a:off x="502920" y="4709160"/>
            <a:ext cx="5760720" cy="438912"/>
          </a:xfrm>
          <a:prstGeom prst="rect">
            <a:avLst/>
          </a:prstGeom>
          <a:solidFill>
            <a:srgbClr val="102238"/>
          </a:solidFill>
          <a:ln w="12700">
            <a:solidFill>
              <a:srgbClr val="1E3F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709160"/>
            <a:ext cx="5486400" cy="438912"/>
          </a:xfrm>
          <a:prstGeom prst="rect">
            <a:avLst/>
          </a:prstGeom>
          <a:noFill/>
        </p:spPr>
        <p:txBody>
          <a:bodyPr wrap="square" lIns="36576" rIns="36576" tIns="18288" bIns="18288"/>
          <a:lstStyle/>
          <a:p>
            <a:pPr algn="l"/>
            <a:r>
              <a:rPr sz="1300" b="0">
                <a:solidFill>
                  <a:srgbClr val="F4F0E6"/>
                </a:solidFill>
                <a:latin typeface="Arial"/>
                <a:ea typeface="Arial"/>
                <a:cs typeface="Arial"/>
              </a:rPr>
              <a:t>Single-station scope: Marala only, today</a:t>
            </a:r>
          </a:p>
        </p:txBody>
      </p:sp>
      <p:sp>
        <p:nvSpPr>
          <p:cNvPr id="24" name="Rectangle 23"/>
          <p:cNvSpPr/>
          <p:nvPr/>
        </p:nvSpPr>
        <p:spPr>
          <a:xfrm>
            <a:off x="6446520" y="1188720"/>
            <a:ext cx="5230368" cy="731520"/>
          </a:xfrm>
          <a:prstGeom prst="rect">
            <a:avLst/>
          </a:prstGeom>
          <a:solidFill>
            <a:srgbClr val="142C45"/>
          </a:solidFill>
          <a:ln w="1397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1243584"/>
            <a:ext cx="4937760" cy="256032"/>
          </a:xfrm>
          <a:prstGeom prst="rect">
            <a:avLst/>
          </a:prstGeom>
          <a:noFill/>
        </p:spPr>
        <p:txBody>
          <a:bodyPr wrap="square" lIns="36576" rIns="36576" tIns="18288" bIns="18288"/>
          <a:lstStyle/>
          <a:p>
            <a:pPr algn="l"/>
            <a:r>
              <a:rPr sz="1000" b="1">
                <a:solidFill>
                  <a:srgbClr val="F5A524"/>
                </a:solidFill>
                <a:latin typeface="Arial"/>
                <a:ea typeface="Arial"/>
                <a:cs typeface="Arial"/>
              </a:rPr>
              <a:t>NEXT PHASE</a:t>
            </a:r>
          </a:p>
        </p:txBody>
      </p:sp>
      <p:sp>
        <p:nvSpPr>
          <p:cNvPr id="26" name="TextBox 25"/>
          <p:cNvSpPr txBox="1"/>
          <p:nvPr/>
        </p:nvSpPr>
        <p:spPr>
          <a:xfrm>
            <a:off x="6583680" y="1481328"/>
            <a:ext cx="4937760" cy="365760"/>
          </a:xfrm>
          <a:prstGeom prst="rect">
            <a:avLst/>
          </a:prstGeom>
          <a:noFill/>
        </p:spPr>
        <p:txBody>
          <a:bodyPr wrap="square" lIns="36576" rIns="36576" tIns="18288" bIns="18288"/>
          <a:lstStyle/>
          <a:p>
            <a:pPr algn="l"/>
            <a:r>
              <a:rPr sz="1300" b="0">
                <a:solidFill>
                  <a:srgbClr val="F4F0E6"/>
                </a:solidFill>
                <a:latin typeface="Arial"/>
                <a:ea typeface="Arial"/>
                <a:cs typeface="Arial"/>
              </a:rPr>
              <a:t>Khanki → Qadirabad → Trimmu → Panjnad</a:t>
            </a:r>
          </a:p>
        </p:txBody>
      </p:sp>
      <p:sp>
        <p:nvSpPr>
          <p:cNvPr id="27" name="Rectangle 26"/>
          <p:cNvSpPr/>
          <p:nvPr/>
        </p:nvSpPr>
        <p:spPr>
          <a:xfrm>
            <a:off x="6446520" y="2011680"/>
            <a:ext cx="5230368" cy="731520"/>
          </a:xfrm>
          <a:prstGeom prst="rect">
            <a:avLst/>
          </a:prstGeom>
          <a:solidFill>
            <a:srgbClr val="142C45"/>
          </a:solidFill>
          <a:ln w="1397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2066544"/>
            <a:ext cx="4937760" cy="256032"/>
          </a:xfrm>
          <a:prstGeom prst="rect">
            <a:avLst/>
          </a:prstGeom>
          <a:noFill/>
        </p:spPr>
        <p:txBody>
          <a:bodyPr wrap="square" lIns="36576" rIns="36576" tIns="18288" bIns="18288"/>
          <a:lstStyle/>
          <a:p>
            <a:pPr algn="l"/>
            <a:r>
              <a:rPr sz="1000" b="1">
                <a:solidFill>
                  <a:srgbClr val="F5A524"/>
                </a:solidFill>
                <a:latin typeface="Arial"/>
                <a:ea typeface="Arial"/>
                <a:cs typeface="Arial"/>
              </a:rPr>
              <a:t>NEXT PHASE</a:t>
            </a:r>
          </a:p>
        </p:txBody>
      </p:sp>
      <p:sp>
        <p:nvSpPr>
          <p:cNvPr id="29" name="TextBox 28"/>
          <p:cNvSpPr txBox="1"/>
          <p:nvPr/>
        </p:nvSpPr>
        <p:spPr>
          <a:xfrm>
            <a:off x="6583680" y="2304288"/>
            <a:ext cx="4937760" cy="365760"/>
          </a:xfrm>
          <a:prstGeom prst="rect">
            <a:avLst/>
          </a:prstGeom>
          <a:noFill/>
        </p:spPr>
        <p:txBody>
          <a:bodyPr wrap="square" lIns="36576" rIns="36576" tIns="18288" bIns="18288"/>
          <a:lstStyle/>
          <a:p>
            <a:pPr algn="l"/>
            <a:r>
              <a:rPr sz="1300" b="0">
                <a:solidFill>
                  <a:srgbClr val="F4F0E6"/>
                </a:solidFill>
                <a:latin typeface="Arial"/>
                <a:ea typeface="Arial"/>
                <a:cs typeface="Arial"/>
              </a:rPr>
              <a:t>SMS / WhatsApp / IVR / mobile</a:t>
            </a:r>
          </a:p>
        </p:txBody>
      </p:sp>
      <p:sp>
        <p:nvSpPr>
          <p:cNvPr id="30" name="Rectangle 29"/>
          <p:cNvSpPr/>
          <p:nvPr/>
        </p:nvSpPr>
        <p:spPr>
          <a:xfrm>
            <a:off x="6446520" y="2834640"/>
            <a:ext cx="5230368" cy="731520"/>
          </a:xfrm>
          <a:prstGeom prst="rect">
            <a:avLst/>
          </a:prstGeom>
          <a:solidFill>
            <a:srgbClr val="142C45"/>
          </a:solidFill>
          <a:ln w="1397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2889504"/>
            <a:ext cx="4937760" cy="256032"/>
          </a:xfrm>
          <a:prstGeom prst="rect">
            <a:avLst/>
          </a:prstGeom>
          <a:noFill/>
        </p:spPr>
        <p:txBody>
          <a:bodyPr wrap="square" lIns="36576" rIns="36576" tIns="18288" bIns="18288"/>
          <a:lstStyle/>
          <a:p>
            <a:pPr algn="l"/>
            <a:r>
              <a:rPr sz="1000" b="1">
                <a:solidFill>
                  <a:srgbClr val="F5A524"/>
                </a:solidFill>
                <a:latin typeface="Arial"/>
                <a:ea typeface="Arial"/>
                <a:cs typeface="Arial"/>
              </a:rPr>
              <a:t>NEXT PHASE</a:t>
            </a:r>
          </a:p>
        </p:txBody>
      </p:sp>
      <p:sp>
        <p:nvSpPr>
          <p:cNvPr id="32" name="TextBox 31"/>
          <p:cNvSpPr txBox="1"/>
          <p:nvPr/>
        </p:nvSpPr>
        <p:spPr>
          <a:xfrm>
            <a:off x="6583680" y="3127248"/>
            <a:ext cx="4937760" cy="365760"/>
          </a:xfrm>
          <a:prstGeom prst="rect">
            <a:avLst/>
          </a:prstGeom>
          <a:noFill/>
        </p:spPr>
        <p:txBody>
          <a:bodyPr wrap="square" lIns="36576" rIns="36576" tIns="18288" bIns="18288"/>
          <a:lstStyle/>
          <a:p>
            <a:pPr algn="l"/>
            <a:r>
              <a:rPr sz="1300" b="0">
                <a:solidFill>
                  <a:srgbClr val="F4F0E6"/>
                </a:solidFill>
                <a:latin typeface="Arial"/>
                <a:ea typeface="Arial"/>
                <a:cs typeface="Arial"/>
              </a:rPr>
              <a:t>Richer evaluation on high-flood years</a:t>
            </a:r>
          </a:p>
        </p:txBody>
      </p:sp>
      <p:sp>
        <p:nvSpPr>
          <p:cNvPr id="33" name="Rectangle 32"/>
          <p:cNvSpPr/>
          <p:nvPr/>
        </p:nvSpPr>
        <p:spPr>
          <a:xfrm>
            <a:off x="6446520" y="3657600"/>
            <a:ext cx="5230368" cy="731520"/>
          </a:xfrm>
          <a:prstGeom prst="rect">
            <a:avLst/>
          </a:prstGeom>
          <a:solidFill>
            <a:srgbClr val="142C45"/>
          </a:solidFill>
          <a:ln w="1397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3712463"/>
            <a:ext cx="4937760" cy="256032"/>
          </a:xfrm>
          <a:prstGeom prst="rect">
            <a:avLst/>
          </a:prstGeom>
          <a:noFill/>
        </p:spPr>
        <p:txBody>
          <a:bodyPr wrap="square" lIns="36576" rIns="36576" tIns="18288" bIns="18288"/>
          <a:lstStyle/>
          <a:p>
            <a:pPr algn="l"/>
            <a:r>
              <a:rPr sz="1000" b="1">
                <a:solidFill>
                  <a:srgbClr val="F5A524"/>
                </a:solidFill>
                <a:latin typeface="Arial"/>
                <a:ea typeface="Arial"/>
                <a:cs typeface="Arial"/>
              </a:rPr>
              <a:t>NEXT PHASE</a:t>
            </a:r>
          </a:p>
        </p:txBody>
      </p:sp>
      <p:sp>
        <p:nvSpPr>
          <p:cNvPr id="35" name="TextBox 34"/>
          <p:cNvSpPr txBox="1"/>
          <p:nvPr/>
        </p:nvSpPr>
        <p:spPr>
          <a:xfrm>
            <a:off x="6583680" y="3950208"/>
            <a:ext cx="4937760" cy="365760"/>
          </a:xfrm>
          <a:prstGeom prst="rect">
            <a:avLst/>
          </a:prstGeom>
          <a:noFill/>
        </p:spPr>
        <p:txBody>
          <a:bodyPr wrap="square" lIns="36576" rIns="36576" tIns="18288" bIns="18288"/>
          <a:lstStyle/>
          <a:p>
            <a:pPr algn="l"/>
            <a:r>
              <a:rPr sz="1300" b="0">
                <a:solidFill>
                  <a:srgbClr val="F4F0E6"/>
                </a:solidFill>
                <a:latin typeface="Arial"/>
                <a:ea typeface="Arial"/>
                <a:cs typeface="Arial"/>
              </a:rPr>
              <a:t>Rainfall as a researched, not claimed, input</a:t>
            </a:r>
          </a:p>
        </p:txBody>
      </p:sp>
      <p:sp>
        <p:nvSpPr>
          <p:cNvPr id="36" name="Rectangle 35"/>
          <p:cNvSpPr/>
          <p:nvPr/>
        </p:nvSpPr>
        <p:spPr>
          <a:xfrm>
            <a:off x="6446520" y="4480560"/>
            <a:ext cx="5230368" cy="731520"/>
          </a:xfrm>
          <a:prstGeom prst="rect">
            <a:avLst/>
          </a:prstGeom>
          <a:solidFill>
            <a:srgbClr val="142C45"/>
          </a:solidFill>
          <a:ln w="13970">
            <a:solidFill>
              <a:srgbClr val="1BA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4535424"/>
            <a:ext cx="4937760" cy="256032"/>
          </a:xfrm>
          <a:prstGeom prst="rect">
            <a:avLst/>
          </a:prstGeom>
          <a:noFill/>
        </p:spPr>
        <p:txBody>
          <a:bodyPr wrap="square" lIns="36576" rIns="36576" tIns="18288" bIns="18288"/>
          <a:lstStyle/>
          <a:p>
            <a:pPr algn="l"/>
            <a:r>
              <a:rPr sz="1000" b="1">
                <a:solidFill>
                  <a:srgbClr val="5CE1E6"/>
                </a:solidFill>
                <a:latin typeface="Arial"/>
                <a:ea typeface="Arial"/>
                <a:cs typeface="Arial"/>
              </a:rPr>
              <a:t>ALWAYS</a:t>
            </a:r>
          </a:p>
        </p:txBody>
      </p:sp>
      <p:sp>
        <p:nvSpPr>
          <p:cNvPr id="38" name="TextBox 37"/>
          <p:cNvSpPr txBox="1"/>
          <p:nvPr/>
        </p:nvSpPr>
        <p:spPr>
          <a:xfrm>
            <a:off x="6583680" y="4773168"/>
            <a:ext cx="4937760" cy="365760"/>
          </a:xfrm>
          <a:prstGeom prst="rect">
            <a:avLst/>
          </a:prstGeom>
          <a:noFill/>
        </p:spPr>
        <p:txBody>
          <a:bodyPr wrap="square" lIns="36576" rIns="36576" tIns="18288" bIns="18288"/>
          <a:lstStyle/>
          <a:p>
            <a:pPr algn="l"/>
            <a:r>
              <a:rPr sz="1300" b="0">
                <a:solidFill>
                  <a:srgbClr val="F4F0E6"/>
                </a:solidFill>
                <a:latin typeface="Arial"/>
                <a:ea typeface="Arial"/>
                <a:cs typeface="Arial"/>
              </a:rPr>
              <a:t>Official warnings take precedence</a:t>
            </a:r>
          </a:p>
        </p:txBody>
      </p:sp>
      <p:sp>
        <p:nvSpPr>
          <p:cNvPr id="39" name="Rectangle 38"/>
          <p:cNvSpPr/>
          <p:nvPr/>
        </p:nvSpPr>
        <p:spPr>
          <a:xfrm>
            <a:off x="502920" y="6565392"/>
            <a:ext cx="11183112" cy="13716"/>
          </a:xfrm>
          <a:prstGeom prst="rect">
            <a:avLst/>
          </a:prstGeom>
          <a:solidFill>
            <a:srgbClr val="1BA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601968"/>
            <a:ext cx="7680960" cy="219456"/>
          </a:xfrm>
          <a:prstGeom prst="rect">
            <a:avLst/>
          </a:prstGeom>
          <a:noFill/>
        </p:spPr>
        <p:txBody>
          <a:bodyPr wrap="square" lIns="36576" rIns="36576" tIns="18288" bIns="18288"/>
          <a:lstStyle/>
          <a:p>
            <a:pPr algn="l"/>
            <a:r>
              <a:rPr sz="1000" b="0">
                <a:solidFill>
                  <a:srgbClr val="8BA3B8"/>
                </a:solidFill>
                <a:latin typeface="Arial"/>
                <a:ea typeface="Arial"/>
                <a:cs typeface="Arial"/>
              </a:rPr>
              <a:t>AI FloodShield PAK  ·  Chenab River @ Marala  ·  Decision-support only</a:t>
            </a:r>
          </a:p>
        </p:txBody>
      </p:sp>
      <p:sp>
        <p:nvSpPr>
          <p:cNvPr id="41" name="TextBox 40"/>
          <p:cNvSpPr txBox="1"/>
          <p:nvPr/>
        </p:nvSpPr>
        <p:spPr>
          <a:xfrm>
            <a:off x="8778240" y="6601968"/>
            <a:ext cx="2907792" cy="219456"/>
          </a:xfrm>
          <a:prstGeom prst="rect">
            <a:avLst/>
          </a:prstGeom>
          <a:noFill/>
        </p:spPr>
        <p:txBody>
          <a:bodyPr wrap="square" lIns="36576" rIns="36576" tIns="18288" bIns="18288"/>
          <a:lstStyle/>
          <a:p>
            <a:pPr algn="r"/>
            <a:r>
              <a:rPr sz="1000" b="0">
                <a:solidFill>
                  <a:srgbClr val="8BA3B8"/>
                </a:solidFill>
                <a:latin typeface="Arial"/>
                <a:ea typeface="Arial"/>
                <a:cs typeface="Arial"/>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